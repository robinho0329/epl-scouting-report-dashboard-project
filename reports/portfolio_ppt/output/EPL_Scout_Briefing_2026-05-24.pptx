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7625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0F346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48600" y="3848100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FF6B6B">
              <a:alpha val="12000"/>
            </a:srgbClr>
          </a:solidFill>
          <a:ln w="2857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23771" y="4070003"/>
            <a:ext cx="57534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98793" y="4321373"/>
            <a:ext cx="2181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66943" y="4445198"/>
            <a:ext cx="2831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▼0.13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95300" y="314325"/>
            <a:ext cx="1846511" cy="276225"/>
          </a:xfrm>
          <a:prstGeom prst="roundRect">
            <a:avLst>
              <a:gd name="adj" fmla="val 68966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650" y="400050"/>
            <a:ext cx="16114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33번째 정기 미팅 | 09:00 KST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437061" y="304800"/>
            <a:ext cx="1479500" cy="295275"/>
          </a:xfrm>
          <a:prstGeom prst="roundRect">
            <a:avLst>
              <a:gd name="adj" fmla="val 64516"/>
            </a:avLst>
          </a:prstGeom>
          <a:solidFill>
            <a:srgbClr val="38D9A9">
              <a:alpha val="15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79936" y="400050"/>
            <a:ext cx="1217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일요일 — 주말 최종 점검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011811" y="304800"/>
            <a:ext cx="2540943" cy="295275"/>
          </a:xfrm>
          <a:prstGeom prst="roundRect">
            <a:avLst>
              <a:gd name="adj" fmla="val 64516"/>
            </a:avLst>
          </a:prstGeom>
          <a:solidFill>
            <a:srgbClr val="FF6B6B">
              <a:alpha val="18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54686" y="400050"/>
            <a:ext cx="2300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13일 연속 미달 — 오늘이 절대 마지막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95300" y="1199555"/>
            <a:ext cx="84330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 · DAILY BRIEFING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95300" y="1399580"/>
            <a:ext cx="843305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12"/>
              </a:lnSpc>
              <a:spcAft>
                <a:spcPts val="900"/>
              </a:spcAft>
              <a:buNone/>
            </a:pPr>
            <a:r>
              <a:rPr lang="en-US" sz="3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</a:t>
            </a:r>
            <a:endParaRPr lang="en-US" sz="3900" dirty="0"/>
          </a:p>
          <a:p>
            <a:pPr algn="l" indent="0" marL="0">
              <a:lnSpc>
                <a:spcPts val="4212"/>
              </a:lnSpc>
              <a:spcAft>
                <a:spcPts val="900"/>
              </a:spcAft>
              <a:buNone/>
            </a:pPr>
            <a:r>
              <a:rPr lang="en-US" sz="3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495300" y="2583656"/>
            <a:ext cx="84330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5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 | 2026-05-24 (일)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300" y="2974181"/>
            <a:ext cx="533400" cy="28575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" y="3136106"/>
            <a:ext cx="2820888" cy="276225"/>
          </a:xfrm>
          <a:prstGeom prst="roundRect">
            <a:avLst>
              <a:gd name="adj" fmla="val 20690"/>
            </a:avLst>
          </a:prstGeom>
          <a:solidFill>
            <a:srgbClr val="FF6B6B">
              <a:alpha val="15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9125" y="3221831"/>
            <a:ext cx="2624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어제(토) 3건 중 0건 달성 — 평가 4.38 → 4.25 하락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95300" y="4011960"/>
            <a:ext cx="8267700" cy="826740"/>
          </a:xfrm>
          <a:prstGeom prst="roundRect">
            <a:avLst>
              <a:gd name="adj" fmla="val 9217"/>
            </a:avLst>
          </a:prstGeom>
          <a:solidFill>
            <a:srgbClr val="FF6B6B">
              <a:alpha val="1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5800" y="4154835"/>
            <a:ext cx="8044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최후 통첩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4354860"/>
            <a:ext cx="8044434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22시까지 push가 없으면 내일 아침 4.20 이하입니다. 로컬 PC를 지금 켜십시오.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4591050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Bot | 2026-05-24 09:00 KST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90513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5300" y="266700"/>
            <a:ext cx="18164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이그제큐티브 서머리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2381" y="328613"/>
            <a:ext cx="1202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2026-05-24 | 33회차 미팅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695325"/>
            <a:ext cx="2028825" cy="1009650"/>
          </a:xfrm>
          <a:prstGeom prst="roundRect">
            <a:avLst>
              <a:gd name="adj" fmla="val 754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42900" y="709613"/>
            <a:ext cx="2028825" cy="0"/>
          </a:xfrm>
          <a:prstGeom prst="line">
            <a:avLst/>
          </a:prstGeom>
          <a:noFill/>
          <a:ln w="28575">
            <a:solidFill>
              <a:srgbClr val="38D9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66963" y="695325"/>
            <a:ext cx="0" cy="1009650"/>
          </a:xfrm>
          <a:prstGeom prst="line">
            <a:avLst/>
          </a:prstGeom>
          <a:noFill/>
          <a:ln w="9525">
            <a:solidFill>
              <a:srgbClr val="38D9A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" y="1700213"/>
            <a:ext cx="2028825" cy="0"/>
          </a:xfrm>
          <a:prstGeom prst="line">
            <a:avLst/>
          </a:prstGeom>
          <a:noFill/>
          <a:ln w="9525">
            <a:solidFill>
              <a:srgbClr val="38D9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663" y="695325"/>
            <a:ext cx="0" cy="1009650"/>
          </a:xfrm>
          <a:prstGeom prst="line">
            <a:avLst/>
          </a:prstGeom>
          <a:noFill/>
          <a:ln w="9525">
            <a:solidFill>
              <a:srgbClr val="38D9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825" y="857250"/>
            <a:ext cx="173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모델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4825" y="1047750"/>
            <a:ext cx="173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04825" y="1428750"/>
            <a:ext cx="173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12개 모델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86025" y="695325"/>
            <a:ext cx="2028825" cy="1009650"/>
          </a:xfrm>
          <a:prstGeom prst="roundRect">
            <a:avLst>
              <a:gd name="adj" fmla="val 754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86025" y="709613"/>
            <a:ext cx="2028825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0088" y="695325"/>
            <a:ext cx="0" cy="100965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6025" y="1700213"/>
            <a:ext cx="202882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0788" y="695325"/>
            <a:ext cx="0" cy="100965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7950" y="857250"/>
            <a:ext cx="173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 미달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47950" y="1047750"/>
            <a:ext cx="173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13일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647950" y="1428750"/>
            <a:ext cx="17390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+ P1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29150" y="695325"/>
            <a:ext cx="2028825" cy="1009650"/>
          </a:xfrm>
          <a:prstGeom prst="roundRect">
            <a:avLst>
              <a:gd name="adj" fmla="val 754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29150" y="709613"/>
            <a:ext cx="2028825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3213" y="695325"/>
            <a:ext cx="0" cy="100965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9150" y="1700213"/>
            <a:ext cx="202882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3913" y="695325"/>
            <a:ext cx="0" cy="100965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075" y="857250"/>
            <a:ext cx="173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평가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91075" y="1047750"/>
            <a:ext cx="173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4.25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4791075" y="1428750"/>
            <a:ext cx="173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4.38 ▼0.13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772275" y="695325"/>
            <a:ext cx="2028825" cy="1009650"/>
          </a:xfrm>
          <a:prstGeom prst="roundRect">
            <a:avLst>
              <a:gd name="adj" fmla="val 754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72275" y="709613"/>
            <a:ext cx="2028825" cy="0"/>
          </a:xfrm>
          <a:prstGeom prst="line">
            <a:avLst/>
          </a:prstGeom>
          <a:noFill/>
          <a:ln w="28575">
            <a:solidFill>
              <a:srgbClr val="38D9A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96338" y="695325"/>
            <a:ext cx="0" cy="1009650"/>
          </a:xfrm>
          <a:prstGeom prst="line">
            <a:avLst/>
          </a:prstGeom>
          <a:noFill/>
          <a:ln w="9525">
            <a:solidFill>
              <a:srgbClr val="38D9A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72275" y="1700213"/>
            <a:ext cx="2028825" cy="0"/>
          </a:xfrm>
          <a:prstGeom prst="line">
            <a:avLst/>
          </a:prstGeom>
          <a:noFill/>
          <a:ln w="9525">
            <a:solidFill>
              <a:srgbClr val="38D9A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77038" y="695325"/>
            <a:ext cx="0" cy="1009650"/>
          </a:xfrm>
          <a:prstGeom prst="line">
            <a:avLst/>
          </a:prstGeom>
          <a:noFill/>
          <a:ln w="9525">
            <a:solidFill>
              <a:srgbClr val="38D9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4200" y="857250"/>
            <a:ext cx="173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페이지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934200" y="1047750"/>
            <a:ext cx="173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16개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6934200" y="1428750"/>
            <a:ext cx="173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42900" y="1857375"/>
            <a:ext cx="8458200" cy="2571750"/>
          </a:xfrm>
          <a:prstGeom prst="roundRect">
            <a:avLst>
              <a:gd name="adj" fmla="val 296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4350" y="1990725"/>
            <a:ext cx="8115300" cy="700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1990725"/>
            <a:ext cx="66920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(성장곡선 R²=0.586) ·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(경기결과 Acc=54.79%) — 13일 연속 목표 미달, 오늘이 절대 마지막 기회,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22시 데드라인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" y="2249686"/>
            <a:ext cx="553343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어제(05-23 토) 액션아이템 3개 중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0개 달성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평가 4.38→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4.25 (−0.13)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내일 4.20 이하 경고 발동 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" y="2508647"/>
            <a:ext cx="60550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달성 시나리오: demo_script v2.0(오전)+S3파일(오전)+P7달성(오후)+P1달성(저녁) →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4.53까지 복원 가능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2900" y="4562475"/>
            <a:ext cx="8458200" cy="352425"/>
          </a:xfrm>
          <a:prstGeom prst="roundRect">
            <a:avLst>
              <a:gd name="adj" fmla="val 16216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4350" y="4672013"/>
            <a:ext cx="545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신호등 요약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392436" y="4657725"/>
            <a:ext cx="7222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(P1·P7)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52960" y="4662488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567285" y="4657725"/>
            <a:ext cx="9302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(P5·S3·S6)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31704" y="4662488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946029" y="4657725"/>
            <a:ext cx="11426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(P2·P6·P8·S2)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8658" y="4662488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532983" y="4657725"/>
            <a:ext cx="1322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최우수 (P3·P4·S1)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52413"/>
            <a:ext cx="38100" cy="20955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33362"/>
            <a:ext cx="17862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모델 성능 현황표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5522863" y="228600"/>
            <a:ext cx="690116" cy="257175"/>
          </a:xfrm>
          <a:prstGeom prst="roundRect">
            <a:avLst>
              <a:gd name="adj" fmla="val 44444"/>
            </a:avLst>
          </a:prstGeom>
          <a:solidFill>
            <a:srgbClr val="38D9A9">
              <a:alpha val="20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27638" y="314325"/>
            <a:ext cx="490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3개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289179" y="228600"/>
            <a:ext cx="594866" cy="257175"/>
          </a:xfrm>
          <a:prstGeom prst="roundRect">
            <a:avLst>
              <a:gd name="adj" fmla="val 44444"/>
            </a:avLst>
          </a:prstGeom>
          <a:solidFill>
            <a:srgbClr val="38D9A9">
              <a:alpha val="12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93954" y="314325"/>
            <a:ext cx="3930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 4개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960245" y="228600"/>
            <a:ext cx="594866" cy="257175"/>
          </a:xfrm>
          <a:prstGeom prst="roundRect">
            <a:avLst>
              <a:gd name="adj" fmla="val 44444"/>
            </a:avLst>
          </a:prstGeom>
          <a:solidFill>
            <a:srgbClr val="FFD43B">
              <a:alpha val="15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65020" y="314325"/>
            <a:ext cx="3930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 3개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31311" y="228600"/>
            <a:ext cx="1207889" cy="257175"/>
          </a:xfrm>
          <a:prstGeom prst="roundRect">
            <a:avLst>
              <a:gd name="adj" fmla="val 44444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36086" y="314325"/>
            <a:ext cx="101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 — 13일 연속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0050" y="947737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857250" y="938213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결과 예측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190750" y="957263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Acc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709035" y="947737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473321" y="957263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≥57%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06912" y="938213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524500" y="923925"/>
            <a:ext cx="3219450" cy="171450"/>
          </a:xfrm>
          <a:prstGeom prst="roundRect">
            <a:avLst>
              <a:gd name="adj" fmla="val 5555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91175" y="952500"/>
            <a:ext cx="6198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13일 연속 미달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00050" y="1228725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857250" y="1219200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득점 예측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190750" y="1238250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R²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09035" y="1228725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0.8877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473321" y="1238250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≥0.65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06912" y="1219200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524500" y="1223963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대폭 초과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0050" y="1495425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857250" y="1485900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190750" y="1504950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AUC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709035" y="1495425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473321" y="1504950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≥0.85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06912" y="1485900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🟢🟢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524500" y="1490663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임팩트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00050" y="1762125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857250" y="1752600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2190750" y="1771650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09035" y="1762125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0.9987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473321" y="1771650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≥0.95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06912" y="1752600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🟢🟢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524500" y="1757363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임팩트 확정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00050" y="2028825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857250" y="2019300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클러스터링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2190750" y="2038350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K=3 Silhouette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709035" y="2028825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0.2851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4473321" y="2038350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≥0.25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06912" y="2019300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5524500" y="2024062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초과 유지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00050" y="2295525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857250" y="2286000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2190750" y="2305050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R²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09035" y="2295525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0.8734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473321" y="2305050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≥0.80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006912" y="2286000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5524500" y="2290763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4단계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00050" y="2576513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857250" y="2566988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곡선 예측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2190750" y="2586038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LGBM Test R²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709035" y="2576513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0.586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4473321" y="2586038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≥0.62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006912" y="2566988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5524500" y="2552700"/>
            <a:ext cx="3219450" cy="171450"/>
          </a:xfrm>
          <a:prstGeom prst="roundRect">
            <a:avLst>
              <a:gd name="adj" fmla="val 5555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591175" y="2581275"/>
            <a:ext cx="6198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13일 연속 미달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400050" y="2857500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857250" y="284797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2190750" y="2867025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AUC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709035" y="2857500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0.6612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4473321" y="2867025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≥0.65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006912" y="2847975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5524500" y="2852738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플래그 대응 확립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00050" y="3124200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857250" y="311467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2190750" y="3133725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R²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709035" y="3124200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0.9093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4473321" y="3133725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≥0.85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006912" y="3114675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🟢🟢</a:t>
            </a:r>
            <a:endParaRPr lang="en-US" sz="975" dirty="0"/>
          </a:p>
        </p:txBody>
      </p:sp>
      <p:sp>
        <p:nvSpPr>
          <p:cNvPr id="76" name="Text 74"/>
          <p:cNvSpPr/>
          <p:nvPr/>
        </p:nvSpPr>
        <p:spPr>
          <a:xfrm>
            <a:off x="5524500" y="3119438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1단계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00050" y="3390900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857250" y="338137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시장가치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2190750" y="3400425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709035" y="3390900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0.8812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4473321" y="3400425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≥0.80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006912" y="3381375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75" dirty="0"/>
          </a:p>
        </p:txBody>
      </p:sp>
      <p:sp>
        <p:nvSpPr>
          <p:cNvPr id="83" name="Text 81"/>
          <p:cNvSpPr/>
          <p:nvPr/>
        </p:nvSpPr>
        <p:spPr>
          <a:xfrm>
            <a:off x="5524500" y="3386138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2단계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00050" y="3657600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857250" y="364807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유사선수 탐색</a:t>
            </a:r>
            <a:endParaRPr lang="en-US" sz="825" dirty="0"/>
          </a:p>
        </p:txBody>
      </p:sp>
      <p:sp>
        <p:nvSpPr>
          <p:cNvPr id="86" name="Text 84"/>
          <p:cNvSpPr/>
          <p:nvPr/>
        </p:nvSpPr>
        <p:spPr>
          <a:xfrm>
            <a:off x="2190750" y="3667125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Silhouette FW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709035" y="3657600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0.2085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4473321" y="3667125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≥0.25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5006912" y="3648075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75" dirty="0"/>
          </a:p>
        </p:txBody>
      </p:sp>
      <p:sp>
        <p:nvSpPr>
          <p:cNvPr id="90" name="Text 88"/>
          <p:cNvSpPr/>
          <p:nvPr/>
        </p:nvSpPr>
        <p:spPr>
          <a:xfrm>
            <a:off x="5524500" y="3652838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개선 계획 파일 5일 연속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400050" y="3924300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825" dirty="0"/>
          </a:p>
        </p:txBody>
      </p:sp>
      <p:sp>
        <p:nvSpPr>
          <p:cNvPr id="92" name="Text 90"/>
          <p:cNvSpPr/>
          <p:nvPr/>
        </p:nvSpPr>
        <p:spPr>
          <a:xfrm>
            <a:off x="857250" y="391477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하락세 감지</a:t>
            </a:r>
            <a:endParaRPr lang="en-US" sz="825" dirty="0"/>
          </a:p>
        </p:txBody>
      </p:sp>
      <p:sp>
        <p:nvSpPr>
          <p:cNvPr id="93" name="Text 91"/>
          <p:cNvSpPr/>
          <p:nvPr/>
        </p:nvSpPr>
        <p:spPr>
          <a:xfrm>
            <a:off x="2190750" y="3933825"/>
            <a:ext cx="1360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AUC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3709035" y="3924300"/>
            <a:ext cx="582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0.8324</a:t>
            </a:r>
            <a:endParaRPr lang="en-US" sz="825" dirty="0"/>
          </a:p>
        </p:txBody>
      </p:sp>
      <p:sp>
        <p:nvSpPr>
          <p:cNvPr id="95" name="Text 93"/>
          <p:cNvSpPr/>
          <p:nvPr/>
        </p:nvSpPr>
        <p:spPr>
          <a:xfrm>
            <a:off x="4473321" y="3933825"/>
            <a:ext cx="349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≥0.80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006912" y="3914775"/>
            <a:ext cx="33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75" dirty="0"/>
          </a:p>
        </p:txBody>
      </p:sp>
      <p:sp>
        <p:nvSpPr>
          <p:cNvPr id="97" name="Text 95"/>
          <p:cNvSpPr/>
          <p:nvPr/>
        </p:nvSpPr>
        <p:spPr>
          <a:xfrm>
            <a:off x="5524500" y="3919537"/>
            <a:ext cx="3283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04800" y="4724400"/>
            <a:ext cx="2617589" cy="228600"/>
          </a:xfrm>
          <a:prstGeom prst="roundRect">
            <a:avLst>
              <a:gd name="adj" fmla="val 50000"/>
            </a:avLst>
          </a:prstGeom>
          <a:solidFill>
            <a:srgbClr val="38D9A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419100" y="4772025"/>
            <a:ext cx="2436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9개: S1 P4 P6 S2 P8 P3 P2 S3 S6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3036689" y="4724400"/>
            <a:ext cx="3387923" cy="228600"/>
          </a:xfrm>
          <a:prstGeom prst="roundRect">
            <a:avLst>
              <a:gd name="adj" fmla="val 50000"/>
            </a:avLst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3150989" y="4772025"/>
            <a:ext cx="3222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2개: P1 Acc 54.79% (갭 2.21%p) / P7 R² 0.586 (갭 0.034)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538913" y="4724400"/>
            <a:ext cx="2230922" cy="228600"/>
          </a:xfrm>
          <a:prstGeom prst="rect">
            <a:avLst/>
          </a:prstGeom>
          <a:noFill/>
          <a:ln/>
        </p:spPr>
        <p:txBody>
          <a:bodyPr wrap="square" lIns="0" tIns="47625" rIns="0" bIns="4762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실행: P7 오후 13~18시 → P1 저녁 18~22시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1937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42888"/>
            <a:ext cx="29658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· P7 13일 연속 미달 원인 진단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6471940" y="228600"/>
            <a:ext cx="2367260" cy="276225"/>
          </a:xfrm>
          <a:prstGeom prst="roundRect">
            <a:avLst>
              <a:gd name="adj" fmla="val 41379"/>
            </a:avLst>
          </a:prstGeom>
          <a:solidFill>
            <a:srgbClr val="FF6B6B">
              <a:alpha val="18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95765" y="323850"/>
            <a:ext cx="2162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준비 완료 — 로컬 PC 미가동이 유일한 원인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4800" y="638175"/>
            <a:ext cx="4200525" cy="3590925"/>
          </a:xfrm>
          <a:prstGeom prst="roundRect">
            <a:avLst>
              <a:gd name="adj" fmla="val 265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652463"/>
            <a:ext cx="4200525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00563" y="638175"/>
            <a:ext cx="0" cy="3590925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800" y="4224338"/>
            <a:ext cx="420052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562" y="638175"/>
            <a:ext cx="0" cy="3590925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775" y="819150"/>
            <a:ext cx="12349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성장 곡선 예측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859113" y="857250"/>
            <a:ext cx="4745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v5 → v5.1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5775" y="1095375"/>
            <a:ext cx="1131838" cy="657225"/>
          </a:xfrm>
          <a:prstGeom prst="roundRect">
            <a:avLst>
              <a:gd name="adj" fmla="val 8696"/>
            </a:avLst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1043" y="1171575"/>
            <a:ext cx="921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Test R²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91043" y="1323975"/>
            <a:ext cx="9213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0.586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1043" y="1552575"/>
            <a:ext cx="921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0.62 | 갭 −0.034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731913" y="1095375"/>
            <a:ext cx="1075134" cy="657225"/>
          </a:xfrm>
          <a:prstGeom prst="roundRect">
            <a:avLst>
              <a:gd name="adj" fmla="val 8696"/>
            </a:avLst>
          </a:prstGeom>
          <a:solidFill>
            <a:srgbClr val="38D9A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837748" y="1171575"/>
            <a:ext cx="8634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 R² 이미 달성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837748" y="1323975"/>
            <a:ext cx="863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0.6302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37748" y="1552575"/>
            <a:ext cx="8634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일반화 갭만 해결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85775" y="1847850"/>
            <a:ext cx="3915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5775" y="2019300"/>
            <a:ext cx="39153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lag3_rating / delta_lag1_2 / delta_lag2_3 3개 피처 미추가 (스크립트 준비 완료)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5775" y="2428875"/>
            <a:ext cx="3838575" cy="800100"/>
          </a:xfrm>
          <a:prstGeom prst="roundRect">
            <a:avLst>
              <a:gd name="adj" fmla="val 4762"/>
            </a:avLst>
          </a:prstGeom>
          <a:solidFill>
            <a:srgbClr val="38D9A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0063" y="2428875"/>
            <a:ext cx="0" cy="800100"/>
          </a:xfrm>
          <a:prstGeom prst="line">
            <a:avLst/>
          </a:prstGeom>
          <a:noFill/>
          <a:ln w="28575">
            <a:solidFill>
              <a:srgbClr val="38D9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" y="2505075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9600" y="2667000"/>
            <a:ext cx="369189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오늘 오후 13~18시 실행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Optuna 35trials, 약 2~3시간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09600" y="3019425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시: P6→P7→P8 가치 사슬 완성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38675" y="638175"/>
            <a:ext cx="4200525" cy="3590925"/>
          </a:xfrm>
          <a:prstGeom prst="roundRect">
            <a:avLst>
              <a:gd name="adj" fmla="val 265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38675" y="652463"/>
            <a:ext cx="4200525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4438" y="638175"/>
            <a:ext cx="0" cy="3590925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8675" y="4224338"/>
            <a:ext cx="420052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3438" y="638175"/>
            <a:ext cx="0" cy="3590925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9650" y="819150"/>
            <a:ext cx="12349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경기 결과 예측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8283922" y="857250"/>
            <a:ext cx="3817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19650" y="1095375"/>
            <a:ext cx="1212800" cy="657225"/>
          </a:xfrm>
          <a:prstGeom prst="roundRect">
            <a:avLst>
              <a:gd name="adj" fmla="val 8696"/>
            </a:avLst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24108" y="1171575"/>
            <a:ext cx="10038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Acc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924108" y="1323975"/>
            <a:ext cx="1003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24108" y="1552575"/>
            <a:ext cx="10038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57% | 갭 −2.21%p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146750" y="1095375"/>
            <a:ext cx="1022152" cy="657225"/>
          </a:xfrm>
          <a:prstGeom prst="roundRect">
            <a:avLst>
              <a:gd name="adj" fmla="val 8696"/>
            </a:avLst>
          </a:prstGeom>
          <a:solidFill>
            <a:srgbClr val="FF6B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53115" y="1171575"/>
            <a:ext cx="8094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Score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253115" y="1295400"/>
            <a:ext cx="8094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40.65%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253115" y="1524000"/>
            <a:ext cx="8094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D클래스 극단 미달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4819650" y="1847850"/>
            <a:ext cx="3915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19650" y="2019300"/>
            <a:ext cx="39153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D무승부 클래스 불균형 미보정 + H2H 무승부 비율 피처 미추가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4819650" y="2271713"/>
            <a:ext cx="3838575" cy="800100"/>
          </a:xfrm>
          <a:prstGeom prst="roundRect">
            <a:avLst>
              <a:gd name="adj" fmla="val 4762"/>
            </a:avLst>
          </a:prstGeom>
          <a:solidFill>
            <a:srgbClr val="38D9A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833938" y="2271713"/>
            <a:ext cx="0" cy="800100"/>
          </a:xfrm>
          <a:prstGeom prst="line">
            <a:avLst/>
          </a:prstGeom>
          <a:noFill/>
          <a:ln w="28575">
            <a:solidFill>
              <a:srgbClr val="38D9A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3475" y="2347913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943475" y="2509838"/>
            <a:ext cx="369189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train_pipeline.py 오늘 저녁 18~22시 실행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class_weight={0:1, 1:2.5, 2:1} + H2H 무승부 비율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4943475" y="2862263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Acc ≥ 57% | 저녁 22시 전 push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04800" y="4343400"/>
            <a:ext cx="8534400" cy="60960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2342555" y="4438650"/>
            <a:ext cx="0" cy="41910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5549" y="4438650"/>
            <a:ext cx="17238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~11시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535549" y="4591050"/>
            <a:ext cx="17238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v2.0 완성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535549" y="4733925"/>
            <a:ext cx="17238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S3 FW 개선 파일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2347317" y="4572000"/>
            <a:ext cx="230591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458891" y="4452938"/>
            <a:ext cx="0" cy="390525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35" y="4452938"/>
            <a:ext cx="17240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13~18시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2651735" y="4605338"/>
            <a:ext cx="17240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실행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2651735" y="4748213"/>
            <a:ext cx="1724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Optuna 35trials (2~3h)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4463653" y="4572000"/>
            <a:ext cx="230591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575227" y="4452938"/>
            <a:ext cx="0" cy="390525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68071" y="4452938"/>
            <a:ext cx="17240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18~22시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4768071" y="4605338"/>
            <a:ext cx="17240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로컬 실행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4768071" y="4748213"/>
            <a:ext cx="1724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class_weight + H2H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6579989" y="4572000"/>
            <a:ext cx="230591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84407" y="4438650"/>
            <a:ext cx="17240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22시 이전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6884407" y="4591050"/>
            <a:ext cx="17240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results_summary 업데이트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6884407" y="4733925"/>
            <a:ext cx="17240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push 완료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52413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33362"/>
            <a:ext cx="26133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어제(05-23 토요일) 달성 현황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5112097" y="209550"/>
            <a:ext cx="1950839" cy="295275"/>
          </a:xfrm>
          <a:prstGeom prst="roundRect">
            <a:avLst>
              <a:gd name="adj" fmla="val 38710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54972" y="304800"/>
            <a:ext cx="1698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0건 / 미달 3건 — 달성률 0%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7158186" y="209550"/>
            <a:ext cx="1681014" cy="295275"/>
          </a:xfrm>
          <a:prstGeom prst="roundRect">
            <a:avLst>
              <a:gd name="adj" fmla="val 38710"/>
            </a:avLst>
          </a:prstGeom>
          <a:solidFill>
            <a:srgbClr val="FF6B6B">
              <a:alpha val="15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01061" y="304800"/>
            <a:ext cx="14231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4.38 → 4.25 (▼0.13)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04800" y="619125"/>
            <a:ext cx="1954857" cy="3484364"/>
          </a:xfrm>
          <a:prstGeom prst="roundRect">
            <a:avLst>
              <a:gd name="adj" fmla="val 3898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675" y="815280"/>
            <a:ext cx="2182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7890" y="752475"/>
            <a:ext cx="103287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 미실행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7675" y="1116211"/>
            <a:ext cx="1669107" cy="9525"/>
          </a:xfrm>
          <a:prstGeom prst="rect">
            <a:avLst/>
          </a:prstGeom>
          <a:solidFill>
            <a:srgbClr val="FF6B6B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7675" y="1192411"/>
            <a:ext cx="1702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7675" y="1344811"/>
            <a:ext cx="17024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/ P1 Acc ≥ 57%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7675" y="1516261"/>
            <a:ext cx="1702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7675" y="1668661"/>
            <a:ext cx="17024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0.586 / P1 54.79%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47675" y="1773436"/>
            <a:ext cx="17024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PC 미가동 / dev_result 없음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47675" y="1963936"/>
            <a:ext cx="1702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비고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47675" y="2116336"/>
            <a:ext cx="1702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13일 연속 — 오늘 22시 절대 기한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7675" y="2316361"/>
            <a:ext cx="1669107" cy="238125"/>
          </a:xfrm>
          <a:prstGeom prst="roundRect">
            <a:avLst>
              <a:gd name="adj" fmla="val 32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3875" y="2402086"/>
            <a:ext cx="4944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−0.10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354907" y="619125"/>
            <a:ext cx="2433786" cy="3484364"/>
          </a:xfrm>
          <a:prstGeom prst="roundRect">
            <a:avLst>
              <a:gd name="adj" fmla="val 3131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97782" y="815280"/>
            <a:ext cx="2182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787997" y="752475"/>
            <a:ext cx="189497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s3_fw_improvement_plan.md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미생성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97782" y="1116211"/>
            <a:ext cx="2148036" cy="9525"/>
          </a:xfrm>
          <a:prstGeom prst="rect">
            <a:avLst/>
          </a:prstGeom>
          <a:solidFill>
            <a:srgbClr val="FF6B6B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97782" y="1192411"/>
            <a:ext cx="2190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97782" y="1344811"/>
            <a:ext cx="2190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생성 완료 / FW Sil 0.25 방안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497782" y="1544836"/>
            <a:ext cx="2190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497782" y="1697236"/>
            <a:ext cx="2190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없음 — 5일 연속 미달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497782" y="1897261"/>
            <a:ext cx="2190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비고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97782" y="2049661"/>
            <a:ext cx="2190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11시 완료 필수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97782" y="2249686"/>
            <a:ext cx="2148036" cy="238125"/>
          </a:xfrm>
          <a:prstGeom prst="roundRect">
            <a:avLst>
              <a:gd name="adj" fmla="val 32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73982" y="2335411"/>
            <a:ext cx="4944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−0.03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83944" y="619125"/>
            <a:ext cx="1955006" cy="3484364"/>
          </a:xfrm>
          <a:prstGeom prst="roundRect">
            <a:avLst>
              <a:gd name="adj" fmla="val 3898"/>
            </a:avLst>
          </a:prstGeom>
          <a:solidFill>
            <a:srgbClr val="FF6B6B">
              <a:alpha val="8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26819" y="815280"/>
            <a:ext cx="2182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317034" y="752475"/>
            <a:ext cx="89731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최종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완결 미달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6819" y="1116211"/>
            <a:ext cx="1669256" cy="9525"/>
          </a:xfrm>
          <a:prstGeom prst="rect">
            <a:avLst/>
          </a:prstGeom>
          <a:solidFill>
            <a:srgbClr val="FF6B6B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26819" y="1192411"/>
            <a:ext cx="1702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26819" y="1344811"/>
            <a:ext cx="1702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v2.0 / Q&amp;A 3개 / 5분 이내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6819" y="1678186"/>
            <a:ext cx="1702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26819" y="1830586"/>
            <a:ext cx="1702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초안(05-19) — 일주일 미업데이트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6819" y="2163961"/>
            <a:ext cx="1702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비고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6819" y="2316361"/>
            <a:ext cx="1702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11시 마감으로 이월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26819" y="2516386"/>
            <a:ext cx="1669256" cy="238125"/>
          </a:xfrm>
          <a:prstGeom prst="roundRect">
            <a:avLst>
              <a:gd name="adj" fmla="val 32000"/>
            </a:avLst>
          </a:prstGeom>
          <a:solidFill>
            <a:srgbClr val="FF6B6B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03019" y="2602111"/>
            <a:ext cx="3394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이월 ±0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6934200" y="619125"/>
            <a:ext cx="1905000" cy="1019175"/>
          </a:xfrm>
          <a:prstGeom prst="roundRect">
            <a:avLst>
              <a:gd name="adj" fmla="val 7477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070598" y="771525"/>
            <a:ext cx="1632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070598" y="942975"/>
            <a:ext cx="16322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3150" dirty="0"/>
          </a:p>
        </p:txBody>
      </p:sp>
      <p:sp>
        <p:nvSpPr>
          <p:cNvPr id="48" name="Text 46"/>
          <p:cNvSpPr/>
          <p:nvPr/>
        </p:nvSpPr>
        <p:spPr>
          <a:xfrm>
            <a:off x="7070598" y="1343025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/ 3건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6934200" y="1714500"/>
            <a:ext cx="1905000" cy="657225"/>
          </a:xfrm>
          <a:prstGeom prst="roundRect">
            <a:avLst>
              <a:gd name="adj" fmla="val 1159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031736" y="1828800"/>
            <a:ext cx="1709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변화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7429397" y="1981200"/>
            <a:ext cx="359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4.38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7841767" y="2000250"/>
            <a:ext cx="89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84229" y="1981200"/>
            <a:ext cx="359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4.25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7031736" y="2152650"/>
            <a:ext cx="17099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−0.13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934200" y="2447925"/>
            <a:ext cx="1905000" cy="428625"/>
          </a:xfrm>
          <a:prstGeom prst="roundRect">
            <a:avLst>
              <a:gd name="adj" fmla="val 17778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022021" y="2533650"/>
            <a:ext cx="17293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22시 push 없으면</a:t>
            </a:r>
            <a:endParaRPr lang="en-US" sz="675" dirty="0"/>
          </a:p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아침 4.20 이하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304800" y="4217789"/>
            <a:ext cx="8534400" cy="735211"/>
          </a:xfrm>
          <a:prstGeom prst="roundRect">
            <a:avLst>
              <a:gd name="adj" fmla="val 777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304800" y="4222552"/>
            <a:ext cx="8534400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34438" y="4217789"/>
            <a:ext cx="0" cy="735211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4800" y="4948238"/>
            <a:ext cx="8534400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3850" y="4217789"/>
            <a:ext cx="0" cy="73521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5300" y="4332089"/>
            <a:ext cx="8345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95300" y="4503539"/>
            <a:ext cx="8345615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"4.25. 13일입니다. 토요일도 안 됐습니다. 오늘 일요일이지만 상황은 동일합니다. 오전 중에 demo_script 최종본과 S3 파일을 만들고, 오후에 P7을 돌리고, 저녁에 P1을 돌리십시오. 로컬 PC를 지금 켜십시오."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42888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3838"/>
            <a:ext cx="19737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6444853" y="209550"/>
            <a:ext cx="2394347" cy="276225"/>
          </a:xfrm>
          <a:prstGeom prst="roundRect">
            <a:avLst>
              <a:gd name="adj" fmla="val 41379"/>
            </a:avLst>
          </a:prstGeom>
          <a:solidFill>
            <a:srgbClr val="38D9A9">
              <a:alpha val="15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7728" y="295275"/>
            <a:ext cx="2150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3가지 완결 시 4.25 → 4.53 (+0.28)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04800" y="581025"/>
            <a:ext cx="8534400" cy="314325"/>
          </a:xfrm>
          <a:prstGeom prst="roundRect">
            <a:avLst>
              <a:gd name="adj" fmla="val 18182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666750"/>
            <a:ext cx="3349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22시 결과 없으면 내일 4.20 이하 — 오늘이 마지막 기회입니다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597229" y="671513"/>
            <a:ext cx="11016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 담당 전체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4800" y="1009650"/>
            <a:ext cx="2768501" cy="3390900"/>
          </a:xfrm>
          <a:prstGeom prst="roundRect">
            <a:avLst>
              <a:gd name="adj" fmla="val 344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04800" y="1028700"/>
            <a:ext cx="2768501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776" y="1009650"/>
            <a:ext cx="0" cy="339090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800" y="4391025"/>
            <a:ext cx="2768501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325" y="1009650"/>
            <a:ext cx="0" cy="339090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250" y="1305818"/>
            <a:ext cx="2182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🥇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6465" y="1181100"/>
            <a:ext cx="12470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766465" y="1304925"/>
            <a:ext cx="124707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최종 리허설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완결 — 오전 절대 마감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250" y="1678186"/>
            <a:ext cx="2425601" cy="9525"/>
          </a:xfrm>
          <a:prstGeom prst="rect">
            <a:avLst/>
          </a:prstGeom>
          <a:solidFill>
            <a:srgbClr val="FF6B6B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50" y="1763911"/>
            <a:ext cx="242560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50" y="1763911"/>
            <a:ext cx="2474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AUC 0.6612 대응 논리 3문장 확립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6250" y="1954411"/>
            <a:ext cx="2474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3개 대응 논리 (각 30초)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6250" y="2144911"/>
            <a:ext cx="2474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5분 이내 타이밍 조정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6250" y="4000500"/>
            <a:ext cx="11887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</a:t>
            </a:r>
            <a:pPr algn="l" indent="0" marL="0"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11시 (절대)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76250" y="4124325"/>
            <a:ext cx="11887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demo_script v2.0 완성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053382" y="4005262"/>
            <a:ext cx="848469" cy="238125"/>
          </a:xfrm>
          <a:prstGeom prst="roundRect">
            <a:avLst>
              <a:gd name="adj" fmla="val 32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129582" y="4090987"/>
            <a:ext cx="709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 → 4.32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187601" y="1009650"/>
            <a:ext cx="2768650" cy="3390900"/>
          </a:xfrm>
          <a:prstGeom prst="roundRect">
            <a:avLst>
              <a:gd name="adj" fmla="val 344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187601" y="1028700"/>
            <a:ext cx="2768650" cy="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6725" y="1009650"/>
            <a:ext cx="0" cy="339090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7601" y="4391025"/>
            <a:ext cx="2768650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97126" y="1009650"/>
            <a:ext cx="0" cy="339090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9051" y="1305818"/>
            <a:ext cx="2182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🥈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649266" y="1181100"/>
            <a:ext cx="10328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649266" y="1304925"/>
            <a:ext cx="103287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 push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59051" y="1678186"/>
            <a:ext cx="2425750" cy="9525"/>
          </a:xfrm>
          <a:prstGeom prst="rect">
            <a:avLst/>
          </a:prstGeom>
          <a:solidFill>
            <a:srgbClr val="FFD43B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59051" y="1763911"/>
            <a:ext cx="2425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59051" y="1763911"/>
            <a:ext cx="24742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train_v5_1.py — 오후 13~18시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59051" y="1954411"/>
            <a:ext cx="24742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lag3_rating + delta_lag + Optuna 35trials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59051" y="2144911"/>
            <a:ext cx="24742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train_pipeline.py — 저녁 18~22시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59051" y="4019550"/>
            <a:ext cx="11432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</a:t>
            </a:r>
            <a:pPr algn="l" indent="0" marL="0"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22시 (최후)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3359051" y="4143375"/>
            <a:ext cx="11432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R²≥0.62 / P1 Acc≥57%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4936331" y="4010025"/>
            <a:ext cx="848469" cy="238125"/>
          </a:xfrm>
          <a:prstGeom prst="roundRect">
            <a:avLst>
              <a:gd name="adj" fmla="val 32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12531" y="4095750"/>
            <a:ext cx="709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+0.18 → 4.53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070550" y="1009650"/>
            <a:ext cx="2768501" cy="3390900"/>
          </a:xfrm>
          <a:prstGeom prst="roundRect">
            <a:avLst>
              <a:gd name="adj" fmla="val 344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070550" y="1028700"/>
            <a:ext cx="2768501" cy="0"/>
          </a:xfrm>
          <a:prstGeom prst="line">
            <a:avLst/>
          </a:prstGeom>
          <a:noFill/>
          <a:ln w="38100">
            <a:solidFill>
              <a:srgbClr val="38D9A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29526" y="1009650"/>
            <a:ext cx="0" cy="3390900"/>
          </a:xfrm>
          <a:prstGeom prst="line">
            <a:avLst/>
          </a:prstGeom>
          <a:noFill/>
          <a:ln w="19050">
            <a:solidFill>
              <a:srgbClr val="38D9A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70550" y="4391025"/>
            <a:ext cx="2768501" cy="0"/>
          </a:xfrm>
          <a:prstGeom prst="line">
            <a:avLst/>
          </a:prstGeom>
          <a:noFill/>
          <a:ln w="19050">
            <a:solidFill>
              <a:srgbClr val="38D9A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075" y="1009650"/>
            <a:ext cx="0" cy="3390900"/>
          </a:xfrm>
          <a:prstGeom prst="line">
            <a:avLst/>
          </a:prstGeom>
          <a:noFill/>
          <a:ln w="19050">
            <a:solidFill>
              <a:srgbClr val="38D9A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2000" y="1305818"/>
            <a:ext cx="2182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🥉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532215" y="1181100"/>
            <a:ext cx="119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532215" y="1304925"/>
            <a:ext cx="119470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클러스터 개선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 파일 생성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42000" y="1678186"/>
            <a:ext cx="2425601" cy="9525"/>
          </a:xfrm>
          <a:prstGeom prst="rect">
            <a:avLst/>
          </a:prstGeom>
          <a:solidFill>
            <a:srgbClr val="38D9A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42000" y="1763911"/>
            <a:ext cx="242560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42000" y="1763911"/>
            <a:ext cx="2474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파일: reports/s3_fw_improvement_plan.md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42000" y="1954411"/>
            <a:ext cx="2474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피처 4개 + K=7/K=5 비교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42000" y="2144911"/>
            <a:ext cx="2474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Silhouette 0.2085 → 0.25 방안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242000" y="4000500"/>
            <a:ext cx="9537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</a:t>
            </a:r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11시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6242000" y="4124325"/>
            <a:ext cx="9537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 연속 미달 종결 필수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7819132" y="4005262"/>
            <a:ext cx="848469" cy="238125"/>
          </a:xfrm>
          <a:prstGeom prst="roundRect">
            <a:avLst>
              <a:gd name="adj" fmla="val 32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895332" y="4090987"/>
            <a:ext cx="709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 → 4.35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04800" y="4514850"/>
            <a:ext cx="8534400" cy="457200"/>
          </a:xfrm>
          <a:prstGeom prst="roundRect">
            <a:avLst>
              <a:gd name="adj" fmla="val 14583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2348508" y="4600575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6059" y="4600575"/>
            <a:ext cx="17688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~11시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516059" y="4743450"/>
            <a:ext cx="17688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v2.0 + S3 파일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2353270" y="4672013"/>
            <a:ext cx="222546" cy="142875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75" dirty="0"/>
          </a:p>
        </p:txBody>
      </p:sp>
      <p:sp>
        <p:nvSpPr>
          <p:cNvPr id="65" name="Shape 63"/>
          <p:cNvSpPr/>
          <p:nvPr/>
        </p:nvSpPr>
        <p:spPr>
          <a:xfrm>
            <a:off x="4462909" y="4600575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30309" y="4600575"/>
            <a:ext cx="1768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13~18시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2630309" y="4743450"/>
            <a:ext cx="1768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실행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4467671" y="4672013"/>
            <a:ext cx="222546" cy="142875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75" dirty="0"/>
          </a:p>
        </p:txBody>
      </p:sp>
      <p:sp>
        <p:nvSpPr>
          <p:cNvPr id="69" name="Shape 67"/>
          <p:cNvSpPr/>
          <p:nvPr/>
        </p:nvSpPr>
        <p:spPr>
          <a:xfrm>
            <a:off x="6577161" y="4600575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44712" y="4600575"/>
            <a:ext cx="17688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18~22시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4744712" y="4743450"/>
            <a:ext cx="17688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실행 + push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6581924" y="4672013"/>
            <a:ext cx="222546" cy="142875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6858963" y="4600575"/>
            <a:ext cx="1768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아침</a:t>
            </a:r>
            <a:endParaRPr lang="en-US" sz="675" dirty="0"/>
          </a:p>
        </p:txBody>
      </p:sp>
      <p:sp>
        <p:nvSpPr>
          <p:cNvPr id="74" name="Text 72"/>
          <p:cNvSpPr/>
          <p:nvPr/>
        </p:nvSpPr>
        <p:spPr>
          <a:xfrm>
            <a:off x="6858963" y="4743450"/>
            <a:ext cx="1768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4.53 복원 확인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42888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3838"/>
            <a:ext cx="2841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발표 리허설 준비 현황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6139309" y="209550"/>
            <a:ext cx="2699891" cy="276225"/>
          </a:xfrm>
          <a:prstGeom prst="roundRect">
            <a:avLst>
              <a:gd name="adj" fmla="val 41379"/>
            </a:avLst>
          </a:prstGeom>
          <a:solidFill>
            <a:srgbClr val="FF6B6B">
              <a:alpha val="18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63134" y="304800"/>
            <a:ext cx="2501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초안(05-19) 그대로 — 오늘 오전 v2.0 완성 필수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4800" y="600075"/>
            <a:ext cx="4200525" cy="3419475"/>
          </a:xfrm>
          <a:prstGeom prst="roundRect">
            <a:avLst>
              <a:gd name="adj" fmla="val 278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785813"/>
            <a:ext cx="12686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리허설 준비 상태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924300" y="752475"/>
            <a:ext cx="409575" cy="238125"/>
          </a:xfrm>
          <a:prstGeom prst="roundRect">
            <a:avLst>
              <a:gd name="adj" fmla="val 32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0" y="838200"/>
            <a:ext cx="2623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미완성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6250" y="1085850"/>
            <a:ext cx="3857625" cy="581025"/>
          </a:xfrm>
          <a:prstGeom prst="roundRect">
            <a:avLst>
              <a:gd name="adj" fmla="val 6557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90538" y="1085850"/>
            <a:ext cx="0" cy="581025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0075" y="1162050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파일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0075" y="1314450"/>
            <a:ext cx="37113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0075" y="1457325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7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 2026-05-19 · v1.0 초안 · 일주일째 미업데이트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6250" y="1762125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빠진 3가지 (오늘 오전 완성 목표)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6250" y="1952625"/>
            <a:ext cx="3857625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" y="1952625"/>
            <a:ext cx="152400" cy="200025"/>
          </a:xfrm>
          <a:prstGeom prst="roundRect">
            <a:avLst>
              <a:gd name="adj" fmla="val 6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4726" y="2000250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75"/>
              </a:spcBef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704850" y="1952625"/>
            <a:ext cx="210689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AUC 0.6612 대응 논리 3문장 —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미완성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6250" y="2200275"/>
            <a:ext cx="152400" cy="200025"/>
          </a:xfrm>
          <a:prstGeom prst="roundRect">
            <a:avLst>
              <a:gd name="adj" fmla="val 6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726" y="2247900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75"/>
              </a:spcBef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704850" y="2200275"/>
            <a:ext cx="19414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3개 대응 논리 (각 30초) —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미완성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6250" y="2447925"/>
            <a:ext cx="152400" cy="200025"/>
          </a:xfrm>
          <a:prstGeom prst="roundRect">
            <a:avLst>
              <a:gd name="adj" fmla="val 6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726" y="2495550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75"/>
              </a:spcBef>
              <a:buNone/>
            </a:pPr>
            <a:r>
              <a:rPr lang="en-US" sz="600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04850" y="2447925"/>
            <a:ext cx="23092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타이밍 5분 15초→5분 이내 단축 —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미완성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38675" y="600075"/>
            <a:ext cx="4200525" cy="3419475"/>
          </a:xfrm>
          <a:prstGeom prst="roundRect">
            <a:avLst>
              <a:gd name="adj" fmla="val 278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0125" y="752475"/>
            <a:ext cx="14828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발표 흐름 체크리스트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245995" y="771525"/>
            <a:ext cx="14501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5분 15초 → 30초 단축 필요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10125" y="1000125"/>
            <a:ext cx="3857625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86325" y="1052513"/>
            <a:ext cx="959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056584" y="1047750"/>
            <a:ext cx="15467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선수 종합 레이팅 — R² 0.9093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451205" y="1052513"/>
            <a:ext cx="1431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86325" y="1328738"/>
            <a:ext cx="959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056584" y="1323975"/>
            <a:ext cx="1612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포지션별 시장가치 — R² 0.8812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451205" y="1328738"/>
            <a:ext cx="1431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895850" y="1614488"/>
            <a:ext cx="959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066109" y="1609725"/>
            <a:ext cx="2412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이적 적응 — AUC 0.6612 </a:t>
            </a:r>
            <a:pPr algn="l"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"위험 플래그" 대응 필수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41680" y="1614488"/>
            <a:ext cx="1431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886325" y="1900238"/>
            <a:ext cx="959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056584" y="1895475"/>
            <a:ext cx="141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시장가치 예측 — R² 0.8734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396734" y="1900238"/>
            <a:ext cx="198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45초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4886325" y="2176463"/>
            <a:ext cx="959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056584" y="2171700"/>
            <a:ext cx="1420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하락세 감지 — AUC 0.8324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96734" y="2176463"/>
            <a:ext cx="198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45초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886325" y="2452688"/>
            <a:ext cx="959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056584" y="2447925"/>
            <a:ext cx="16382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영입 권고 — 5분 이내 완결 확인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06817" y="2452688"/>
            <a:ext cx="4944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30초 (단축)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304800" y="4133850"/>
            <a:ext cx="2781300" cy="83820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04800" y="4143375"/>
            <a:ext cx="2781300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81338" y="4133850"/>
            <a:ext cx="0" cy="83820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4800" y="4967288"/>
            <a:ext cx="2781300" cy="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9562" y="4133850"/>
            <a:ext cx="0" cy="83820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8625" y="4248150"/>
            <a:ext cx="2584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 예상 질문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428625" y="4410075"/>
            <a:ext cx="2584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"P1 Acc 54%는 낮지 않습니까?"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28625" y="4581525"/>
            <a:ext cx="2584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3클래스 분류 기준 랜덤 33%의 1.66배. 연속 개선 중.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181350" y="4133850"/>
            <a:ext cx="2781300" cy="83820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3181350" y="4143375"/>
            <a:ext cx="2781300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57888" y="4133850"/>
            <a:ext cx="0" cy="83820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81350" y="4967288"/>
            <a:ext cx="2781300" cy="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86113" y="4133850"/>
            <a:ext cx="0" cy="83820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05175" y="4248150"/>
            <a:ext cx="2584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 예상 질문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3305175" y="4410075"/>
            <a:ext cx="2584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"P7 0.62 이하면 못 쓰는 것 아닙니까?"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305175" y="4581525"/>
            <a:ext cx="2584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 R² 0.6302 이미 달성. test 일반화 갭 해결 중.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057900" y="4133850"/>
            <a:ext cx="2781300" cy="83820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6057900" y="4143375"/>
            <a:ext cx="2781300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34437" y="4133850"/>
            <a:ext cx="0" cy="83820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57900" y="4967288"/>
            <a:ext cx="2781300" cy="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62663" y="4133850"/>
            <a:ext cx="0" cy="838200"/>
          </a:xfrm>
          <a:prstGeom prst="line">
            <a:avLst/>
          </a:prstGeom>
          <a:noFill/>
          <a:ln w="9525">
            <a:solidFill>
              <a:srgbClr val="FFD43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81725" y="4248150"/>
            <a:ext cx="2584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 예상 질문</a:t>
            </a:r>
            <a:endParaRPr lang="en-US" sz="675" dirty="0"/>
          </a:p>
        </p:txBody>
      </p:sp>
      <p:sp>
        <p:nvSpPr>
          <p:cNvPr id="70" name="Text 68"/>
          <p:cNvSpPr/>
          <p:nvPr/>
        </p:nvSpPr>
        <p:spPr>
          <a:xfrm>
            <a:off x="6181725" y="4410075"/>
            <a:ext cx="2584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"AUC 0.66으로 영입 결정에 어떻게 씁니까?"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181725" y="4581525"/>
            <a:ext cx="25843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도구 아닌 위험 플래그. 이적 10건 중 3건 실패 사전 플래그.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9550"/>
            <a:ext cx="28757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종합 평가 + 대시보드 현황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7660481" y="266700"/>
            <a:ext cx="1202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2026-05-24 | 33회차 결론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04800" y="571500"/>
            <a:ext cx="2286000" cy="3124200"/>
          </a:xfrm>
          <a:prstGeom prst="roundRect">
            <a:avLst>
              <a:gd name="adj" fmla="val 416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723900"/>
            <a:ext cx="1714500" cy="17145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0550" y="723900"/>
            <a:ext cx="1457325" cy="1714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3405" y="97155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4.25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73405" y="1314450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 (85%)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9071" y="158115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4.38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436354" y="1585913"/>
            <a:ext cx="89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8248" y="1581150"/>
            <a:ext cx="417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−0.13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92955" y="1762125"/>
            <a:ext cx="11095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13일 −0.10</a:t>
            </a:r>
            <a:endParaRPr lang="en-US" sz="675" dirty="0"/>
          </a:p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파일 5일 −0.03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57200" y="2114550"/>
            <a:ext cx="1981200" cy="819150"/>
          </a:xfrm>
          <a:prstGeom prst="roundRect">
            <a:avLst>
              <a:gd name="adj" fmla="val 6977"/>
            </a:avLst>
          </a:prstGeom>
          <a:solidFill>
            <a:srgbClr val="38D9A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90750"/>
            <a:ext cx="18265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달성 시 회복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52450" y="2362200"/>
            <a:ext cx="179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450" y="2362200"/>
            <a:ext cx="7540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v2.0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716732" y="2362200"/>
            <a:ext cx="638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 → 4.32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52450" y="2486025"/>
            <a:ext cx="478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1716732" y="2486025"/>
            <a:ext cx="638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 → 4.35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52450" y="2638425"/>
            <a:ext cx="5000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R²≥0.62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1716732" y="2638425"/>
            <a:ext cx="638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 → 4.45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52450" y="2762250"/>
            <a:ext cx="5583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Acc≥57%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1716732" y="2762250"/>
            <a:ext cx="638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 → 4.53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724150" y="571500"/>
            <a:ext cx="6115050" cy="2076450"/>
          </a:xfrm>
          <a:prstGeom prst="roundRect">
            <a:avLst>
              <a:gd name="adj" fmla="val 458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76550" y="704850"/>
            <a:ext cx="59264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 — 7단계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33700" y="9620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6B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950538" y="1062038"/>
            <a:ext cx="2711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NOW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930652" y="1304925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4.25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930652" y="1428750"/>
            <a:ext cx="3108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295650" y="1143000"/>
            <a:ext cx="408980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87229" y="100488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8D9A9">
              <a:alpha val="30000"/>
            </a:srgbClr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90068" y="1090613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739171" y="1309688"/>
            <a:ext cx="3629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39171" y="1414463"/>
            <a:ext cx="36296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v2.0</a:t>
            </a:r>
            <a:endParaRPr lang="en-US" sz="525" dirty="0"/>
          </a:p>
        </p:txBody>
      </p:sp>
      <p:sp>
        <p:nvSpPr>
          <p:cNvPr id="36" name="Text 34"/>
          <p:cNvSpPr/>
          <p:nvPr/>
        </p:nvSpPr>
        <p:spPr>
          <a:xfrm>
            <a:off x="4136678" y="1143000"/>
            <a:ext cx="409129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83906" y="9953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8D9A9">
              <a:alpha val="30000"/>
            </a:srgbClr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86745" y="1081088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581239" y="1300163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81239" y="1404938"/>
            <a:ext cx="2720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파일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4888706" y="1143000"/>
            <a:ext cx="408980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35786" y="9953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8D9A9">
              <a:alpha val="30000"/>
            </a:srgbClr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38625" y="1081088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5333119" y="1300163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33119" y="1404938"/>
            <a:ext cx="2720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달성</a:t>
            </a:r>
            <a:endParaRPr lang="en-US" sz="525" dirty="0"/>
          </a:p>
        </p:txBody>
      </p:sp>
      <p:sp>
        <p:nvSpPr>
          <p:cNvPr id="46" name="Text 44"/>
          <p:cNvSpPr/>
          <p:nvPr/>
        </p:nvSpPr>
        <p:spPr>
          <a:xfrm>
            <a:off x="5640586" y="1143000"/>
            <a:ext cx="409129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087814" y="9953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8D9A9">
              <a:alpha val="30000"/>
            </a:srgbClr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90653" y="1081088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085147" y="1300163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4.53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085147" y="1404938"/>
            <a:ext cx="2720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달성</a:t>
            </a:r>
            <a:endParaRPr lang="en-US" sz="525" dirty="0"/>
          </a:p>
        </p:txBody>
      </p:sp>
      <p:sp>
        <p:nvSpPr>
          <p:cNvPr id="51" name="Text 49"/>
          <p:cNvSpPr/>
          <p:nvPr/>
        </p:nvSpPr>
        <p:spPr>
          <a:xfrm>
            <a:off x="6392614" y="1143000"/>
            <a:ext cx="409129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839843" y="100488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B949E">
              <a:alpha val="20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42682" y="1090613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6837176" y="1309688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4.59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837176" y="1414463"/>
            <a:ext cx="2720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</a:t>
            </a:r>
            <a:endParaRPr lang="en-US" sz="525" dirty="0"/>
          </a:p>
        </p:txBody>
      </p:sp>
      <p:sp>
        <p:nvSpPr>
          <p:cNvPr id="56" name="Text 54"/>
          <p:cNvSpPr/>
          <p:nvPr/>
        </p:nvSpPr>
        <p:spPr>
          <a:xfrm>
            <a:off x="7144643" y="1143000"/>
            <a:ext cx="409129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591871" y="9953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B949E">
              <a:alpha val="20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694710" y="1081088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7589204" y="1300163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4.67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589204" y="1404938"/>
            <a:ext cx="2720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525" dirty="0"/>
          </a:p>
        </p:txBody>
      </p:sp>
      <p:sp>
        <p:nvSpPr>
          <p:cNvPr id="61" name="Text 59"/>
          <p:cNvSpPr/>
          <p:nvPr/>
        </p:nvSpPr>
        <p:spPr>
          <a:xfrm>
            <a:off x="7896671" y="1143000"/>
            <a:ext cx="409129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343900" y="9620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D43B">
              <a:alpha val="20000"/>
            </a:srgbClr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456375" y="1062038"/>
            <a:ext cx="798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340852" y="1304925"/>
            <a:ext cx="3108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40852" y="1438275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영입회의</a:t>
            </a:r>
            <a:endParaRPr lang="en-US" sz="525" dirty="0"/>
          </a:p>
        </p:txBody>
      </p:sp>
      <p:sp>
        <p:nvSpPr>
          <p:cNvPr id="66" name="Text 64"/>
          <p:cNvSpPr/>
          <p:nvPr/>
        </p:nvSpPr>
        <p:spPr>
          <a:xfrm>
            <a:off x="2724150" y="2762250"/>
            <a:ext cx="6115050" cy="933450"/>
          </a:xfrm>
          <a:prstGeom prst="roundRect">
            <a:avLst>
              <a:gd name="adj" fmla="val 816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2857500" y="2857500"/>
            <a:ext cx="59653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완전 분석 — 가치 사슬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857500" y="3081338"/>
            <a:ext cx="1472505" cy="504825"/>
          </a:xfrm>
          <a:prstGeom prst="roundRect">
            <a:avLst>
              <a:gd name="adj" fmla="val 11321"/>
            </a:avLst>
          </a:prstGeom>
          <a:solidFill>
            <a:srgbClr val="0F346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2949645" y="3167063"/>
            <a:ext cx="12882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949645" y="3271838"/>
            <a:ext cx="1288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시장가치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949645" y="3405188"/>
            <a:ext cx="12882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4406205" y="3257550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594175" y="3067050"/>
            <a:ext cx="1472654" cy="533400"/>
          </a:xfrm>
          <a:prstGeom prst="roundRect">
            <a:avLst>
              <a:gd name="adj" fmla="val 10714"/>
            </a:avLst>
          </a:prstGeom>
          <a:solidFill>
            <a:srgbClr val="0F3460"/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686319" y="3152775"/>
            <a:ext cx="12883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686319" y="3257550"/>
            <a:ext cx="1288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예측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686319" y="3390900"/>
            <a:ext cx="12883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0.586 (오늘 달성)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6143030" y="3257550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6331000" y="3081338"/>
            <a:ext cx="1472654" cy="504825"/>
          </a:xfrm>
          <a:prstGeom prst="roundRect">
            <a:avLst>
              <a:gd name="adj" fmla="val 11321"/>
            </a:avLst>
          </a:prstGeom>
          <a:solidFill>
            <a:srgbClr val="0F3460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423144" y="3167063"/>
            <a:ext cx="12883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423144" y="3271838"/>
            <a:ext cx="1288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423144" y="3405188"/>
            <a:ext cx="12883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</a:t>
            </a:r>
            <a:endParaRPr lang="en-US" sz="675" dirty="0"/>
          </a:p>
        </p:txBody>
      </p:sp>
      <p:sp>
        <p:nvSpPr>
          <p:cNvPr id="82" name="Text 80"/>
          <p:cNvSpPr/>
          <p:nvPr/>
        </p:nvSpPr>
        <p:spPr>
          <a:xfrm>
            <a:off x="7879854" y="3262313"/>
            <a:ext cx="842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영입 완전 분석</a:t>
            </a:r>
            <a:endParaRPr lang="en-US" sz="825" dirty="0"/>
          </a:p>
        </p:txBody>
      </p:sp>
      <p:sp>
        <p:nvSpPr>
          <p:cNvPr id="83" name="Text 81"/>
          <p:cNvSpPr/>
          <p:nvPr/>
        </p:nvSpPr>
        <p:spPr>
          <a:xfrm>
            <a:off x="304800" y="3810000"/>
            <a:ext cx="5753100" cy="857250"/>
          </a:xfrm>
          <a:prstGeom prst="roundRect">
            <a:avLst>
              <a:gd name="adj" fmla="val 7778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457200" y="4057650"/>
            <a:ext cx="46918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</a:t>
            </a:r>
            <a:endParaRPr lang="en-US" sz="675" dirty="0"/>
          </a:p>
        </p:txBody>
      </p:sp>
      <p:sp>
        <p:nvSpPr>
          <p:cNvPr id="85" name="Text 83"/>
          <p:cNvSpPr/>
          <p:nvPr/>
        </p:nvSpPr>
        <p:spPr>
          <a:xfrm>
            <a:off x="457200" y="4210050"/>
            <a:ext cx="46918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214193" y="3905250"/>
            <a:ext cx="0" cy="666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66014" y="3905250"/>
            <a:ext cx="5448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/ 활용</a:t>
            </a:r>
            <a:endParaRPr lang="en-US" sz="675" dirty="0"/>
          </a:p>
        </p:txBody>
      </p:sp>
      <p:sp>
        <p:nvSpPr>
          <p:cNvPr id="88" name="Text 86"/>
          <p:cNvSpPr/>
          <p:nvPr/>
        </p:nvSpPr>
        <p:spPr>
          <a:xfrm>
            <a:off x="5366014" y="4048125"/>
            <a:ext cx="5448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9</a:t>
            </a:r>
            <a:endParaRPr lang="en-US" sz="1350" dirty="0"/>
          </a:p>
        </p:txBody>
      </p:sp>
      <p:sp>
        <p:nvSpPr>
          <p:cNvPr id="89" name="Text 87"/>
          <p:cNvSpPr/>
          <p:nvPr/>
        </p:nvSpPr>
        <p:spPr>
          <a:xfrm>
            <a:off x="5366014" y="4448175"/>
            <a:ext cx="5448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</a:t>
            </a:r>
            <a:endParaRPr lang="en-US" sz="675" dirty="0"/>
          </a:p>
        </p:txBody>
      </p:sp>
      <p:sp>
        <p:nvSpPr>
          <p:cNvPr id="90" name="Text 88"/>
          <p:cNvSpPr/>
          <p:nvPr/>
        </p:nvSpPr>
        <p:spPr>
          <a:xfrm>
            <a:off x="6172200" y="3810000"/>
            <a:ext cx="2667000" cy="857250"/>
          </a:xfrm>
          <a:prstGeom prst="roundRect">
            <a:avLst>
              <a:gd name="adj" fmla="val 7778"/>
            </a:avLst>
          </a:prstGeom>
          <a:solidFill>
            <a:srgbClr val="FF6B6B">
              <a:alpha val="15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6908654" y="4071045"/>
            <a:ext cx="1193944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22시 push 없으면</a:t>
            </a:r>
            <a:endParaRPr lang="en-US" sz="825" dirty="0"/>
          </a:p>
          <a:p>
            <a:pPr algn="ctr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아침 4.20 이하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2026-05-24T00:28:00Z</dcterms:created>
  <dcterms:modified xsi:type="dcterms:W3CDTF">2026-05-24T00:28:00Z</dcterms:modified>
</cp:coreProperties>
</file>