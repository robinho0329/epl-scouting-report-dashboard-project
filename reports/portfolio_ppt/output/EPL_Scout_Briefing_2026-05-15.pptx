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190" y="-60663"/>
            <a:ext cx="7453773" cy="3824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5A623">
                    <a:alpha val="4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FINAL</a:t>
            </a:r>
            <a:endParaRPr lang="en-US" sz="7600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3401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8600" y="252413"/>
            <a:ext cx="1863775" cy="180975"/>
          </a:xfrm>
          <a:prstGeom prst="roundRect">
            <a:avLst>
              <a:gd name="adj" fmla="val 28070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2900" y="290513"/>
            <a:ext cx="166787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93875" y="228600"/>
            <a:ext cx="1018133" cy="228600"/>
          </a:xfrm>
          <a:prstGeom prst="roundRect">
            <a:avLst>
              <a:gd name="adj" fmla="val 22222"/>
            </a:avLst>
          </a:prstGeom>
          <a:solidFill>
            <a:srgbClr val="0F346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17700" y="276225"/>
            <a:ext cx="785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24번째 정기 미팅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13509" y="228600"/>
            <a:ext cx="1292721" cy="228600"/>
          </a:xfrm>
          <a:prstGeom prst="roundRect">
            <a:avLst>
              <a:gd name="adj" fmla="val 22222"/>
            </a:avLst>
          </a:prstGeom>
          <a:solidFill>
            <a:srgbClr val="1A0A1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7334" y="276225"/>
            <a:ext cx="10659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금요일 · WEEK FINAL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979932" y="177701"/>
            <a:ext cx="8847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참석자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979932" y="339626"/>
            <a:ext cx="884718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79932" y="516731"/>
            <a:ext cx="884718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95"/>
              </a:lnSpc>
              <a:buNone/>
            </a:pPr>
            <a:r>
              <a:rPr lang="en-US" sz="9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979932" y="693837"/>
            <a:ext cx="88471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Analytics Agent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74420" y="1714958"/>
            <a:ext cx="69951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INTELLIGENCE BRIEFING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74420" y="1975259"/>
            <a:ext cx="6995160" cy="55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00"/>
              </a:lnSpc>
              <a:spcAft>
                <a:spcPts val="600"/>
              </a:spcAft>
              <a:buNone/>
            </a:pPr>
            <a:r>
              <a:rPr lang="en-US" sz="44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 인텔리전스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4127450" y="2610308"/>
            <a:ext cx="888950" cy="38100"/>
          </a:xfrm>
          <a:prstGeom prst="roundRect">
            <a:avLst>
              <a:gd name="adj" fmla="val 66667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4420" y="2775359"/>
            <a:ext cx="6995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데일리 브리핑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74420" y="3134035"/>
            <a:ext cx="699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5월 15일 (금)  |  09:00 KST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65355" y="3324523"/>
            <a:ext cx="1499295" cy="1158627"/>
          </a:xfrm>
          <a:prstGeom prst="roundRect">
            <a:avLst>
              <a:gd name="adj" fmla="val 10961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64103" y="3470523"/>
            <a:ext cx="11017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종합 평가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564103" y="3645098"/>
            <a:ext cx="110179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564103" y="4000649"/>
            <a:ext cx="11017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564103" y="4194274"/>
            <a:ext cx="11017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0.05  (전일 4.80)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28600" y="4181624"/>
            <a:ext cx="6375499" cy="631775"/>
          </a:xfrm>
          <a:prstGeom prst="roundRect">
            <a:avLst>
              <a:gd name="adj" fmla="val 12061"/>
            </a:avLst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28600" y="4191149"/>
            <a:ext cx="63754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4574" y="4181624"/>
            <a:ext cx="0" cy="631775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803874"/>
            <a:ext cx="6375499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413" y="4181624"/>
            <a:ext cx="0" cy="631775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3926" y="4314974"/>
            <a:ext cx="6072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마지막 기회 — 오늘이 WEEK FINAL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3926" y="4537174"/>
            <a:ext cx="60724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학습 실행 + 시연 스크립트 완성 + 대시보드 최종 점검  |  GitHub Actions 4일 연속 미실행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41102"/>
            <a:ext cx="38816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 </a:t>
            </a:r>
            <a:pPr algn="l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P1·P7 수동 학습 대기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81501" y="268188"/>
            <a:ext cx="923032" cy="193477"/>
          </a:xfrm>
          <a:prstGeom prst="roundRect">
            <a:avLst>
              <a:gd name="adj" fmla="val 131282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92527" y="303014"/>
            <a:ext cx="71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 최우수 3개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567934" y="268188"/>
            <a:ext cx="723305" cy="193477"/>
          </a:xfrm>
          <a:prstGeom prst="roundRect">
            <a:avLst>
              <a:gd name="adj" fmla="val 131282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78960" y="303014"/>
            <a:ext cx="511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우수 4개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54639" y="268188"/>
            <a:ext cx="723305" cy="193477"/>
          </a:xfrm>
          <a:prstGeom prst="roundRect">
            <a:avLst>
              <a:gd name="adj" fmla="val 131282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65665" y="303014"/>
            <a:ext cx="511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 양호 3개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141345" y="268188"/>
            <a:ext cx="723305" cy="193477"/>
          </a:xfrm>
          <a:prstGeom prst="roundRect">
            <a:avLst>
              <a:gd name="adj" fmla="val 131282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52371" y="303014"/>
            <a:ext cx="511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미달 2개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008307" y="847279"/>
            <a:ext cx="787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08307" y="983754"/>
            <a:ext cx="787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수동학습 대기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8008307" y="1186755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08307" y="1418332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08307" y="1649909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08307" y="1881485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08307" y="2113062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08307" y="2344638"/>
            <a:ext cx="7878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08307" y="2481114"/>
            <a:ext cx="7878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수동학습 대기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8008307" y="2684115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08307" y="2915692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08307" y="3147268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08307" y="3378845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08307" y="3610421"/>
            <a:ext cx="7878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9350" y="4788247"/>
            <a:ext cx="8585299" cy="253752"/>
          </a:xfrm>
          <a:prstGeom prst="roundRect">
            <a:avLst>
              <a:gd name="adj" fmla="val 25024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3175" y="4848523"/>
            <a:ext cx="850440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코드 수정 완료 — GitHub Actions 05-12 이후 4일 연속 미실행 · 오늘 수동 실행으로 최종 결정 |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S1·P4·P6·S2·P8·P3·P2·S3·S6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0"/>
            <a:ext cx="4572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9350" y="228451"/>
            <a:ext cx="29343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어제(05-14) 달성·미달 체크리스트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1021" y="323701"/>
            <a:ext cx="3869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2건 / 미달·미확인 4건 — 코드는 준비됐다. 학습이 연결되지 않으면 결과가 없는 것과 같다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9350" y="791766"/>
            <a:ext cx="3677543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9350" y="590252"/>
            <a:ext cx="5783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— 2건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922586" y="577602"/>
            <a:ext cx="748903" cy="158651"/>
          </a:xfrm>
          <a:prstGeom prst="roundRect">
            <a:avLst>
              <a:gd name="adj" fmla="val 72045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20961" y="599777"/>
            <a:ext cx="563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 완료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79350" y="872728"/>
            <a:ext cx="3677543" cy="1829098"/>
          </a:xfrm>
          <a:prstGeom prst="rect">
            <a:avLst/>
          </a:prstGeom>
          <a:solidFill>
            <a:srgbClr val="001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9350" y="877491"/>
            <a:ext cx="367754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2131" y="872728"/>
            <a:ext cx="0" cy="1829098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350" y="2697063"/>
            <a:ext cx="367754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8400" y="872728"/>
            <a:ext cx="0" cy="1829098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401" y="98375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12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8071" y="1047155"/>
            <a:ext cx="1085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9802" y="983754"/>
            <a:ext cx="3081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경로 수정 완료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99802" y="1177379"/>
            <a:ext cx="308102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scripts/github_actions_dev.py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36번 줄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“train_v5_1.py”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경로 확인 완료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99802" y="1507182"/>
            <a:ext cx="772716" cy="200025"/>
          </a:xfrm>
          <a:prstGeom prst="roundRect">
            <a:avLst>
              <a:gd name="adj" fmla="val 25397"/>
            </a:avLst>
          </a:prstGeom>
          <a:solidFill>
            <a:srgbClr val="0012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88653" y="1545282"/>
            <a:ext cx="606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 달성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79350" y="2778026"/>
            <a:ext cx="3677543" cy="1829246"/>
          </a:xfrm>
          <a:prstGeom prst="rect">
            <a:avLst/>
          </a:prstGeom>
          <a:solidFill>
            <a:srgbClr val="001A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279350" y="2782788"/>
            <a:ext cx="367754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2131" y="2778026"/>
            <a:ext cx="0" cy="1829246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350" y="4602510"/>
            <a:ext cx="3677543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8400" y="2778026"/>
            <a:ext cx="0" cy="1829246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4401" y="2889052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0012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8071" y="2952452"/>
            <a:ext cx="10854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9802" y="2889052"/>
            <a:ext cx="30810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피처 추가 완료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99802" y="3082677"/>
            <a:ext cx="308102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models/p1_match_result/train_pipeline.py</a:t>
            </a:r>
            <a:pPr algn="l" indent="0" marL="0">
              <a:lnSpc>
                <a:spcPts val="1050"/>
              </a:lnSpc>
              <a:buNone/>
            </a:pP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elo_trend_3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RobustScaler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확인 완료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9802" y="3412480"/>
            <a:ext cx="772716" cy="200025"/>
          </a:xfrm>
          <a:prstGeom prst="roundRect">
            <a:avLst>
              <a:gd name="adj" fmla="val 25397"/>
            </a:avLst>
          </a:prstGeom>
          <a:solidFill>
            <a:srgbClr val="0012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88653" y="3450580"/>
            <a:ext cx="606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 달성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083844" y="791766"/>
            <a:ext cx="4780806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83844" y="590252"/>
            <a:ext cx="9378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미달·미확인 — 4건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79504" y="577602"/>
            <a:ext cx="1179761" cy="158651"/>
          </a:xfrm>
          <a:prstGeom prst="roundRect">
            <a:avLst>
              <a:gd name="adj" fmla="val 72045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77879" y="599777"/>
            <a:ext cx="1002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4일 연속 미실행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083844" y="859929"/>
            <a:ext cx="4780806" cy="420142"/>
          </a:xfrm>
          <a:prstGeom prst="rect">
            <a:avLst/>
          </a:prstGeom>
          <a:solidFill>
            <a:srgbClr val="1A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083844" y="864691"/>
            <a:ext cx="4780806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59887" y="859929"/>
            <a:ext cx="0" cy="420142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83844" y="1275308"/>
            <a:ext cx="4780806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02894" y="859929"/>
            <a:ext cx="0" cy="420142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36244" y="94550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289822" y="989856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8245" y="932855"/>
            <a:ext cx="3691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 생성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28245" y="1091505"/>
            <a:ext cx="369113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연속 미생성 — 오늘 저녁이 이번 주 마지막 기회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235851" y="932855"/>
            <a:ext cx="504974" cy="183952"/>
          </a:xfrm>
          <a:prstGeom prst="roundRect">
            <a:avLst>
              <a:gd name="adj" fmla="val 2761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321576" y="967680"/>
            <a:ext cx="340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3일 연속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083844" y="1343471"/>
            <a:ext cx="4780806" cy="420142"/>
          </a:xfrm>
          <a:prstGeom prst="rect">
            <a:avLst/>
          </a:prstGeom>
          <a:solidFill>
            <a:srgbClr val="1A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4083844" y="1348234"/>
            <a:ext cx="4780806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59887" y="1343471"/>
            <a:ext cx="0" cy="420142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83844" y="1758851"/>
            <a:ext cx="4780806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02894" y="1343471"/>
            <a:ext cx="0" cy="420142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36244" y="142904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289822" y="1473398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28245" y="1416397"/>
            <a:ext cx="36911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dev_result.json 생성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28245" y="1575048"/>
            <a:ext cx="369113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 연속 미생성 — GitHub Actions 05-12 이후 미실행 (원인 불명)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235851" y="1416397"/>
            <a:ext cx="504974" cy="183952"/>
          </a:xfrm>
          <a:prstGeom prst="roundRect">
            <a:avLst>
              <a:gd name="adj" fmla="val 2761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321576" y="1451223"/>
            <a:ext cx="340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4일 연속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4083844" y="1827014"/>
            <a:ext cx="4780806" cy="420142"/>
          </a:xfrm>
          <a:prstGeom prst="rect">
            <a:avLst/>
          </a:prstGeom>
          <a:solidFill>
            <a:srgbClr val="1A1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4083844" y="1831777"/>
            <a:ext cx="4780806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859887" y="1827014"/>
            <a:ext cx="0" cy="42014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83844" y="2242393"/>
            <a:ext cx="4780806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02894" y="1827014"/>
            <a:ext cx="0" cy="420142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36244" y="191259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10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4308277" y="1963341"/>
            <a:ext cx="60115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528245" y="1899940"/>
            <a:ext cx="3779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R² ≥ 0.62 달성 여부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28245" y="2058591"/>
            <a:ext cx="3779026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 완료 — 학습 실행 필요 · 오늘 수동 실행으로 확인 예정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8322022" y="1899940"/>
            <a:ext cx="418802" cy="183952"/>
          </a:xfrm>
          <a:prstGeom prst="roundRect">
            <a:avLst>
              <a:gd name="adj" fmla="val 27616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407747" y="1934766"/>
            <a:ext cx="2522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083844" y="2310557"/>
            <a:ext cx="4780806" cy="420142"/>
          </a:xfrm>
          <a:prstGeom prst="rect">
            <a:avLst/>
          </a:prstGeom>
          <a:solidFill>
            <a:srgbClr val="1A1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4083844" y="2315319"/>
            <a:ext cx="4780806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59887" y="2310557"/>
            <a:ext cx="0" cy="420142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83844" y="2725936"/>
            <a:ext cx="4780806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02894" y="2310557"/>
            <a:ext cx="0" cy="420142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36244" y="2396133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10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4308277" y="2446883"/>
            <a:ext cx="60115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?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4528245" y="2383482"/>
            <a:ext cx="37790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XGBoost Acc ≥ 57% 달성 여부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528245" y="2542133"/>
            <a:ext cx="3779026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 완료 — 학습 실행 필요 · 오늘 수동 실행으로 확인 예정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8322022" y="2383482"/>
            <a:ext cx="418802" cy="183952"/>
          </a:xfrm>
          <a:prstGeom prst="roundRect">
            <a:avLst>
              <a:gd name="adj" fmla="val 27616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8407747" y="2418308"/>
            <a:ext cx="2522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미확인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279350" y="4708773"/>
            <a:ext cx="8585299" cy="33322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279350" y="4713536"/>
            <a:ext cx="8585299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859887" y="4708773"/>
            <a:ext cx="0" cy="333226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9350" y="5037237"/>
            <a:ext cx="8585299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03163" y="4708773"/>
            <a:ext cx="0" cy="333226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79375" y="4794498"/>
            <a:ext cx="838781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“코드는 준비됐습니다. 학습이 연결되지 않으면 결과가 없는 것과 같습니다.” </a:t>
            </a:r>
            <a:pPr algn="l" indent="0" marL="0">
              <a:lnSpc>
                <a:spcPts val="127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달성 2건 / 미달·미확인 4건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C0C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CD7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28451"/>
            <a:ext cx="43106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— </a:t>
            </a:r>
            <a:pPr algn="l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마지막 실행 기회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07596" y="323701"/>
            <a:ext cx="29141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학습(오전 즉시) · 시연 스크립트(저녁 마감) · 발표 자료 점검(오후)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9350" y="564952"/>
            <a:ext cx="2794099" cy="4153346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9350" y="584002"/>
            <a:ext cx="2794099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925" y="564952"/>
            <a:ext cx="0" cy="415334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350" y="4708773"/>
            <a:ext cx="2794099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875" y="564952"/>
            <a:ext cx="0" cy="415334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6671" y="704552"/>
            <a:ext cx="536228" cy="164902"/>
          </a:xfrm>
          <a:prstGeom prst="roundRect">
            <a:avLst>
              <a:gd name="adj" fmla="val 69314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05521" y="729853"/>
            <a:ext cx="3656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즉시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25351" y="730002"/>
            <a:ext cx="910977" cy="193477"/>
          </a:xfrm>
          <a:prstGeom prst="roundRect">
            <a:avLst>
              <a:gd name="adj" fmla="val 59077"/>
            </a:avLst>
          </a:prstGeom>
          <a:solidFill>
            <a:srgbClr val="1E16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36377" y="764828"/>
            <a:ext cx="7027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1순위 — 금메달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5351" y="986879"/>
            <a:ext cx="25521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5351" y="1155055"/>
            <a:ext cx="25521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원인 파악 및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학습 실행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351" y="1551831"/>
            <a:ext cx="2502098" cy="523280"/>
          </a:xfrm>
          <a:prstGeom prst="roundRect">
            <a:avLst>
              <a:gd name="adj" fmla="val 970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201" y="1615232"/>
            <a:ext cx="2370886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00D26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$ python models/p7_growth_curve/train_v5_1.py</a:t>
            </a:r>
            <a:endParaRPr lang="en-US" sz="65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00D26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$ python models/p1_match_result/train_pipeline.py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25351" y="2138511"/>
            <a:ext cx="2502098" cy="1888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20"/>
              </a:lnSpc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25351" y="2138511"/>
            <a:ext cx="4144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6852" y="2138511"/>
            <a:ext cx="2448610" cy="142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cron 설정 점검 (4일 미실행 원인 해소)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25351" y="4090243"/>
            <a:ext cx="2502098" cy="250627"/>
          </a:xfrm>
          <a:prstGeom prst="roundRect">
            <a:avLst>
              <a:gd name="adj" fmla="val 20269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23726" y="4163169"/>
            <a:ext cx="235145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test R² ≥ 0.62  |  P1 test Acc ≥ 57%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5351" y="4404271"/>
            <a:ext cx="1157139" cy="193477"/>
          </a:xfrm>
          <a:prstGeom prst="roundRect">
            <a:avLst>
              <a:gd name="adj" fmla="val 19692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1076" y="4439096"/>
            <a:ext cx="1005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2026-05-15 오전 즉시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185690" y="4439096"/>
            <a:ext cx="7565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+0.12 → 4.87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74950" y="564952"/>
            <a:ext cx="2794099" cy="4153346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174950" y="584002"/>
            <a:ext cx="2794099" cy="0"/>
          </a:xfrm>
          <a:prstGeom prst="line">
            <a:avLst/>
          </a:prstGeom>
          <a:noFill/>
          <a:ln w="38100">
            <a:solidFill>
              <a:srgbClr val="C0C0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59525" y="564952"/>
            <a:ext cx="0" cy="4153346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4950" y="4708773"/>
            <a:ext cx="2794099" cy="0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84475" y="564952"/>
            <a:ext cx="0" cy="4153346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12271" y="704552"/>
            <a:ext cx="536228" cy="164902"/>
          </a:xfrm>
          <a:prstGeom prst="roundRect">
            <a:avLst>
              <a:gd name="adj" fmla="val 69314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401121" y="729853"/>
            <a:ext cx="3656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마감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320951" y="730002"/>
            <a:ext cx="910977" cy="193477"/>
          </a:xfrm>
          <a:prstGeom prst="roundRect">
            <a:avLst>
              <a:gd name="adj" fmla="val 59077"/>
            </a:avLst>
          </a:prstGeom>
          <a:solidFill>
            <a:srgbClr val="141414"/>
          </a:solidFill>
          <a:ln w="9525">
            <a:solidFill>
              <a:srgbClr val="C0C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431977" y="764828"/>
            <a:ext cx="7027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2순위 — 은메달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20951" y="986879"/>
            <a:ext cx="25521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320951" y="1155055"/>
            <a:ext cx="25521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스크립트 초안 작성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320951" y="1551831"/>
            <a:ext cx="2502098" cy="2446437"/>
          </a:xfrm>
          <a:prstGeom prst="roundRect">
            <a:avLst>
              <a:gd name="adj" fmla="val 207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409801" y="1615232"/>
            <a:ext cx="23708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루트 5장 (reports/portfolio_ppt/demo_script_draft.md)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409801" y="1862882"/>
            <a:ext cx="232439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6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00" dirty="0"/>
          </a:p>
          <a:p>
            <a:pPr algn="l" marL="342900" indent="-342900">
              <a:lnSpc>
                <a:spcPts val="96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00" dirty="0"/>
          </a:p>
          <a:p>
            <a:pPr algn="l" marL="342900" indent="-342900">
              <a:lnSpc>
                <a:spcPts val="960"/>
              </a:lnSpc>
              <a:buSzPct val="100000"/>
              <a:buChar char="•"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3409801" y="1862882"/>
            <a:ext cx="4144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11302" y="1862882"/>
            <a:ext cx="226735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5분 시연 흐름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409801" y="1984772"/>
            <a:ext cx="4144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511302" y="1984772"/>
            <a:ext cx="226735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 포레스트·브렌트포드 시나리오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409801" y="2106662"/>
            <a:ext cx="41443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511302" y="2106662"/>
            <a:ext cx="2267355" cy="121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30~50M 파운드 기준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320951" y="4061668"/>
            <a:ext cx="2502098" cy="279202"/>
          </a:xfrm>
          <a:prstGeom prst="roundRect">
            <a:avLst>
              <a:gd name="adj" fmla="val 18195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419326" y="4134594"/>
            <a:ext cx="23514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5장 초안 완성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320951" y="4404271"/>
            <a:ext cx="1157139" cy="193477"/>
          </a:xfrm>
          <a:prstGeom prst="roundRect">
            <a:avLst>
              <a:gd name="adj" fmla="val 19692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406676" y="4439096"/>
            <a:ext cx="1005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2026-05-15 저녁 마감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081290" y="4439096"/>
            <a:ext cx="7565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 → 4.92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070550" y="564952"/>
            <a:ext cx="2794099" cy="4153346"/>
          </a:xfrm>
          <a:prstGeom prst="roundRect">
            <a:avLst>
              <a:gd name="adj" fmla="val 3636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6070550" y="584002"/>
            <a:ext cx="2794099" cy="0"/>
          </a:xfrm>
          <a:prstGeom prst="line">
            <a:avLst/>
          </a:prstGeom>
          <a:noFill/>
          <a:ln w="38100">
            <a:solidFill>
              <a:srgbClr val="CD7F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55125" y="564952"/>
            <a:ext cx="0" cy="4153346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70550" y="4708773"/>
            <a:ext cx="2794099" cy="0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075" y="564952"/>
            <a:ext cx="0" cy="4153346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6551" y="730002"/>
            <a:ext cx="910977" cy="193477"/>
          </a:xfrm>
          <a:prstGeom prst="roundRect">
            <a:avLst>
              <a:gd name="adj" fmla="val 59077"/>
            </a:avLst>
          </a:prstGeom>
          <a:solidFill>
            <a:srgbClr val="140E08"/>
          </a:solidFill>
          <a:ln w="9525">
            <a:solidFill>
              <a:srgbClr val="CD7F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327577" y="764828"/>
            <a:ext cx="70270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3순위 — 동메달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216551" y="986879"/>
            <a:ext cx="25521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16551" y="1155055"/>
            <a:ext cx="255214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발표 자료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점검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216551" y="1551831"/>
            <a:ext cx="2502098" cy="2446437"/>
          </a:xfrm>
          <a:prstGeom prst="roundRect">
            <a:avLst>
              <a:gd name="adj" fmla="val 207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305401" y="1615232"/>
            <a:ext cx="2324398" cy="42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305401" y="1615232"/>
            <a:ext cx="41443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06902" y="1615232"/>
            <a:ext cx="2267355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모델 Streamlit 페이지 정상 작동 확인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305401" y="1755577"/>
            <a:ext cx="41443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06902" y="1755577"/>
            <a:ext cx="2267355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URL 공유 준비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305401" y="1895921"/>
            <a:ext cx="41443" cy="172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00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406902" y="1895921"/>
            <a:ext cx="2267355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결과에 따라 포함 여부 최종 결정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216551" y="4061668"/>
            <a:ext cx="2502098" cy="279202"/>
          </a:xfrm>
          <a:prstGeom prst="roundRect">
            <a:avLst>
              <a:gd name="adj" fmla="val 18195"/>
            </a:avLst>
          </a:prstGeom>
          <a:solidFill>
            <a:srgbClr val="0D1A24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314926" y="4134594"/>
            <a:ext cx="23514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모델 페이지 정상 작동 확인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216551" y="4404271"/>
            <a:ext cx="948482" cy="193477"/>
          </a:xfrm>
          <a:prstGeom prst="roundRect">
            <a:avLst>
              <a:gd name="adj" fmla="val 19692"/>
            </a:avLst>
          </a:prstGeom>
          <a:solidFill>
            <a:srgbClr val="140E08"/>
          </a:solidFill>
          <a:ln w="9525">
            <a:solidFill>
              <a:srgbClr val="CD7F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302276" y="4439096"/>
            <a:ext cx="792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2026-05-15 오후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7838331" y="4439096"/>
            <a:ext cx="8979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미달 시 9개 기준 진행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79350" y="4807148"/>
            <a:ext cx="8585299" cy="26015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279350" y="4811911"/>
            <a:ext cx="8585299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6301" y="4880074"/>
            <a:ext cx="6284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미달 시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123950" y="4880074"/>
            <a:ext cx="44554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포트폴리오는 즉시 활용 가능한 </a:t>
            </a:r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 모델 기준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으로 진행 — 시연 스크립트 완성이 이번 주 최우선 과제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28451"/>
            <a:ext cx="42332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— </a:t>
            </a:r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4.75/5.0</a:t>
            </a:r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▼ 전일 4.80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89563" y="323701"/>
            <a:ext cx="31365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3일 미생성·Actions 4일 미실행 → 오늘 완료 시 4.92까지 회복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1551" y="615702"/>
            <a:ext cx="1460450" cy="1460450"/>
          </a:xfrm>
          <a:prstGeom prst="roundRect">
            <a:avLst>
              <a:gd name="adj" fmla="val 62611"/>
            </a:avLst>
          </a:prstGeom>
          <a:solidFill>
            <a:srgbClr val="16213E"/>
          </a:solidFill>
          <a:ln w="952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4508" y="1101477"/>
            <a:ext cx="830827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10555" y="1457027"/>
            <a:ext cx="247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87276" y="2177653"/>
            <a:ext cx="1289000" cy="228600"/>
          </a:xfrm>
          <a:prstGeom prst="roundRect">
            <a:avLst>
              <a:gd name="adj" fmla="val 50000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3591" y="2225278"/>
            <a:ext cx="1036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0.05  (전일 4.80)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9350" y="2507754"/>
            <a:ext cx="19431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(95%)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9350" y="2669679"/>
            <a:ext cx="1905000" cy="88850"/>
          </a:xfrm>
          <a:prstGeom prst="roundRect">
            <a:avLst>
              <a:gd name="adj" fmla="val 128644"/>
            </a:avLst>
          </a:prstGeom>
          <a:solidFill>
            <a:srgbClr val="1E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9350" y="2669679"/>
            <a:ext cx="1809750" cy="88850"/>
          </a:xfrm>
          <a:prstGeom prst="roundRect">
            <a:avLst>
              <a:gd name="adj" fmla="val 128644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4880" y="2860030"/>
            <a:ext cx="111379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3일</a:t>
            </a:r>
            <a:endParaRPr lang="en-US" sz="65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4일 미실행으로 하락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311301" y="564952"/>
            <a:ext cx="33679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11301" y="85397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1A05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15263" y="92377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15263" y="108882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시작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938936" y="828377"/>
            <a:ext cx="2046631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38936" y="993428"/>
            <a:ext cx="20466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938936" y="1098203"/>
            <a:ext cx="2046631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</a:t>
            </a:r>
            <a:endParaRPr lang="en-US" sz="550" dirty="0"/>
          </a:p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≥ 0.62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5003602" y="85397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07564" y="92377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07564" y="108882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목표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2971651" y="1342876"/>
            <a:ext cx="269438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71651" y="155882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75614" y="162862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75614" y="179367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달성 후</a:t>
            </a:r>
            <a:endParaRPr lang="en-US" sz="550" dirty="0"/>
          </a:p>
        </p:txBody>
      </p:sp>
      <p:sp>
        <p:nvSpPr>
          <p:cNvPr id="30" name="Text 28"/>
          <p:cNvSpPr/>
          <p:nvPr/>
        </p:nvSpPr>
        <p:spPr>
          <a:xfrm>
            <a:off x="3605890" y="1533227"/>
            <a:ext cx="1373073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05890" y="1698278"/>
            <a:ext cx="13730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605890" y="1803053"/>
            <a:ext cx="137307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</a:t>
            </a:r>
            <a:endParaRPr lang="en-US" sz="550" dirty="0"/>
          </a:p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 57%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5003602" y="155882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07564" y="162862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07564" y="179367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목표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2971651" y="2047726"/>
            <a:ext cx="269438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71651" y="226367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075614" y="233347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75614" y="249852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달성 후</a:t>
            </a:r>
            <a:endParaRPr lang="en-US" sz="550" dirty="0"/>
          </a:p>
        </p:txBody>
      </p:sp>
      <p:sp>
        <p:nvSpPr>
          <p:cNvPr id="40" name="Text 38"/>
          <p:cNvSpPr/>
          <p:nvPr/>
        </p:nvSpPr>
        <p:spPr>
          <a:xfrm>
            <a:off x="3605890" y="2238077"/>
            <a:ext cx="1373073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05890" y="2403128"/>
            <a:ext cx="13730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605890" y="2507903"/>
            <a:ext cx="137307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스크립트</a:t>
            </a:r>
            <a:endParaRPr lang="en-US" sz="550" dirty="0"/>
          </a:p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(저녁)</a:t>
            </a:r>
            <a:endParaRPr lang="en-US" sz="550" dirty="0"/>
          </a:p>
        </p:txBody>
      </p:sp>
      <p:sp>
        <p:nvSpPr>
          <p:cNvPr id="43" name="Text 41"/>
          <p:cNvSpPr/>
          <p:nvPr/>
        </p:nvSpPr>
        <p:spPr>
          <a:xfrm>
            <a:off x="5003602" y="226367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107564" y="233347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07564" y="249852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저녁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2971651" y="2752576"/>
            <a:ext cx="2694381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71651" y="296852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075614" y="303832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075614" y="320337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저녁 달성 후</a:t>
            </a:r>
            <a:endParaRPr lang="en-US" sz="550" dirty="0"/>
          </a:p>
        </p:txBody>
      </p:sp>
      <p:sp>
        <p:nvSpPr>
          <p:cNvPr id="50" name="Text 48"/>
          <p:cNvSpPr/>
          <p:nvPr/>
        </p:nvSpPr>
        <p:spPr>
          <a:xfrm>
            <a:off x="3605890" y="2942927"/>
            <a:ext cx="1373073" cy="16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605890" y="3107978"/>
            <a:ext cx="13730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3605890" y="3212753"/>
            <a:ext cx="1373073" cy="181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복구</a:t>
            </a:r>
            <a:endParaRPr lang="en-US" sz="550" dirty="0"/>
          </a:p>
          <a:p>
            <a:pPr algn="ctr"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영입회의 시연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5003602" y="2968526"/>
            <a:ext cx="609600" cy="399901"/>
          </a:xfrm>
          <a:prstGeom prst="roundRect">
            <a:avLst>
              <a:gd name="adj" fmla="val 15879"/>
            </a:avLst>
          </a:prstGeom>
          <a:solidFill>
            <a:srgbClr val="0015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107564" y="3038326"/>
            <a:ext cx="401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07564" y="3203377"/>
            <a:ext cx="401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 내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2311301" y="3495526"/>
            <a:ext cx="3301901" cy="38278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2330351" y="3495526"/>
            <a:ext cx="0" cy="382786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463701" y="3558927"/>
            <a:ext cx="3095905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“시스템은 준비됐습니다. 실행만 남았습니다. 오늘 금요일, 이번 주 마지막 기회입니다.” </a:t>
            </a:r>
            <a:pPr algn="l" indent="0" marL="0">
              <a:lnSpc>
                <a:spcPts val="1007"/>
              </a:lnSpc>
              <a:buNone/>
            </a:pPr>
            <a:r>
              <a:rPr lang="en-US" sz="650" b="1" i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5740152" y="564952"/>
            <a:ext cx="31869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달성 하이라이트 (12개)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740152" y="761702"/>
            <a:ext cx="3124498" cy="398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740152" y="799654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30503" y="799654"/>
            <a:ext cx="209611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048923" y="818704"/>
            <a:ext cx="411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8515499" y="787003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575774" y="809179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5740152" y="1034207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30503" y="1034207"/>
            <a:ext cx="21119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8064401" y="1053257"/>
            <a:ext cx="3954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 0.9987</a:t>
            </a:r>
            <a:endParaRPr lang="en-US" sz="600" dirty="0"/>
          </a:p>
        </p:txBody>
      </p:sp>
      <p:sp>
        <p:nvSpPr>
          <p:cNvPr id="69" name="Text 67"/>
          <p:cNvSpPr/>
          <p:nvPr/>
        </p:nvSpPr>
        <p:spPr>
          <a:xfrm>
            <a:off x="8515499" y="1021556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8575774" y="1043732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5740152" y="1268760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930503" y="1268760"/>
            <a:ext cx="21254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077646" y="1287810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8515499" y="1256109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575774" y="1278285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5740152" y="1503313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930503" y="1503313"/>
            <a:ext cx="2203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시즌 득점 예측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8153846" y="1522363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8591699" y="1490663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8651974" y="1512838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5740152" y="1737866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930503" y="1737866"/>
            <a:ext cx="2203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153846" y="1756916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8591699" y="1725216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8651974" y="1747391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5740152" y="197241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930503" y="1972419"/>
            <a:ext cx="22031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8153846" y="1991469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8591699" y="1959769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8651974" y="1981944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5740152" y="220697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930503" y="2206972"/>
            <a:ext cx="21240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8076307" y="2226022"/>
            <a:ext cx="4610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0.6612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8591699" y="2194322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8651974" y="2216497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5740152" y="2441525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930503" y="2441525"/>
            <a:ext cx="217718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S3 유사선수 탐색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8128397" y="2460575"/>
            <a:ext cx="4078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GK 0.4873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8591699" y="2428875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Text 98"/>
          <p:cNvSpPr/>
          <p:nvPr/>
        </p:nvSpPr>
        <p:spPr>
          <a:xfrm>
            <a:off x="8651974" y="2451050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5740152" y="267607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930503" y="2676079"/>
            <a:ext cx="212405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 하락세 감지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8076307" y="2695129"/>
            <a:ext cx="4610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0.8324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8591699" y="2663428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8651974" y="2685604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양호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5740152" y="291063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5930503" y="2910632"/>
            <a:ext cx="20974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16페이지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8050262" y="2920157"/>
            <a:ext cx="4875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8591699" y="2897981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02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Text 108"/>
          <p:cNvSpPr/>
          <p:nvPr/>
        </p:nvSpPr>
        <p:spPr>
          <a:xfrm>
            <a:off x="8651974" y="2920157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00" dirty="0"/>
          </a:p>
        </p:txBody>
      </p:sp>
      <p:sp>
        <p:nvSpPr>
          <p:cNvPr id="111" name="Text 109"/>
          <p:cNvSpPr/>
          <p:nvPr/>
        </p:nvSpPr>
        <p:spPr>
          <a:xfrm>
            <a:off x="5740152" y="3145185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5930503" y="3145185"/>
            <a:ext cx="2061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경로 수정 (어제)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8014990" y="3164235"/>
            <a:ext cx="5235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8591699" y="3132534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02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8651974" y="3154710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5740152" y="3379738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930503" y="3379738"/>
            <a:ext cx="21337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피처 추가 (어제)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085832" y="3398788"/>
            <a:ext cx="4513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elo_trend_3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8591699" y="3367088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02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Text 118"/>
          <p:cNvSpPr/>
          <p:nvPr/>
        </p:nvSpPr>
        <p:spPr>
          <a:xfrm>
            <a:off x="8651974" y="3389263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00" dirty="0"/>
          </a:p>
        </p:txBody>
      </p:sp>
      <p:sp>
        <p:nvSpPr>
          <p:cNvPr id="121" name="Text 119"/>
          <p:cNvSpPr/>
          <p:nvPr/>
        </p:nvSpPr>
        <p:spPr>
          <a:xfrm>
            <a:off x="279350" y="4832449"/>
            <a:ext cx="8585299" cy="23485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2" name="Shape 120"/>
          <p:cNvSpPr/>
          <p:nvPr/>
        </p:nvSpPr>
        <p:spPr>
          <a:xfrm>
            <a:off x="279350" y="4837212"/>
            <a:ext cx="8585299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06301" y="4892725"/>
            <a:ext cx="27428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수동 학습 실행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결과 확인 → 포트폴리오 시연 스크립트 완성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6563469" y="4892725"/>
            <a:ext cx="22177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노팅엄·브렌트포드 · 30~50M £ · </a:t>
            </a:r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초안 오늘 저녁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28451"/>
            <a:ext cx="46226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</a:t>
            </a:r>
            <a:pPr algn="l"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· 즉시 활용 9개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36866" y="323701"/>
            <a:ext cx="206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시연 루트 · 한 후보당 약 5분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9350" y="564952"/>
            <a:ext cx="2794099" cy="774650"/>
          </a:xfrm>
          <a:prstGeom prst="roundRect">
            <a:avLst>
              <a:gd name="adj" fmla="val 983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9350" y="584002"/>
            <a:ext cx="2794099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940" y="679252"/>
            <a:ext cx="264292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4940" y="1022152"/>
            <a:ext cx="26429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4940" y="1158627"/>
            <a:ext cx="26429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배포 완료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174950" y="564952"/>
            <a:ext cx="2794099" cy="774650"/>
          </a:xfrm>
          <a:prstGeom prst="roundRect">
            <a:avLst>
              <a:gd name="adj" fmla="val 983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4950" y="584002"/>
            <a:ext cx="2794099" cy="0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0540" y="679252"/>
            <a:ext cx="264292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50540" y="1022152"/>
            <a:ext cx="26429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50540" y="1158627"/>
            <a:ext cx="264292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S1, P4, P6, S2, P8, P3, P2, S3, S6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70550" y="564952"/>
            <a:ext cx="2794099" cy="774650"/>
          </a:xfrm>
          <a:prstGeom prst="roundRect">
            <a:avLst>
              <a:gd name="adj" fmla="val 983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0550" y="584002"/>
            <a:ext cx="2794099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6140" y="679252"/>
            <a:ext cx="2642920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46140" y="1022152"/>
            <a:ext cx="26429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결과 대기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46140" y="1158627"/>
            <a:ext cx="264292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— 오늘 수동 학습 후 결정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79350" y="1428452"/>
            <a:ext cx="2396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메뉴 16개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9350" y="1637854"/>
            <a:ext cx="1136600" cy="275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61801" y="1663154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61801" y="1853357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즉시 분석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61801" y="2043559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쇼트리스트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61801" y="2233761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인텔리전스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61801" y="2423964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개요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61801" y="2614166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분석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61801" y="2804368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인텔리전스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61801" y="2994571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탐색기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492151" y="1637854"/>
            <a:ext cx="1136600" cy="2756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574602" y="1663154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탐색기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574602" y="1853357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프로파일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574602" y="2043559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통계 순위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574602" y="2233761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개요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574602" y="2423964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비교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574602" y="2614166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역대 기록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574602" y="2804368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설명 (SHAP)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574602" y="2994571"/>
            <a:ext cx="10105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유형 탐색기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730252" y="1428452"/>
            <a:ext cx="62570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시연 루트 — 한 후보당 약 5분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30252" y="1637854"/>
            <a:ext cx="1084659" cy="2449116"/>
          </a:xfrm>
          <a:prstGeom prst="roundRect">
            <a:avLst>
              <a:gd name="adj" fmla="val 7025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16560" y="1745754"/>
            <a:ext cx="912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816560" y="1917204"/>
            <a:ext cx="912043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16560" y="2229445"/>
            <a:ext cx="912043" cy="1501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선수가 EPL 수준에서 얼마나 뛰어난가?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816560" y="3769519"/>
            <a:ext cx="9120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R²=0.9093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MAE=4.66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29199" y="276239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992612" y="1637854"/>
            <a:ext cx="1084808" cy="2449116"/>
          </a:xfrm>
          <a:prstGeom prst="roundRect">
            <a:avLst>
              <a:gd name="adj" fmla="val 7024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078919" y="1745754"/>
            <a:ext cx="912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78919" y="1917204"/>
            <a:ext cx="912194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저평가 탐색기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078919" y="2229445"/>
            <a:ext cx="912194" cy="1501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시장에서 저평가된 타깃이 있는가?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078919" y="3769519"/>
            <a:ext cx="9121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MAE=£3.23M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91708" y="276239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55121" y="1637854"/>
            <a:ext cx="1084659" cy="2449116"/>
          </a:xfrm>
          <a:prstGeom prst="roundRect">
            <a:avLst>
              <a:gd name="adj" fmla="val 7025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341430" y="1745754"/>
            <a:ext cx="912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41430" y="1917204"/>
            <a:ext cx="912043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41430" y="2229445"/>
            <a:ext cx="912043" cy="1501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구단에서 바로 적응할 수 있는가?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341430" y="3769519"/>
            <a:ext cx="9120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AUC=0.6612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F1=88.23%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54068" y="276239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17481" y="1637854"/>
            <a:ext cx="1084808" cy="2449116"/>
          </a:xfrm>
          <a:prstGeom prst="roundRect">
            <a:avLst>
              <a:gd name="adj" fmla="val 7024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603788" y="1745754"/>
            <a:ext cx="9121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603788" y="1917204"/>
            <a:ext cx="912194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확인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03788" y="2229445"/>
            <a:ext cx="912194" cy="1501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이적료는 얼마인가?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603788" y="3769519"/>
            <a:ext cx="9121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R²=0.8734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MAE=£3.28M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616577" y="276239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779990" y="1637854"/>
            <a:ext cx="1084659" cy="2449116"/>
          </a:xfrm>
          <a:prstGeom prst="roundRect">
            <a:avLst>
              <a:gd name="adj" fmla="val 7025"/>
            </a:avLst>
          </a:prstGeom>
          <a:solidFill>
            <a:srgbClr val="1A14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866299" y="1745754"/>
            <a:ext cx="9120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866299" y="1917204"/>
            <a:ext cx="912043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하락세 리스크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866299" y="2229445"/>
            <a:ext cx="912043" cy="1501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부상·하락 리스크는?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866299" y="3769519"/>
            <a:ext cx="9120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AUC=0.8324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F1=61.74%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730252" y="4150370"/>
            <a:ext cx="2833390" cy="244376"/>
          </a:xfrm>
          <a:prstGeom prst="roundRect">
            <a:avLst>
              <a:gd name="adj" fmla="val 20788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2866727" y="4210645"/>
            <a:ext cx="261164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클럽 | </a:t>
            </a:r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 포레스트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브렌트포드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| 예산 </a:t>
            </a:r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30~50M £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39842" y="4150370"/>
            <a:ext cx="1655118" cy="244376"/>
          </a:xfrm>
          <a:prstGeom prst="roundRect">
            <a:avLst>
              <a:gd name="adj" fmla="val 20788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776317" y="4210645"/>
            <a:ext cx="14098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달성 시 즉시 활용 → 11개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79350" y="4483596"/>
            <a:ext cx="8585299" cy="583704"/>
          </a:xfrm>
          <a:prstGeom prst="roundRect">
            <a:avLst>
              <a:gd name="adj" fmla="val 10879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41275" y="4634210"/>
            <a:ext cx="53734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— 즉시 접속 가능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41275" y="4783336"/>
            <a:ext cx="5373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571333" y="4569321"/>
            <a:ext cx="1131391" cy="412254"/>
          </a:xfrm>
          <a:prstGeom prst="roundRect">
            <a:avLst>
              <a:gd name="adj" fmla="val 15403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725183" y="4642247"/>
            <a:ext cx="82369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배포 완료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시연 준비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2026-05-15T00:38:24Z</dcterms:created>
  <dcterms:modified xsi:type="dcterms:W3CDTF">2026-05-15T00:38:24Z</dcterms:modified>
</cp:coreProperties>
</file>