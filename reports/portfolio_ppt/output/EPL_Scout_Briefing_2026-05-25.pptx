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01" y="0"/>
            <a:ext cx="9080599" cy="339626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08188" y="88850"/>
            <a:ext cx="4191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경고 집행  |  P7·P1 14일 연속 미달  |  오늘 22시 절대 마감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375916"/>
            <a:ext cx="7176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  ·  DAILY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61666"/>
            <a:ext cx="7176567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30"/>
              </a:lnSpc>
              <a:spcAft>
                <a:spcPts val="1200"/>
              </a:spcAft>
              <a:buNone/>
            </a:pPr>
            <a:r>
              <a:rPr lang="en-US" sz="4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</a:t>
            </a:r>
            <a:endParaRPr lang="en-US" sz="4600" dirty="0"/>
          </a:p>
          <a:p>
            <a:pPr algn="l" indent="0" marL="0">
              <a:lnSpc>
                <a:spcPts val="4830"/>
              </a:lnSpc>
              <a:spcAft>
                <a:spcPts val="1200"/>
              </a:spcAft>
              <a:buNone/>
            </a:pPr>
            <a:r>
              <a:rPr lang="en-US" sz="4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인텔리전스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040707"/>
            <a:ext cx="71765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  |  2026-05-25 (월)  |  34번째 정기 미팅  |  09:00 KST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418433"/>
            <a:ext cx="7176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 ·  Marcus Webb (Analytics Agent)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43800" y="177165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F6B6B">
              <a:alpha val="12000"/>
            </a:srgbClr>
          </a:solidFill>
          <a:ln w="3810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0614" y="1957536"/>
            <a:ext cx="70315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86861" y="2262188"/>
            <a:ext cx="261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76580" y="2446288"/>
            <a:ext cx="4868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13340" y="2604939"/>
            <a:ext cx="4119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전일 4.25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3401" y="4718745"/>
            <a:ext cx="9080599" cy="424755"/>
          </a:xfrm>
          <a:prstGeom prst="rect">
            <a:avLst/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401" y="4728270"/>
            <a:ext cx="9080599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751" y="4852095"/>
            <a:ext cx="6296099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22시 이전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P7+P1 push가 없으면 내일 아침 </a:t>
            </a:r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4.10 이하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적용합니다. 로컬 PC를 지금 켜십시오. — 김태현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41127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36364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0101" y="101501"/>
            <a:ext cx="29152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이그제큐티브 서머리 — 핵심 KPI 4개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4523" y="134838"/>
            <a:ext cx="1712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2026-05-25 | 34번째 정기 미팅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4800" y="593527"/>
            <a:ext cx="4203650" cy="1735634"/>
          </a:xfrm>
          <a:prstGeom prst="roundRect">
            <a:avLst>
              <a:gd name="adj" fmla="val 439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1551" y="739527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 미달 모델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1551" y="1032570"/>
            <a:ext cx="3886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1551" y="1738313"/>
            <a:ext cx="388635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(Acc 54.79%) · P7 (R² 0.586)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1551" y="2040285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14일 연속 — 변화 없음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35401" y="593527"/>
            <a:ext cx="4203799" cy="1735634"/>
          </a:xfrm>
          <a:prstGeom prst="roundRect">
            <a:avLst>
              <a:gd name="adj" fmla="val 439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2152" y="739527"/>
            <a:ext cx="3886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최장 연속 미달일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32152" y="1032570"/>
            <a:ext cx="38865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32152" y="1738313"/>
            <a:ext cx="388650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동시 연속 미달 최장 기록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32152" y="2040285"/>
            <a:ext cx="38865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+1일 (전일 13일)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4800" y="2456111"/>
            <a:ext cx="4203650" cy="1735634"/>
          </a:xfrm>
          <a:prstGeom prst="roundRect">
            <a:avLst>
              <a:gd name="adj" fmla="val 4390"/>
            </a:avLst>
          </a:prstGeom>
          <a:solidFill>
            <a:srgbClr val="16213E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1551" y="2602111"/>
            <a:ext cx="3886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연속 미달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1551" y="2895154"/>
            <a:ext cx="38863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01551" y="3600896"/>
            <a:ext cx="388635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계획 · demo_script v2.0 미완성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1551" y="3902869"/>
            <a:ext cx="3886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+1일 (전일 5일)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35401" y="2456111"/>
            <a:ext cx="4203799" cy="1735634"/>
          </a:xfrm>
          <a:prstGeom prst="roundRect">
            <a:avLst>
              <a:gd name="adj" fmla="val 439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32152" y="2602111"/>
            <a:ext cx="3886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점수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32152" y="2895154"/>
            <a:ext cx="38865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4.15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4832152" y="3600896"/>
            <a:ext cx="388650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경고 집행: P7/P1 −0.05, S3 −0.03, demo_script −0.02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32152" y="3902869"/>
            <a:ext cx="38865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−0.10 (전일 4.25)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4800" y="4293245"/>
            <a:ext cx="8534400" cy="387102"/>
          </a:xfrm>
          <a:prstGeom prst="roundRect">
            <a:avLst>
              <a:gd name="adj" fmla="val 16404"/>
            </a:avLst>
          </a:prstGeom>
          <a:solidFill>
            <a:srgbClr val="38D9A9">
              <a:alpha val="8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36385" y="4391620"/>
            <a:ext cx="8271230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파일 2개 </a:t>
            </a:r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(+0.05)</a:t>
            </a:r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오후 P7 </a:t>
            </a:r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(+0.10)</a:t>
            </a:r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저녁 P1 </a:t>
            </a:r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(+0.08)</a:t>
            </a:r>
            <a:pPr algn="ct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 복원 가능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4800" y="4781848"/>
            <a:ext cx="8534400" cy="260152"/>
          </a:xfrm>
          <a:prstGeom prst="roundRect">
            <a:avLst>
              <a:gd name="adj" fmla="val 2440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45035" y="485477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22736" y="4845248"/>
            <a:ext cx="1080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 3개 (P3·P4·S1)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85393" y="485477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63094" y="4845248"/>
            <a:ext cx="11383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 4개 (P2·P6·P8·S2)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82307" y="485477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60007" y="4845248"/>
            <a:ext cx="980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3개 (P5·S3·S6)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4439" y="4854773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402139" y="4845248"/>
            <a:ext cx="8126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2개 (P1·P7)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19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5718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901" y="76200"/>
            <a:ext cx="3025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모델 성능 현황 — 12개 신호등 테이블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26448" y="104775"/>
            <a:ext cx="21049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2026-05-25 | P1·P7 14일 연속 미달 강조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3901" y="463451"/>
            <a:ext cx="2082850" cy="669578"/>
          </a:xfrm>
          <a:prstGeom prst="roundRect">
            <a:avLst>
              <a:gd name="adj" fmla="val 9484"/>
            </a:avLst>
          </a:prstGeom>
          <a:solidFill>
            <a:srgbClr val="38D9A9">
              <a:alpha val="12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6319" y="536377"/>
            <a:ext cx="1898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6319" y="790277"/>
            <a:ext cx="18980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319" y="936278"/>
            <a:ext cx="18980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P3, P4, S1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438251" y="463451"/>
            <a:ext cx="2082998" cy="669578"/>
          </a:xfrm>
          <a:prstGeom prst="roundRect">
            <a:avLst>
              <a:gd name="adj" fmla="val 9484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30667" y="536377"/>
            <a:ext cx="1898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FB9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30667" y="790277"/>
            <a:ext cx="1898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30667" y="936278"/>
            <a:ext cx="18981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P2, P6, P8, S2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22750" y="463451"/>
            <a:ext cx="2082850" cy="669578"/>
          </a:xfrm>
          <a:prstGeom prst="roundRect">
            <a:avLst>
              <a:gd name="adj" fmla="val 9484"/>
            </a:avLst>
          </a:prstGeom>
          <a:solidFill>
            <a:srgbClr val="FFD43B">
              <a:alpha val="10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5168" y="536377"/>
            <a:ext cx="1898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15168" y="790277"/>
            <a:ext cx="18980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15168" y="936278"/>
            <a:ext cx="18980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P5, S3, S6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07101" y="463451"/>
            <a:ext cx="2082998" cy="669578"/>
          </a:xfrm>
          <a:prstGeom prst="roundRect">
            <a:avLst>
              <a:gd name="adj" fmla="val 9484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99517" y="536377"/>
            <a:ext cx="1898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99517" y="790277"/>
            <a:ext cx="1898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899517" y="936278"/>
            <a:ext cx="18981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P1, P7 — 오늘 저녁 필수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0101" y="152176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85813" y="150748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경기 결과 예측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247567" y="152176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Acc / F1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88105" y="152176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54.79% / 40.65%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28309" y="152176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049095" y="1509117"/>
            <a:ext cx="1800100" cy="13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Acc 57% </a:t>
            </a:r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연속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30101" y="174084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85813" y="172655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득점 예측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247567" y="174084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88105" y="1726555"/>
            <a:ext cx="2392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0.8877 / 0.96골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28309" y="174084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049095" y="173608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0.80 대폭 초과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0101" y="195991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5813" y="194563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예측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247567" y="195991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AUC / F1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88105" y="195991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/ 92.31%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28309" y="195991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049095" y="1955155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완벽한 분류 성능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30101" y="217899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85813" y="216470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스코어링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247567" y="217899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Spearman / NDCG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88105" y="2178993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0.9987 / 0.9993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428309" y="217899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49095" y="217423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임팩트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0101" y="239806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5813" y="238378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클러스터링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47567" y="239806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Silhouette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88105" y="239806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0.2851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28309" y="239806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049095" y="2393305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0.25 초과 유지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30101" y="261714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85813" y="260285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예측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247567" y="261714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888105" y="2617143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0.8734 / £3.28M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428309" y="261714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049095" y="261238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 타이밍 조합 활용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30101" y="283621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85813" y="282193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곡선 예측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247567" y="283621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888105" y="283621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0.586 / 1.16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428309" y="283621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049095" y="2823567"/>
            <a:ext cx="1800100" cy="13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R² 0.62 </a:t>
            </a:r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연속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30101" y="305529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85813" y="304100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247567" y="305529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888105" y="3055293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0.6612 / 88.23% / 80.65%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428309" y="305529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049095" y="305053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플래그 도구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30101" y="327436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85813" y="326008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247567" y="327436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R² / MAE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3888105" y="327436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0.9093 / 4.66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428309" y="327436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🟢🟢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049095" y="3269605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리허설 1단계 핵심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330101" y="349344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85813" y="347915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포지션별 시장가치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2247567" y="349344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Overall R² / MAE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888105" y="3493443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0.8812 / £3.23M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428309" y="349344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049095" y="348868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스캐닝 조합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330101" y="3712518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85813" y="369823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유사선수 탐색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2247567" y="3712518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FW/MID/DEF/GK Sil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888105" y="3712518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0.2085/0.2299/0.3637/0.4873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6428309" y="3712518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049095" y="3699867"/>
            <a:ext cx="1800100" cy="130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FW </a:t>
            </a:r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30101" y="3931593"/>
            <a:ext cx="3093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85813" y="3917305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하락세 감지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2247567" y="3931593"/>
            <a:ext cx="15350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/ F1 / Acc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3888105" y="3931593"/>
            <a:ext cx="2392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0.8324 / 61.74% / 75%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428309" y="3931593"/>
            <a:ext cx="4730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049095" y="3926830"/>
            <a:ext cx="1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 타이밍 조합 활용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0" y="4899124"/>
            <a:ext cx="9144000" cy="244376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Shape 93"/>
          <p:cNvSpPr/>
          <p:nvPr/>
        </p:nvSpPr>
        <p:spPr>
          <a:xfrm>
            <a:off x="0" y="4903887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67539" y="495940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 9개: S1, P4, P6, S2, P8, P3, P2, S3, S6</a:t>
            </a:r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</a:t>
            </a:r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오늘 저녁 22시 해소 목표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19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5718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901" y="76200"/>
            <a:ext cx="23892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14일 연속 미달 원인 진단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065764" y="104775"/>
            <a:ext cx="18608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준비 완료 — 로컬 실행만 남았다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53901" y="488900"/>
            <a:ext cx="4241899" cy="3766691"/>
          </a:xfrm>
          <a:prstGeom prst="roundRect">
            <a:avLst>
              <a:gd name="adj" fmla="val 236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2951" y="507950"/>
            <a:ext cx="4203799" cy="333375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2951" y="836563"/>
            <a:ext cx="4203799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351" y="584150"/>
            <a:ext cx="39769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성장 곡선 예측 — v5 → v5.1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3031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3031" y="1066651"/>
            <a:ext cx="12566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0.586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46531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46531" y="1066651"/>
            <a:ext cx="12566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0.62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80031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080031" y="1066651"/>
            <a:ext cx="125663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−0.034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351" y="1363712"/>
            <a:ext cx="3898999" cy="377726"/>
          </a:xfrm>
          <a:prstGeom prst="roundRect">
            <a:avLst>
              <a:gd name="adj" fmla="val 13449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201" y="1414463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lag 피처 부재 → 최근 성장 추세 포착 실패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4201" y="1552575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R² 이미 0.6302 달성 (목표 초과) → test 갭 0.055만 해결하면 달성 현실적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5351" y="1804839"/>
            <a:ext cx="3898999" cy="239613"/>
          </a:xfrm>
          <a:prstGeom prst="roundRect">
            <a:avLst>
              <a:gd name="adj" fmla="val 21201"/>
            </a:avLst>
          </a:prstGeom>
          <a:solidFill>
            <a:srgbClr val="38D9A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4201" y="1855589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lag3_rating, delta_lag1_2, delta_lag2_3 피처 추가 + Optuna 35trials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25351" y="2107853"/>
            <a:ext cx="3976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스크립트: </a:t>
            </a:r>
            <a:pPr algn="l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models/p7_growth_curve/train_v5_1.py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(준비 완료)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5351" y="2295079"/>
            <a:ext cx="3976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+0.10 → 4.35 | P6+P7+P8 풀 체인 완성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488900"/>
            <a:ext cx="4241899" cy="3766691"/>
          </a:xfrm>
          <a:prstGeom prst="roundRect">
            <a:avLst>
              <a:gd name="adj" fmla="val 236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7250" y="507950"/>
            <a:ext cx="4203799" cy="333375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836563"/>
            <a:ext cx="4203799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9650" y="584150"/>
            <a:ext cx="39769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경기 결과 예측 — v2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7330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7330" y="1066651"/>
            <a:ext cx="12566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 54.79%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40830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40830" y="1066651"/>
            <a:ext cx="125663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74330" y="942826"/>
            <a:ext cx="12566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갭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74330" y="1066651"/>
            <a:ext cx="1256639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−2.21%p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9650" y="1363712"/>
            <a:ext cx="3898999" cy="377726"/>
          </a:xfrm>
          <a:prstGeom prst="roundRect">
            <a:avLst>
              <a:gd name="adj" fmla="val 13449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08500" y="1414463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원인: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D(무승부) 클래스 precision/recall ~5% — 사실상 분류 포기 상태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08500" y="1552575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 Acc 53.68% (val도 미달) → class_weight 미적용이 근본 원인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19650" y="1804839"/>
            <a:ext cx="3898999" cy="239613"/>
          </a:xfrm>
          <a:prstGeom prst="roundRect">
            <a:avLst>
              <a:gd name="adj" fmla="val 21201"/>
            </a:avLst>
          </a:prstGeom>
          <a:solidFill>
            <a:srgbClr val="38D9A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08500" y="1855589"/>
            <a:ext cx="3795724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</a:t>
            </a:r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class_weight={0:1, 1:2.5, 2:1} + H2H 무승부 비율 피처 추가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19650" y="2107853"/>
            <a:ext cx="39769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스크립트: </a:t>
            </a:r>
            <a:pPr algn="l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models/p1_match_result/train_pipeline.py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(준비 완료)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819650" y="2295079"/>
            <a:ext cx="3976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시 +0.08 → 4.43 복원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85552" y="4433292"/>
            <a:ext cx="5055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~11시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44501" y="460786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95251" y="4658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90233" y="4836319"/>
            <a:ext cx="88623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pPr algn="ctr" indent="0" marL="0">
              <a:lnSpc>
                <a:spcPts val="910"/>
              </a:lnSpc>
              <a:buNone/>
            </a:pP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demo_script v2.0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82838" y="4433292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03550" y="460786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454301" y="4658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22605" y="4836319"/>
            <a:ext cx="73959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pPr algn="ctr" indent="0" marL="0">
              <a:lnSpc>
                <a:spcPts val="910"/>
              </a:lnSpc>
              <a:buNone/>
            </a:pP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실행 (2~3h)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41888" y="4433292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62600" y="460786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13350" y="4658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55774" y="4836319"/>
            <a:ext cx="39135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</a:t>
            </a:r>
            <a:pPr algn="ctr" indent="0" marL="0">
              <a:lnSpc>
                <a:spcPts val="910"/>
              </a:lnSpc>
              <a:buNone/>
            </a:pP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실행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599908" y="4433292"/>
            <a:ext cx="4296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22시 이전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721650" y="460786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772400" y="4658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71784" y="4836319"/>
            <a:ext cx="87743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results_summary</a:t>
            </a:r>
            <a:pPr algn="ctr" indent="0" marL="0">
              <a:lnSpc>
                <a:spcPts val="910"/>
              </a:lnSpc>
              <a:buNone/>
            </a:pPr>
            <a:endParaRPr lang="en-US" sz="70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업데이트 후 git push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9651"/>
          </a:xfrm>
          <a:prstGeom prst="rect">
            <a:avLst/>
          </a:prstGeom>
          <a:solidFill>
            <a:srgbClr val="FF6B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0126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50" y="122188"/>
            <a:ext cx="27387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0건 / 미달 4건 </a:t>
            </a:r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0%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6723" y="88850"/>
            <a:ext cx="2487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(05-24 일요일) 결과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76723" y="260300"/>
            <a:ext cx="2487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4.25 → 4.15 (−0.10)</a:t>
            </a:r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월요일 경고 집행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3901" y="666601"/>
            <a:ext cx="6324898" cy="530126"/>
          </a:xfrm>
          <a:prstGeom prst="roundRect">
            <a:avLst>
              <a:gd name="adj" fmla="val 11978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3901" y="671364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4036" y="666601"/>
            <a:ext cx="0" cy="530126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901" y="1191964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951" y="666601"/>
            <a:ext cx="0" cy="5301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951" y="764977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2355" y="764977"/>
            <a:ext cx="5813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로컬 학습 (R² ≥ 0.62) </a:t>
            </a:r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연속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2355" y="965002"/>
            <a:ext cx="5813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 저녁 22시 데드라인 미실행 |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영향 −0.05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3901" y="1285577"/>
            <a:ext cx="6324898" cy="530126"/>
          </a:xfrm>
          <a:prstGeom prst="roundRect">
            <a:avLst>
              <a:gd name="adj" fmla="val 11978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3901" y="1290340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036" y="1285577"/>
            <a:ext cx="0" cy="530126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3901" y="1810941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951" y="1285577"/>
            <a:ext cx="0" cy="5301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951" y="1383953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2355" y="1383953"/>
            <a:ext cx="5813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 로컬 학습 (Acc ≥ 57%) </a:t>
            </a:r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연속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2355" y="1583978"/>
            <a:ext cx="5813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일요일 저녁 22시 데드라인 미실행 |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영향 −0.05 (P7과 합산)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3901" y="1904554"/>
            <a:ext cx="6324898" cy="530126"/>
          </a:xfrm>
          <a:prstGeom prst="roundRect">
            <a:avLst>
              <a:gd name="adj" fmla="val 11978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3901" y="1909316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036" y="1904554"/>
            <a:ext cx="0" cy="530126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3901" y="2429917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951" y="1904554"/>
            <a:ext cx="0" cy="5301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951" y="2002929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2355" y="2002929"/>
            <a:ext cx="5813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개선 방향 파일 생성 </a:t>
            </a:r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2355" y="2202954"/>
            <a:ext cx="5813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reports/s3_fw_improvement_plan.md 없음 |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영향 −0.03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3901" y="2523530"/>
            <a:ext cx="6324898" cy="530126"/>
          </a:xfrm>
          <a:prstGeom prst="roundRect">
            <a:avLst>
              <a:gd name="adj" fmla="val 11978"/>
            </a:avLst>
          </a:prstGeom>
          <a:solidFill>
            <a:srgbClr val="FF6B6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53901" y="2528292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4036" y="2523530"/>
            <a:ext cx="0" cy="530126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901" y="3048893"/>
            <a:ext cx="632489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2951" y="2523530"/>
            <a:ext cx="0" cy="530126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951" y="2621905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2355" y="2621905"/>
            <a:ext cx="58139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demo_script v2.0 </a:t>
            </a:r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2355" y="2821930"/>
            <a:ext cx="5813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상태 그대로 |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영향 −0.02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31198" y="666601"/>
            <a:ext cx="2158901" cy="4000946"/>
          </a:xfrm>
          <a:prstGeom prst="roundRect">
            <a:avLst>
              <a:gd name="adj" fmla="val 4118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902648" y="1068139"/>
            <a:ext cx="1816001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2648" y="838051"/>
            <a:ext cx="1852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요약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2648" y="1174403"/>
            <a:ext cx="1852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902648" y="1323529"/>
            <a:ext cx="1852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/ 4 (0%)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2648" y="1586954"/>
            <a:ext cx="1852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변화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02648" y="1736080"/>
            <a:ext cx="18523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 → 4.15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02648" y="1999506"/>
            <a:ext cx="1852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 내역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02648" y="2148632"/>
            <a:ext cx="185232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14일 연속 −0.05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파일 6일 연속 −0.03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6일 연속 −0.02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902648" y="2622947"/>
            <a:ext cx="1816001" cy="394395"/>
          </a:xfrm>
          <a:prstGeom prst="roundRect">
            <a:avLst>
              <a:gd name="adj" fmla="val 12880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001024" y="2695873"/>
            <a:ext cx="165163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P7+P1 push 없으면 내일 4.10 이하 경고 발동 중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0" y="4794498"/>
            <a:ext cx="9144000" cy="349002"/>
          </a:xfrm>
          <a:prstGeom prst="rect">
            <a:avLst/>
          </a:prstGeom>
          <a:solidFill>
            <a:srgbClr val="FF6B6B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0" y="4799261"/>
            <a:ext cx="914400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497" y="4892873"/>
            <a:ext cx="875700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"4개 중 0개. 일요일도 3개 모두 미달, 어제도 4개 모두 미달. </a:t>
            </a:r>
            <a:pPr algn="ctr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저는 4.20 이하를 예고했습니다. 오늘 4.15를 적용합니다.</a:t>
            </a:r>
            <a:pPr algn="ctr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김태현"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2425"/>
          </a:xfrm>
          <a:prstGeom prst="rect">
            <a:avLst/>
          </a:prstGeom>
          <a:solidFill>
            <a:srgbClr val="FF6B6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42900"/>
            <a:ext cx="9144000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50" y="76200"/>
            <a:ext cx="26532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SMART 형식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95961" y="85725"/>
            <a:ext cx="43540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4개 완결 시 4.15 → 4.38 예상  |  저녁 22시 push 없으면 내일 4.10 이하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453926"/>
            <a:ext cx="2810917" cy="3736925"/>
          </a:xfrm>
          <a:prstGeom prst="roundRect">
            <a:avLst>
              <a:gd name="adj" fmla="val 316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28600" y="477738"/>
            <a:ext cx="2810917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29992" y="453926"/>
            <a:ext cx="0" cy="3736925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4181326"/>
            <a:ext cx="2810917" cy="0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125" y="453926"/>
            <a:ext cx="0" cy="3736925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251" y="878979"/>
            <a:ext cx="2543488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+ P1 v2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7251" y="1256109"/>
            <a:ext cx="2543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 연속 미달 — 오늘 저녁 22시 절대 마감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 (오후) → train_pipeline.py (저녁)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7251" y="1586210"/>
            <a:ext cx="2493615" cy="368201"/>
          </a:xfrm>
          <a:prstGeom prst="roundRect">
            <a:avLst>
              <a:gd name="adj" fmla="val 10348"/>
            </a:avLst>
          </a:prstGeom>
          <a:solidFill>
            <a:srgbClr val="38D9A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3451" y="1636961"/>
            <a:ext cx="2388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R² ≥ 0.62 (현재 0.586)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3451" y="1770311"/>
            <a:ext cx="2388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Acc ≥ 57% (현재 54.79%)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166467" y="453926"/>
            <a:ext cx="2811066" cy="3736925"/>
          </a:xfrm>
          <a:prstGeom prst="roundRect">
            <a:avLst>
              <a:gd name="adj" fmla="val 316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166467" y="477738"/>
            <a:ext cx="2811066" cy="0"/>
          </a:xfrm>
          <a:prstGeom prst="line">
            <a:avLst/>
          </a:prstGeom>
          <a:noFill/>
          <a:ln w="47625">
            <a:solidFill>
              <a:srgbClr val="FFD4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8008" y="453926"/>
            <a:ext cx="0" cy="3736925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6467" y="4181326"/>
            <a:ext cx="2811066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75992" y="453926"/>
            <a:ext cx="0" cy="3736925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5118" y="878979"/>
            <a:ext cx="2543639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클러스터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방향 파일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25118" y="1256109"/>
            <a:ext cx="2543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 미달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reports/s3_fw_improvement_plan.md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25118" y="1586210"/>
            <a:ext cx="2493764" cy="368201"/>
          </a:xfrm>
          <a:prstGeom prst="roundRect">
            <a:avLst>
              <a:gd name="adj" fmla="val 10348"/>
            </a:avLst>
          </a:prstGeom>
          <a:solidFill>
            <a:srgbClr val="38D9A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1318" y="1636961"/>
            <a:ext cx="2388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FW Silhouette 0.2085 → 0.25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01318" y="1770311"/>
            <a:ext cx="2388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K=7 유지 + K=5 대안 비교 포함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04483" y="453926"/>
            <a:ext cx="2810917" cy="3736925"/>
          </a:xfrm>
          <a:prstGeom prst="roundRect">
            <a:avLst>
              <a:gd name="adj" fmla="val 3163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104483" y="477738"/>
            <a:ext cx="2810917" cy="0"/>
          </a:xfrm>
          <a:prstGeom prst="line">
            <a:avLst/>
          </a:prstGeom>
          <a:noFill/>
          <a:ln w="47625">
            <a:solidFill>
              <a:srgbClr val="FFD4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5875" y="453926"/>
            <a:ext cx="0" cy="3736925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4483" y="4181326"/>
            <a:ext cx="2810917" cy="0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14008" y="453926"/>
            <a:ext cx="0" cy="3736925"/>
          </a:xfrm>
          <a:prstGeom prst="line">
            <a:avLst/>
          </a:prstGeom>
          <a:noFill/>
          <a:ln w="19050">
            <a:solidFill>
              <a:srgbClr val="FFD4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134" y="878979"/>
            <a:ext cx="2543488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</a:t>
            </a:r>
            <a:endParaRPr lang="en-US" sz="950" dirty="0"/>
          </a:p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v2.0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134" y="1256109"/>
            <a:ext cx="25434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 미달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 초안(05-19) → v2.0 최종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134" y="1586210"/>
            <a:ext cx="2493615" cy="368201"/>
          </a:xfrm>
          <a:prstGeom prst="roundRect">
            <a:avLst>
              <a:gd name="adj" fmla="val 10348"/>
            </a:avLst>
          </a:prstGeom>
          <a:solidFill>
            <a:srgbClr val="38D9A9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39334" y="1636961"/>
            <a:ext cx="2388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5분 발표 완결 / Q&amp;A 3개 대응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39334" y="1770311"/>
            <a:ext cx="2388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AUC 0.66 대응 논리 3문장 포함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61752" y="4343102"/>
            <a:ext cx="5055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~11시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333351" y="45176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77851" y="45621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37022" y="4720828"/>
            <a:ext cx="74505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
+ demo_script
</a:t>
            </a:r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+0.05 (4.20)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08139" y="4343102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13~18시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441650" y="45176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486150" y="45621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145322" y="4720828"/>
            <a:ext cx="74505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
로컬 실행
</a:t>
            </a:r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+0.10 (4.30)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16438" y="4343102"/>
            <a:ext cx="63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18~22시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549801" y="45176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594300" y="45621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53472" y="4720828"/>
            <a:ext cx="74505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v2
로컬 실행
</a:t>
            </a:r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+0.08 (4.38)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523708" y="4343102"/>
            <a:ext cx="4296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22시 이전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658100" y="45176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702600" y="456217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462267" y="4720828"/>
            <a:ext cx="54391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push
내일 아침
</a:t>
            </a:r>
            <a:pPr algn="ctr" indent="0" marL="0">
              <a:lnSpc>
                <a:spcPts val="910"/>
              </a:lnSpc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4.38 확인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19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5718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901" y="76200"/>
            <a:ext cx="18570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04906" y="104775"/>
            <a:ext cx="18208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당장 가능한 영입 회의 조합 3개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0" y="361950"/>
            <a:ext cx="9144000" cy="5649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922139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064" y="450800"/>
            <a:ext cx="391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0064" y="704701"/>
            <a:ext cx="3913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85584" y="450800"/>
            <a:ext cx="60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5584" y="704701"/>
            <a:ext cx="601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27277" y="450800"/>
            <a:ext cx="791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27277" y="704701"/>
            <a:ext cx="7916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대기 (풀 체인)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57334" y="522238"/>
            <a:ext cx="3832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URL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57334" y="652314"/>
            <a:ext cx="3832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epl-scouting-report-dashboard-project-ffyb8msh6uafxyyg8txsm8.streamlit.app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3901" y="1053852"/>
            <a:ext cx="2794099" cy="3303240"/>
          </a:xfrm>
          <a:prstGeom prst="roundRect">
            <a:avLst>
              <a:gd name="adj" fmla="val 3182"/>
            </a:avLst>
          </a:prstGeom>
          <a:solidFill>
            <a:srgbClr val="16213E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2552" y="1187202"/>
            <a:ext cx="2526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+ S2 저평가 스캐닝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2552" y="1447354"/>
            <a:ext cx="252633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 레이팅 (S1, R² 0.9093)</a:t>
            </a:r>
            <a:endParaRPr lang="en-US" sz="8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 시장가치 예측 (S2, R² 0.8812)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2552" y="3751511"/>
            <a:ext cx="252633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403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"지금 이 선수, 실력 대비 저평가됐습니까?" 30초 분석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2552" y="4030266"/>
            <a:ext cx="791766" cy="193477"/>
          </a:xfrm>
          <a:prstGeom prst="roundRect">
            <a:avLst>
              <a:gd name="adj" fmla="val 26256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0927" y="4065091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즉시 가능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74950" y="1053852"/>
            <a:ext cx="2794099" cy="3303240"/>
          </a:xfrm>
          <a:prstGeom prst="roundRect">
            <a:avLst>
              <a:gd name="adj" fmla="val 3182"/>
            </a:avLst>
          </a:prstGeom>
          <a:solidFill>
            <a:srgbClr val="16213E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33601" y="1187202"/>
            <a:ext cx="2526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+ S1 리스크 스크리닝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3601" y="1447354"/>
            <a:ext cx="252633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확률 (P8, AUC 0.6612)</a:t>
            </a:r>
            <a:endParaRPr lang="en-US" sz="8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종합 레이팅 (S1)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3601" y="3751511"/>
            <a:ext cx="252633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403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"데려왔을 때 성능 유지 확률이 몇 %입니까?"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33601" y="4030266"/>
            <a:ext cx="791766" cy="193477"/>
          </a:xfrm>
          <a:prstGeom prst="roundRect">
            <a:avLst>
              <a:gd name="adj" fmla="val 26256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31977" y="4065091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즉시 가능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096000" y="1053852"/>
            <a:ext cx="2794099" cy="3303240"/>
          </a:xfrm>
          <a:prstGeom prst="roundRect">
            <a:avLst>
              <a:gd name="adj" fmla="val 3182"/>
            </a:avLst>
          </a:prstGeom>
          <a:solidFill>
            <a:srgbClr val="16213E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54651" y="1187202"/>
            <a:ext cx="2526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+ P6 매도 타이밍 감지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651" y="1447354"/>
            <a:ext cx="252633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하락세 감지 (S6, AUC 0.8324)</a:t>
            </a:r>
            <a:endParaRPr lang="en-US" sz="800" dirty="0"/>
          </a:p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시장가치 (P6, R² 0.8734)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54651" y="3751511"/>
            <a:ext cx="252633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Bef>
                <a:spcPts val="15403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"지금 팔아야 할 선수가 누구입니까?"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54651" y="4030266"/>
            <a:ext cx="791766" cy="193477"/>
          </a:xfrm>
          <a:prstGeom prst="roundRect">
            <a:avLst>
              <a:gd name="adj" fmla="val 26256"/>
            </a:avLst>
          </a:prstGeom>
          <a:solidFill>
            <a:srgbClr val="38D9A9">
              <a:alpha val="15000"/>
            </a:srgbClr>
          </a:solidFill>
          <a:ln w="9525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3026" y="4065091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즉시 가능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53901" y="4458593"/>
            <a:ext cx="8636198" cy="583406"/>
          </a:xfrm>
          <a:prstGeom prst="roundRect">
            <a:avLst>
              <a:gd name="adj" fmla="val 15238"/>
            </a:avLst>
          </a:prstGeom>
          <a:solidFill>
            <a:srgbClr val="FFD43B">
              <a:alpha val="5000"/>
            </a:srgbClr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101" y="4579144"/>
            <a:ext cx="62308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+ P7 + P8 '가치→성장→적응' 풀 체인 (오늘 오후 활성화 대기)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6101" y="4779169"/>
            <a:ext cx="623082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30M 투자 → 2시즌 후 가치 X, 적응 확률 Y% 시뮬레이션 — P7 R² ≥ 0.62 달성 시 완성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2452" y="4623346"/>
            <a:ext cx="1905446" cy="253901"/>
          </a:xfrm>
          <a:prstGeom prst="roundRect">
            <a:avLst>
              <a:gd name="adj" fmla="val 25010"/>
            </a:avLst>
          </a:prstGeom>
          <a:solidFill>
            <a:srgbClr val="FFD43B">
              <a:alpha val="15000"/>
            </a:srgbClr>
          </a:solidFill>
          <a:ln w="9525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98928" y="4683621"/>
            <a:ext cx="1665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오늘 오후 13~18시 달성 대기 중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195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35718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901" y="76200"/>
            <a:ext cx="31088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종합 평가 4.15 / 5.0 + 5.0 로드맵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07188" y="104775"/>
            <a:ext cx="14105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달성 시 4.38 복원 가능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0151" y="539651"/>
            <a:ext cx="1396901" cy="1139726"/>
          </a:xfrm>
          <a:prstGeom prst="roundRect">
            <a:avLst>
              <a:gd name="adj" fmla="val 11143"/>
            </a:avLst>
          </a:prstGeom>
          <a:solidFill>
            <a:srgbClr val="FF6B6B">
              <a:alpha val="10000"/>
            </a:srgbClr>
          </a:solidFill>
          <a:ln w="3810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4543" y="704701"/>
            <a:ext cx="115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86024" y="1200001"/>
            <a:ext cx="2908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1679" y="1380976"/>
            <a:ext cx="279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0151" y="1755577"/>
            <a:ext cx="576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85665" y="1755577"/>
            <a:ext cx="1442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30151" y="1898452"/>
            <a:ext cx="1396901" cy="126950"/>
          </a:xfrm>
          <a:prstGeom prst="roundRect">
            <a:avLst>
              <a:gd name="adj" fmla="val 50020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151" y="1898452"/>
            <a:ext cx="1159371" cy="126950"/>
          </a:xfrm>
          <a:prstGeom prst="roundRect">
            <a:avLst>
              <a:gd name="adj" fmla="val 5002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9772" y="2101602"/>
            <a:ext cx="8376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4.25 → 4.15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9582" y="2320677"/>
            <a:ext cx="878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(−0.10 전일 대비)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3901" y="2530227"/>
            <a:ext cx="2349401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901" y="2568327"/>
            <a:ext cx="975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P7/P1 14일 연속 미달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8381" y="2582614"/>
            <a:ext cx="321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−0.05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3901" y="2787402"/>
            <a:ext cx="946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 6일 연속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8381" y="2801689"/>
            <a:ext cx="321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3901" y="3006477"/>
            <a:ext cx="10099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6일 연속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88381" y="3020764"/>
            <a:ext cx="321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−0.02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53901" y="3263652"/>
            <a:ext cx="2349401" cy="394395"/>
          </a:xfrm>
          <a:prstGeom prst="roundRect">
            <a:avLst>
              <a:gd name="adj" fmla="val 12880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3653" y="3336578"/>
            <a:ext cx="216989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22시 P7+P1 push 없으면</a:t>
            </a:r>
            <a:endParaRPr lang="en-US" sz="700" dirty="0"/>
          </a:p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4.10 이하 경고 발동 중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06452" y="539651"/>
            <a:ext cx="6205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복원 로드맵 (8단계)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0752" y="930027"/>
            <a:ext cx="5855047" cy="25301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72259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42059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04999" y="1120527"/>
            <a:ext cx="363269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04999" y="1260128"/>
            <a:ext cx="363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04999" y="1409254"/>
            <a:ext cx="36326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집행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3832771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02571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16936" y="1120527"/>
            <a:ext cx="460120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16936" y="1260128"/>
            <a:ext cx="4601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716936" y="1390204"/>
            <a:ext cx="460120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파일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(오전 11시)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593134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62934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49973" y="1120527"/>
            <a:ext cx="514922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49973" y="1260128"/>
            <a:ext cx="5149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449973" y="1390204"/>
            <a:ext cx="514922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v2.0 (오전)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353645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23446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53447" y="1120527"/>
            <a:ext cx="428848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3447" y="1260128"/>
            <a:ext cx="4288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+0.10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253447" y="1390204"/>
            <a:ext cx="428848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(오후 로컬)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6114008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FFD4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83809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D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59916" y="1120527"/>
            <a:ext cx="536933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D4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4.38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59916" y="1260128"/>
            <a:ext cx="5369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959916" y="1390204"/>
            <a:ext cx="53693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Acc≥57%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(저녁 로컬)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6874520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44320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29539" y="1120527"/>
            <a:ext cx="518413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4.44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29539" y="1260128"/>
            <a:ext cx="5184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+0.06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729539" y="1390204"/>
            <a:ext cx="51841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FW Sil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≥0.25 (내주)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7635032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704832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539082" y="1120527"/>
            <a:ext cx="420499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4.52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39082" y="1260128"/>
            <a:ext cx="4204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39082" y="1390204"/>
            <a:ext cx="42049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성공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395543" y="82852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D1117"/>
          </a:solidFill>
          <a:ln w="19050">
            <a:solidFill>
              <a:srgbClr val="38D9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465344" y="898327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8D9A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328135" y="1120527"/>
            <a:ext cx="363269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8D9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328135" y="1260128"/>
            <a:ext cx="3632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+0.48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328135" y="1390204"/>
            <a:ext cx="363269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영입</a:t>
            </a:r>
            <a:endParaRPr lang="en-US" sz="650" dirty="0"/>
          </a:p>
          <a:p>
            <a:pPr algn="ctr" indent="0" marL="0">
              <a:lnSpc>
                <a:spcPts val="84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회의 시연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253901" y="4511278"/>
            <a:ext cx="8636198" cy="530721"/>
          </a:xfrm>
          <a:prstGeom prst="roundRect">
            <a:avLst>
              <a:gd name="adj" fmla="val 14358"/>
            </a:avLst>
          </a:prstGeom>
          <a:solidFill>
            <a:srgbClr val="161B22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68225" y="4619179"/>
            <a:ext cx="840755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"14일입니다. 오늘 오전에 파일 두 개를 처리하고, 오후에 P7을 돌리고, 저녁에 P1을 돌리십시오. </a:t>
            </a:r>
            <a:pPr algn="ctr" indent="0" marL="0">
              <a:lnSpc>
                <a:spcPts val="1240"/>
              </a:lnSpc>
              <a:buNone/>
            </a:pPr>
            <a:r>
              <a:rPr lang="en-US" sz="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 22시 이전에 숫자가 바뀌어 있으면 내일 아침에 4.38까지 복원할 수 있습니다.</a:t>
            </a:r>
            <a:pPr algn="ctr" indent="0" marL="0">
              <a:lnSpc>
                <a:spcPts val="124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로컬 PC를 지금 켜십시오. 오늘이 마지막입니다. — 김태현"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2026-05-25T00:40:51Z</dcterms:created>
  <dcterms:modified xsi:type="dcterms:W3CDTF">2026-05-25T00:40:51Z</dcterms:modified>
</cp:coreProperties>
</file>