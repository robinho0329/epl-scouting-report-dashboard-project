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59201" y="0"/>
            <a:ext cx="25301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73401" y="1930301"/>
            <a:ext cx="1396901" cy="1396901"/>
          </a:xfrm>
          <a:prstGeom prst="roundRect">
            <a:avLst>
              <a:gd name="adj" fmla="val 65459"/>
            </a:avLst>
          </a:prstGeom>
          <a:noFill/>
          <a:ln w="19050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0" y="1495425"/>
            <a:ext cx="1130201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0676" y="1485900"/>
            <a:ext cx="0" cy="2158901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3635276"/>
            <a:ext cx="1130201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3650" y="1495425"/>
            <a:ext cx="1130201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13650" y="3635276"/>
            <a:ext cx="1130201" cy="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23175" y="1485900"/>
            <a:ext cx="0" cy="2158901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9861" y="1650950"/>
            <a:ext cx="6736029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WEEKEND REVIEW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279350" y="2286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0F3460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8825" y="330101"/>
            <a:ext cx="226341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4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4650" y="366713"/>
            <a:ext cx="15160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SCOUT INTELLIGENCE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365950" y="177701"/>
            <a:ext cx="1498550" cy="942677"/>
          </a:xfrm>
          <a:prstGeom prst="roundRect">
            <a:avLst>
              <a:gd name="adj" fmla="val 10778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525844" y="298252"/>
            <a:ext cx="117876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실무 활용도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7525844" y="437852"/>
            <a:ext cx="1178763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525844" y="704552"/>
            <a:ext cx="117876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525844" y="876002"/>
            <a:ext cx="117876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300"/>
              </a:spcBef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0.05 (전일 4.70)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990404" y="812750"/>
            <a:ext cx="3163044" cy="253901"/>
          </a:xfrm>
          <a:prstGeom prst="roundRect">
            <a:avLst>
              <a:gd name="adj" fmla="val 100039"/>
            </a:avLst>
          </a:prstGeom>
          <a:solidFill>
            <a:srgbClr val="0F3460"/>
          </a:solidFill>
          <a:ln w="9525">
            <a:solidFill>
              <a:srgbClr val="00D4A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175702" y="873026"/>
            <a:ext cx="27924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26번째 정기 미팅  |  09:00 KST  |  주말 종합 점검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85800" y="1143000"/>
            <a:ext cx="777240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EPL 스카우트팀 데일리 브리핑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5800" y="1724471"/>
            <a:ext cx="7772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Daily Briefing — Scout Intelligence Analytics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5800" y="1953071"/>
            <a:ext cx="77724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600" b="1" dirty="0">
                <a:solidFill>
                  <a:srgbClr val="FF6B3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2026년 05월 17일 (일)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191000" y="2406997"/>
            <a:ext cx="762000" cy="25301"/>
          </a:xfrm>
          <a:prstGeom prst="rect">
            <a:avLst/>
          </a:prstGeom>
          <a:solidFill>
            <a:srgbClr val="00D4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5800" y="2584698"/>
            <a:ext cx="77724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 ×  Marcus Webb (Analytics Agent)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0" y="4735860"/>
            <a:ext cx="9144000" cy="407640"/>
          </a:xfrm>
          <a:prstGeom prst="rect">
            <a:avLst/>
          </a:prstGeom>
          <a:solidFill>
            <a:srgbClr val="1A040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0" y="4745385"/>
            <a:ext cx="9144000" cy="0"/>
          </a:xfrm>
          <a:prstGeom prst="line">
            <a:avLst/>
          </a:prstGeom>
          <a:noFill/>
          <a:ln w="19050">
            <a:solidFill>
              <a:srgbClr val="E94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9350" y="4869210"/>
            <a:ext cx="875700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BA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🎯 오늘 최우선: </a:t>
            </a:r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 완성</a:t>
            </a:r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FFBAB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6일 연속 미달 오늘 오전 종결 필수 (다음 주 발표 직결) 🔥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9350" y="241102"/>
            <a:ext cx="41019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12개 모델 성능 현황 </a:t>
            </a:r>
            <a:pPr algn="l" indent="0" marL="0">
              <a:buNone/>
            </a:pPr>
            <a:r>
              <a:rPr lang="en-US" sz="1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P1·P7 월요일 로컬 학습 대기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70165" y="268188"/>
            <a:ext cx="923032" cy="193477"/>
          </a:xfrm>
          <a:prstGeom prst="roundRect">
            <a:avLst>
              <a:gd name="adj" fmla="val 131282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81191" y="303014"/>
            <a:ext cx="7150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 최우수 3개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356598" y="268188"/>
            <a:ext cx="723305" cy="193477"/>
          </a:xfrm>
          <a:prstGeom prst="roundRect">
            <a:avLst>
              <a:gd name="adj" fmla="val 131282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67624" y="303014"/>
            <a:ext cx="511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 우수 4개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43304" y="268188"/>
            <a:ext cx="934641" cy="193477"/>
          </a:xfrm>
          <a:prstGeom prst="roundRect">
            <a:avLst>
              <a:gd name="adj" fmla="val 131282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254329" y="303014"/>
            <a:ext cx="726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 양호·적정 3개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8141345" y="268188"/>
            <a:ext cx="723305" cy="193477"/>
          </a:xfrm>
          <a:prstGeom prst="roundRect">
            <a:avLst>
              <a:gd name="adj" fmla="val 131282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52371" y="303014"/>
            <a:ext cx="51127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 미달 2개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155618" y="847279"/>
            <a:ext cx="639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155618" y="983754"/>
            <a:ext cx="6390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로컬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8155618" y="1177230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55618" y="1408807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55618" y="1640384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55618" y="1871960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55618" y="2103537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55618" y="2335113"/>
            <a:ext cx="63909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🔴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155618" y="2471589"/>
            <a:ext cx="63909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로컬</a:t>
            </a:r>
            <a:endParaRPr lang="en-US" sz="550" dirty="0"/>
          </a:p>
        </p:txBody>
      </p:sp>
      <p:sp>
        <p:nvSpPr>
          <p:cNvPr id="23" name="Text 21"/>
          <p:cNvSpPr/>
          <p:nvPr/>
        </p:nvSpPr>
        <p:spPr>
          <a:xfrm>
            <a:off x="8155618" y="2665065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55618" y="2896642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55618" y="3128218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🟢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155618" y="3359795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55618" y="3591371"/>
            <a:ext cx="6390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🟡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9350" y="4788247"/>
            <a:ext cx="8585299" cy="253752"/>
          </a:xfrm>
          <a:prstGeom prst="roundRect">
            <a:avLst>
              <a:gd name="adj" fmla="val 25024"/>
            </a:avLst>
          </a:prstGeom>
          <a:solidFill>
            <a:srgbClr val="16213E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15826" y="4848523"/>
            <a:ext cx="847859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코드 수정 완료 — GitHub Actions 05-11 이후 6일 연속 미실행. 다음 주 월요일 로컬 PC 직접 실행 예정 |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9개: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S1·P4·P6·S2·P8·P3·P2·S3·S6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4572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0" y="0"/>
            <a:ext cx="4572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9350" y="241102"/>
            <a:ext cx="2390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어제(05-16) 달성·미달 현황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93320" y="336352"/>
            <a:ext cx="405075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 4건 / 미달 4건 — 코드는 준비됐다. 학습과 스크립트가 연결되지 않으면 결과가 없는 것과 같다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279350" y="804416"/>
            <a:ext cx="3844677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9350" y="602903"/>
            <a:ext cx="7490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✅ 달성 — 4건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089868" y="590252"/>
            <a:ext cx="748903" cy="158651"/>
          </a:xfrm>
          <a:prstGeom prst="roundRect">
            <a:avLst>
              <a:gd name="adj" fmla="val 72045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88244" y="612428"/>
            <a:ext cx="56319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수정 완료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279350" y="885379"/>
            <a:ext cx="3844677" cy="873323"/>
          </a:xfrm>
          <a:prstGeom prst="rect">
            <a:avLst/>
          </a:prstGeom>
          <a:solidFill>
            <a:srgbClr val="00D26A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9350" y="890141"/>
            <a:ext cx="3844677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9265" y="885379"/>
            <a:ext cx="0" cy="873323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9350" y="1753939"/>
            <a:ext cx="3844677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8400" y="885379"/>
            <a:ext cx="0" cy="873323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401" y="996404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12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0778" y="1053554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4502" y="983754"/>
            <a:ext cx="3277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train_v5_1.py 코드 작성 완료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74502" y="1164729"/>
            <a:ext cx="327731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lag4 피처 10개 추가, 총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50피처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구성 완료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9350" y="1834902"/>
            <a:ext cx="3844677" cy="873323"/>
          </a:xfrm>
          <a:prstGeom prst="rect">
            <a:avLst/>
          </a:prstGeom>
          <a:solidFill>
            <a:srgbClr val="00D26A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79350" y="1839664"/>
            <a:ext cx="3844677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9265" y="1834902"/>
            <a:ext cx="0" cy="873323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9350" y="2703463"/>
            <a:ext cx="3844677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8400" y="1834902"/>
            <a:ext cx="0" cy="873323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401" y="194592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12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0778" y="2003078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4502" y="1933277"/>
            <a:ext cx="3277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train_pipeline.py 피처 추가 완료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74502" y="2114252"/>
            <a:ext cx="327731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elo_trend_3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, form_elo_composite, </a:t>
            </a:r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RobustScaler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확인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79350" y="2784425"/>
            <a:ext cx="3844677" cy="873323"/>
          </a:xfrm>
          <a:prstGeom prst="rect">
            <a:avLst/>
          </a:prstGeom>
          <a:solidFill>
            <a:srgbClr val="00D26A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79350" y="2789188"/>
            <a:ext cx="3844677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9265" y="2784425"/>
            <a:ext cx="0" cy="873323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9350" y="3652986"/>
            <a:ext cx="3844677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98400" y="2784425"/>
            <a:ext cx="0" cy="873323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4401" y="2895451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12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10778" y="2952601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4502" y="2882801"/>
            <a:ext cx="3277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github_actions_dev.py 경로 수정 완료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74502" y="3063776"/>
            <a:ext cx="327731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train_v5_1.py</a:t>
            </a:r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확인 완료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279350" y="3733949"/>
            <a:ext cx="3844677" cy="873323"/>
          </a:xfrm>
          <a:prstGeom prst="rect">
            <a:avLst/>
          </a:prstGeom>
          <a:solidFill>
            <a:srgbClr val="00D26A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279350" y="3738711"/>
            <a:ext cx="3844677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19265" y="3733949"/>
            <a:ext cx="0" cy="873323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79350" y="4602510"/>
            <a:ext cx="3844677" cy="0"/>
          </a:xfrm>
          <a:prstGeom prst="line">
            <a:avLst/>
          </a:prstGeom>
          <a:noFill/>
          <a:ln w="9525">
            <a:solidFill>
              <a:srgbClr val="00D2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98400" y="3733949"/>
            <a:ext cx="0" cy="873323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4401" y="3844975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0012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0778" y="3902125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4502" y="3832324"/>
            <a:ext cx="32773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runner 구조적 문제 원인 규명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74502" y="4013299"/>
            <a:ext cx="3277311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runner에 data/ 없는 환경 확인 완료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250978" y="804416"/>
            <a:ext cx="4613672" cy="0"/>
          </a:xfrm>
          <a:prstGeom prst="line">
            <a:avLst/>
          </a:prstGeom>
          <a:noFill/>
          <a:ln w="9525">
            <a:solidFill>
              <a:srgbClr val="30363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50978" y="602903"/>
            <a:ext cx="7090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 미달 — 4건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022354" y="590252"/>
            <a:ext cx="1179761" cy="158651"/>
          </a:xfrm>
          <a:prstGeom prst="roundRect">
            <a:avLst>
              <a:gd name="adj" fmla="val 72045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120729" y="612428"/>
            <a:ext cx="1002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6일 연속 미실행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250978" y="885379"/>
            <a:ext cx="4613672" cy="973634"/>
          </a:xfrm>
          <a:prstGeom prst="rect">
            <a:avLst/>
          </a:prstGeom>
          <a:solidFill>
            <a:srgbClr val="E94560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4250978" y="890141"/>
            <a:ext cx="4613672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59887" y="885379"/>
            <a:ext cx="0" cy="973634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50978" y="1854250"/>
            <a:ext cx="4613672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270028" y="885379"/>
            <a:ext cx="0" cy="973634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03378" y="983754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456956" y="1028105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695379" y="971104"/>
            <a:ext cx="35136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demo_script_draft.md 생성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95379" y="1129754"/>
            <a:ext cx="351367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 반드시 종결 — 다음 주 발표 직결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8229005" y="971104"/>
            <a:ext cx="511820" cy="174427"/>
          </a:xfrm>
          <a:prstGeom prst="roundRect">
            <a:avLst>
              <a:gd name="adj" fmla="val 29124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305205" y="996404"/>
            <a:ext cx="36660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250978" y="1935212"/>
            <a:ext cx="4613672" cy="839837"/>
          </a:xfrm>
          <a:prstGeom prst="rect">
            <a:avLst/>
          </a:prstGeom>
          <a:solidFill>
            <a:srgbClr val="E94560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4250978" y="1939975"/>
            <a:ext cx="4613672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859887" y="1935212"/>
            <a:ext cx="0" cy="839837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250978" y="2770287"/>
            <a:ext cx="4613672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270028" y="1935212"/>
            <a:ext cx="0" cy="839837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03378" y="2033588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00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456956" y="2077938"/>
            <a:ext cx="9776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695379" y="2020937"/>
            <a:ext cx="35206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dev_result.json 생성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695379" y="2179588"/>
            <a:ext cx="3520654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Actions 05-11 이후 미실행 (구조적 원인 확인)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8235851" y="2020937"/>
            <a:ext cx="504974" cy="183952"/>
          </a:xfrm>
          <a:prstGeom prst="roundRect">
            <a:avLst>
              <a:gd name="adj" fmla="val 27616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8321576" y="2055763"/>
            <a:ext cx="34019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250978" y="2851249"/>
            <a:ext cx="4613672" cy="839986"/>
          </a:xfrm>
          <a:prstGeom prst="rect">
            <a:avLst/>
          </a:prstGeom>
          <a:solidFill>
            <a:srgbClr val="F5A623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250978" y="2856012"/>
            <a:ext cx="4613672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859887" y="2851249"/>
            <a:ext cx="0" cy="839986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250978" y="3686473"/>
            <a:ext cx="4613672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270028" y="2851249"/>
            <a:ext cx="0" cy="839986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403378" y="2949625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10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4462314" y="3000375"/>
            <a:ext cx="86832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4695379" y="2936974"/>
            <a:ext cx="3495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R² ≥ 0.62 달성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4695379" y="3095625"/>
            <a:ext cx="349515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준비 완료 — 다음 주 월요일 로컬 실행 예정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8210848" y="2936974"/>
            <a:ext cx="529977" cy="183952"/>
          </a:xfrm>
          <a:prstGeom prst="roundRect">
            <a:avLst>
              <a:gd name="adj" fmla="val 27616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80"/>
          <p:cNvSpPr/>
          <p:nvPr/>
        </p:nvSpPr>
        <p:spPr>
          <a:xfrm>
            <a:off x="8296573" y="2971800"/>
            <a:ext cx="3656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대기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4250978" y="3767435"/>
            <a:ext cx="4613672" cy="839837"/>
          </a:xfrm>
          <a:prstGeom prst="rect">
            <a:avLst/>
          </a:prstGeom>
          <a:solidFill>
            <a:srgbClr val="F5A623">
              <a:alpha val="7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4250978" y="3772198"/>
            <a:ext cx="4613672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859887" y="3767435"/>
            <a:ext cx="0" cy="839837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250978" y="4602510"/>
            <a:ext cx="4613672" cy="0"/>
          </a:xfrm>
          <a:prstGeom prst="line">
            <a:avLst/>
          </a:prstGeom>
          <a:noFill/>
          <a:ln w="9525">
            <a:solidFill>
              <a:srgbClr val="F5A62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270028" y="3767435"/>
            <a:ext cx="0" cy="839837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403378" y="3865811"/>
            <a:ext cx="203150" cy="203150"/>
          </a:xfrm>
          <a:prstGeom prst="roundRect">
            <a:avLst>
              <a:gd name="adj" fmla="val 450111"/>
            </a:avLst>
          </a:prstGeom>
          <a:solidFill>
            <a:srgbClr val="1A1000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4462314" y="3916561"/>
            <a:ext cx="86832" cy="10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✗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4695379" y="3853160"/>
            <a:ext cx="34951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 ≥ 57% 달성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4695379" y="4011811"/>
            <a:ext cx="349515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 준비 완료 — 다음 주 월요일 로컬 실행 예정</a:t>
            </a:r>
            <a:endParaRPr lang="en-US" sz="650" dirty="0"/>
          </a:p>
        </p:txBody>
      </p:sp>
      <p:sp>
        <p:nvSpPr>
          <p:cNvPr id="92" name="Text 90"/>
          <p:cNvSpPr/>
          <p:nvPr/>
        </p:nvSpPr>
        <p:spPr>
          <a:xfrm>
            <a:off x="8210848" y="3853160"/>
            <a:ext cx="529977" cy="183952"/>
          </a:xfrm>
          <a:prstGeom prst="roundRect">
            <a:avLst>
              <a:gd name="adj" fmla="val 27616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8296573" y="3887986"/>
            <a:ext cx="3656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대기</a:t>
            </a:r>
            <a:endParaRPr lang="en-US" sz="650" dirty="0"/>
          </a:p>
        </p:txBody>
      </p:sp>
      <p:sp>
        <p:nvSpPr>
          <p:cNvPr id="94" name="Text 92"/>
          <p:cNvSpPr/>
          <p:nvPr/>
        </p:nvSpPr>
        <p:spPr>
          <a:xfrm>
            <a:off x="279350" y="4708773"/>
            <a:ext cx="8585299" cy="333226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Shape 93"/>
          <p:cNvSpPr/>
          <p:nvPr/>
        </p:nvSpPr>
        <p:spPr>
          <a:xfrm>
            <a:off x="279350" y="4713536"/>
            <a:ext cx="8585299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859887" y="4708773"/>
            <a:ext cx="0" cy="333226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79350" y="5037237"/>
            <a:ext cx="8585299" cy="0"/>
          </a:xfrm>
          <a:prstGeom prst="line">
            <a:avLst/>
          </a:prstGeom>
          <a:noFill/>
          <a:ln w="9525">
            <a:solidFill>
              <a:srgbClr val="E9456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303163" y="4708773"/>
            <a:ext cx="0" cy="333226"/>
          </a:xfrm>
          <a:prstGeom prst="line">
            <a:avLst/>
          </a:prstGeom>
          <a:noFill/>
          <a:ln w="47625">
            <a:solidFill>
              <a:srgbClr val="E9456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79375" y="4794498"/>
            <a:ext cx="8387816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“코드는 준비됐습니다. 학습과 스크립트가 연결되지 않으면 결과가 없는 것과 같습니다.” </a:t>
            </a:r>
            <a:pPr algn="l" indent="0" marL="0">
              <a:lnSpc>
                <a:spcPts val="1275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— 달성 4건 (코드) / 미달 4건 (실행·스크립트)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C0C0C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CD7F3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9350" y="228451"/>
            <a:ext cx="47068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액션아이템 Top 3 — </a:t>
            </a:r>
            <a:pPr algn="l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주말 종결 + 월요일 학습 준비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914257" y="323701"/>
            <a:ext cx="198940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CRITICAL · 오후 체크리스트 · 오후 P8 코드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9350" y="577602"/>
            <a:ext cx="2785467" cy="4102745"/>
          </a:xfrm>
          <a:prstGeom prst="roundRect">
            <a:avLst>
              <a:gd name="adj" fmla="val 3648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9350" y="596652"/>
            <a:ext cx="2785467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55293" y="577602"/>
            <a:ext cx="0" cy="4102745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350" y="4670822"/>
            <a:ext cx="2785467" cy="0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8875" y="577602"/>
            <a:ext cx="0" cy="4102745"/>
          </a:xfrm>
          <a:prstGeom prst="line">
            <a:avLst/>
          </a:prstGeom>
          <a:noFill/>
          <a:ln w="1905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76326" y="717203"/>
            <a:ext cx="667941" cy="164902"/>
          </a:xfrm>
          <a:prstGeom prst="roundRect">
            <a:avLst>
              <a:gd name="adj" fmla="val 69314"/>
            </a:avLst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65177" y="742504"/>
            <a:ext cx="5000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🔥 오전 즉시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285702" y="895052"/>
            <a:ext cx="658564" cy="149126"/>
          </a:xfrm>
          <a:prstGeom prst="roundRect">
            <a:avLst>
              <a:gd name="adj" fmla="val 34065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71427" y="917228"/>
            <a:ext cx="49685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6일 연속 미달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38001" y="742652"/>
            <a:ext cx="1287661" cy="193477"/>
          </a:xfrm>
          <a:prstGeom prst="roundRect">
            <a:avLst>
              <a:gd name="adj" fmla="val 59077"/>
            </a:avLst>
          </a:prstGeom>
          <a:solidFill>
            <a:srgbClr val="1E16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1826" y="777478"/>
            <a:ext cx="10608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🏋 1순위 — CRITICAL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38001" y="999530"/>
            <a:ext cx="25175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38001" y="1167705"/>
            <a:ext cx="2517529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포트폴리오 시연 스크립트 완성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8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(demo_script_draft.md)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8001" y="1564481"/>
            <a:ext cx="2468166" cy="2408337"/>
          </a:xfrm>
          <a:prstGeom prst="roundRect">
            <a:avLst>
              <a:gd name="adj" fmla="val 2109"/>
            </a:avLst>
          </a:prstGeom>
          <a:solidFill>
            <a:srgbClr val="0A0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26852" y="1627882"/>
            <a:ext cx="2336274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경로:</a:t>
            </a:r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reports/portfolio_ppt/demo_script_draft.md</a:t>
            </a:r>
            <a:endParaRPr lang="en-US" sz="65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6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내용:</a:t>
            </a:r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S1→S2→P8→P6→S6 5분 시연 흐름 5장</a:t>
            </a:r>
            <a:endParaRPr lang="en-US" sz="65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indent="0" marL="0">
              <a:lnSpc>
                <a:spcPts val="104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노팅엄·브렌트포드 30-50M£ 가상 영입 시나리오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438001" y="4036219"/>
            <a:ext cx="2468166" cy="253901"/>
          </a:xfrm>
          <a:prstGeom prst="roundRect">
            <a:avLst>
              <a:gd name="adj" fmla="val 20008"/>
            </a:avLst>
          </a:prstGeom>
          <a:solidFill>
            <a:srgbClr val="0A142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36377" y="4096494"/>
            <a:ext cx="231684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5장 초안 오늘 오전 완성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38001" y="4353520"/>
            <a:ext cx="1157139" cy="193477"/>
          </a:xfrm>
          <a:prstGeom prst="roundRect">
            <a:avLst>
              <a:gd name="adj" fmla="val 19692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3726" y="4388346"/>
            <a:ext cx="100540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2026-05-17 오전 마감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164407" y="4388346"/>
            <a:ext cx="7565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 → 4.73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179118" y="577602"/>
            <a:ext cx="2785616" cy="4102745"/>
          </a:xfrm>
          <a:prstGeom prst="roundRect">
            <a:avLst>
              <a:gd name="adj" fmla="val 364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179118" y="596652"/>
            <a:ext cx="2785616" cy="0"/>
          </a:xfrm>
          <a:prstGeom prst="line">
            <a:avLst/>
          </a:prstGeom>
          <a:noFill/>
          <a:ln w="38100">
            <a:solidFill>
              <a:srgbClr val="C0C0C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55209" y="577602"/>
            <a:ext cx="0" cy="4102745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79118" y="4670822"/>
            <a:ext cx="2785616" cy="0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88643" y="577602"/>
            <a:ext cx="0" cy="4102745"/>
          </a:xfrm>
          <a:prstGeom prst="line">
            <a:avLst/>
          </a:prstGeom>
          <a:noFill/>
          <a:ln w="19050">
            <a:solidFill>
              <a:srgbClr val="C0C0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01580" y="717203"/>
            <a:ext cx="342602" cy="164902"/>
          </a:xfrm>
          <a:prstGeom prst="roundRect">
            <a:avLst>
              <a:gd name="adj" fmla="val 69314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590431" y="742504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3337768" y="742652"/>
            <a:ext cx="1431578" cy="193477"/>
          </a:xfrm>
          <a:prstGeom prst="roundRect">
            <a:avLst>
              <a:gd name="adj" fmla="val 59077"/>
            </a:avLst>
          </a:prstGeom>
          <a:solidFill>
            <a:srgbClr val="141414"/>
          </a:solidFill>
          <a:ln w="9525">
            <a:solidFill>
              <a:srgbClr val="C0C0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461593" y="777478"/>
            <a:ext cx="120760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🥈 2순위 — 로컬 학습 준비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337768" y="999530"/>
            <a:ext cx="25176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337768" y="1167705"/>
            <a:ext cx="2517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학습 체크리스트 작성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850" b="1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(local_training_checklist.md)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337768" y="1564481"/>
            <a:ext cx="2468314" cy="2408337"/>
          </a:xfrm>
          <a:prstGeom prst="roundRect">
            <a:avLst>
              <a:gd name="adj" fmla="val 2109"/>
            </a:avLst>
          </a:prstGeom>
          <a:solidFill>
            <a:srgbClr val="0A0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426619" y="1627882"/>
            <a:ext cx="2290614" cy="42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3426619" y="1615232"/>
            <a:ext cx="467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540919" y="1627882"/>
            <a:ext cx="2219840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v5.1 (train_v5_1.py) 실행 순서 명시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3426619" y="1755577"/>
            <a:ext cx="467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540919" y="1768227"/>
            <a:ext cx="2219840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(train_pipeline.py) 실행 순서 명시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3426619" y="1895921"/>
            <a:ext cx="467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540919" y="1908572"/>
            <a:ext cx="2219840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아침 PC 켜자마자 30분 내 실행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3337768" y="4036219"/>
            <a:ext cx="2468314" cy="253901"/>
          </a:xfrm>
          <a:prstGeom prst="roundRect">
            <a:avLst>
              <a:gd name="adj" fmla="val 20008"/>
            </a:avLst>
          </a:prstGeom>
          <a:solidFill>
            <a:srgbClr val="0A142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436144" y="4096494"/>
            <a:ext cx="23169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체크리스트 파일 생성 완료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3337768" y="4353520"/>
            <a:ext cx="948482" cy="193477"/>
          </a:xfrm>
          <a:prstGeom prst="roundRect">
            <a:avLst>
              <a:gd name="adj" fmla="val 19692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423493" y="4388346"/>
            <a:ext cx="7925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2026-05-17 오후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064323" y="4388346"/>
            <a:ext cx="75659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 → 4.78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79034" y="577602"/>
            <a:ext cx="2785616" cy="4102745"/>
          </a:xfrm>
          <a:prstGeom prst="roundRect">
            <a:avLst>
              <a:gd name="adj" fmla="val 3647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079034" y="596652"/>
            <a:ext cx="2785616" cy="0"/>
          </a:xfrm>
          <a:prstGeom prst="line">
            <a:avLst/>
          </a:prstGeom>
          <a:noFill/>
          <a:ln w="38100">
            <a:solidFill>
              <a:srgbClr val="CD7F3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855125" y="577602"/>
            <a:ext cx="0" cy="4102745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079034" y="4670822"/>
            <a:ext cx="2785616" cy="0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88559" y="577602"/>
            <a:ext cx="0" cy="4102745"/>
          </a:xfrm>
          <a:prstGeom prst="line">
            <a:avLst/>
          </a:prstGeom>
          <a:noFill/>
          <a:ln w="19050">
            <a:solidFill>
              <a:srgbClr val="CD7F3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382446" y="717203"/>
            <a:ext cx="361652" cy="183952"/>
          </a:xfrm>
          <a:prstGeom prst="roundRect">
            <a:avLst>
              <a:gd name="adj" fmla="val 62136"/>
            </a:avLst>
          </a:prstGeom>
          <a:solidFill>
            <a:srgbClr val="1A1000"/>
          </a:solidFill>
          <a:ln w="9525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8480822" y="752029"/>
            <a:ext cx="1682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6237684" y="742652"/>
            <a:ext cx="1380827" cy="193477"/>
          </a:xfrm>
          <a:prstGeom prst="roundRect">
            <a:avLst>
              <a:gd name="adj" fmla="val 59077"/>
            </a:avLst>
          </a:prstGeom>
          <a:solidFill>
            <a:srgbClr val="140E08"/>
          </a:solidFill>
          <a:ln w="9525">
            <a:solidFill>
              <a:srgbClr val="CD7F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361509" y="777478"/>
            <a:ext cx="11558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🥉 3순위 — P8 분석 코드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237684" y="999530"/>
            <a:ext cx="25176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Marcus Webb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6237684" y="1167705"/>
            <a:ext cx="2517681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클래스 불균형 분석 코드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10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050" dirty="0"/>
          </a:p>
          <a:p>
            <a:pPr algn="l" indent="0" marL="0">
              <a:lnSpc>
                <a:spcPts val="1313"/>
              </a:lnSpc>
              <a:buNone/>
            </a:pPr>
            <a:r>
              <a:rPr lang="en-US" sz="850" b="1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(evaluate_precision_recall.py)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6237684" y="1564481"/>
            <a:ext cx="2468314" cy="2408337"/>
          </a:xfrm>
          <a:prstGeom prst="roundRect">
            <a:avLst>
              <a:gd name="adj" fmla="val 2109"/>
            </a:avLst>
          </a:prstGeom>
          <a:solidFill>
            <a:srgbClr val="0A0E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6326535" y="1627882"/>
            <a:ext cx="2290614" cy="42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  <a:p>
            <a:pPr algn="l" marL="342900" indent="-342900">
              <a:lnSpc>
                <a:spcPts val="1105"/>
              </a:lnSpc>
              <a:buSzPct val="100000"/>
              <a:buChar char="•"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326535" y="1615232"/>
            <a:ext cx="467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440835" y="1627882"/>
            <a:ext cx="2219840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양성 클래스(adapted=1) 비율 74.98% 검증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6326535" y="1755577"/>
            <a:ext cx="467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6440835" y="1768227"/>
            <a:ext cx="2219840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F1=88.23% 의미 confusion matrix 분석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6326535" y="1895921"/>
            <a:ext cx="46756" cy="194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›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40835" y="1908572"/>
            <a:ext cx="2219840" cy="140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주 로컬 실행용 코드 초안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6237684" y="4036219"/>
            <a:ext cx="2468314" cy="253901"/>
          </a:xfrm>
          <a:prstGeom prst="roundRect">
            <a:avLst>
              <a:gd name="adj" fmla="val 20008"/>
            </a:avLst>
          </a:prstGeom>
          <a:solidFill>
            <a:srgbClr val="0A142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336060" y="4096494"/>
            <a:ext cx="23169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목표: 코드 초안 파일 생성 완료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6237684" y="4353520"/>
            <a:ext cx="948482" cy="193477"/>
          </a:xfrm>
          <a:prstGeom prst="roundRect">
            <a:avLst>
              <a:gd name="adj" fmla="val 19692"/>
            </a:avLst>
          </a:prstGeom>
          <a:solidFill>
            <a:srgbClr val="140E08"/>
          </a:solidFill>
          <a:ln w="9525">
            <a:solidFill>
              <a:srgbClr val="CD7F3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6323409" y="4388346"/>
            <a:ext cx="7925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D7F3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2026-05-17 오후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7892653" y="4388346"/>
            <a:ext cx="82961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 재검증 → +0.05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79350" y="4781848"/>
            <a:ext cx="8585299" cy="260152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279350" y="4786610"/>
            <a:ext cx="8585299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06301" y="4854773"/>
            <a:ext cx="6069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시연 루트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1128266" y="4854773"/>
            <a:ext cx="502974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선수 레이팅 → </a:t>
            </a:r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시장가치 → </a:t>
            </a:r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이적 적응 → </a:t>
            </a:r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미래 가치 → </a:t>
            </a:r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하락세 감지 — 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노팅엄·브렌트포드 예산 30-50M£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E945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9350" y="228451"/>
            <a:ext cx="42332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김태현 스카우트 종합 평가 — </a:t>
            </a:r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4.65/5.0</a:t>
            </a:r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1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▼ 전일 4.70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62439" y="323701"/>
            <a:ext cx="347025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6일 미생성·P1/P7 재학습 지속 연기 → 오늘~월요일 완료 시 4.95 회복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450800" y="615702"/>
            <a:ext cx="1498550" cy="1498550"/>
          </a:xfrm>
          <a:prstGeom prst="roundRect">
            <a:avLst>
              <a:gd name="adj" fmla="val 61019"/>
            </a:avLst>
          </a:prstGeom>
          <a:solidFill>
            <a:srgbClr val="16213E"/>
          </a:solidFill>
          <a:ln w="11430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1405" y="1107877"/>
            <a:ext cx="894889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78855" y="1488728"/>
            <a:ext cx="24713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 5.0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55575" y="2215753"/>
            <a:ext cx="1289000" cy="228600"/>
          </a:xfrm>
          <a:prstGeom prst="roundRect">
            <a:avLst>
              <a:gd name="adj" fmla="val 50000"/>
            </a:avLst>
          </a:prstGeom>
          <a:solidFill>
            <a:srgbClr val="1A0000"/>
          </a:solidFill>
          <a:ln w="9525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1890" y="2263378"/>
            <a:ext cx="10363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▼ 0.05  (전일 4.70)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60936" y="2545854"/>
            <a:ext cx="187827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달성률 (93%)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79350" y="2707779"/>
            <a:ext cx="1841450" cy="88850"/>
          </a:xfrm>
          <a:prstGeom prst="roundRect">
            <a:avLst>
              <a:gd name="adj" fmla="val 128644"/>
            </a:avLst>
          </a:prstGeom>
          <a:solidFill>
            <a:srgbClr val="1E25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9350" y="2707779"/>
            <a:ext cx="1712416" cy="88850"/>
          </a:xfrm>
          <a:prstGeom prst="roundRect">
            <a:avLst>
              <a:gd name="adj" fmla="val 128644"/>
            </a:avLst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5116" y="2898130"/>
            <a:ext cx="989918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 6일</a:t>
            </a:r>
            <a:endParaRPr lang="en-US" sz="650" dirty="0"/>
          </a:p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P1/P7 재학습 연기로 하락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247751" y="564952"/>
            <a:ext cx="349758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 달성 로드맵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47751" y="807839"/>
            <a:ext cx="591889" cy="399901"/>
          </a:xfrm>
          <a:prstGeom prst="roundRect">
            <a:avLst>
              <a:gd name="adj" fmla="val 15879"/>
            </a:avLst>
          </a:prstGeom>
          <a:solidFill>
            <a:srgbClr val="1A0500"/>
          </a:solidFill>
          <a:ln w="19050">
            <a:solidFill>
              <a:srgbClr val="E9456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351891" y="877639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4.65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51891" y="1042690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</a:t>
            </a:r>
            <a:endParaRPr lang="en-US" sz="550" dirty="0"/>
          </a:p>
        </p:txBody>
      </p:sp>
      <p:sp>
        <p:nvSpPr>
          <p:cNvPr id="20" name="Text 18"/>
          <p:cNvSpPr/>
          <p:nvPr/>
        </p:nvSpPr>
        <p:spPr>
          <a:xfrm>
            <a:off x="2870237" y="802928"/>
            <a:ext cx="76539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70237" y="942677"/>
            <a:ext cx="7653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+0.08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870237" y="1047452"/>
            <a:ext cx="765399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demo_script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완성</a:t>
            </a:r>
            <a:endParaRPr lang="en-US" sz="500" dirty="0"/>
          </a:p>
        </p:txBody>
      </p:sp>
      <p:sp>
        <p:nvSpPr>
          <p:cNvPr id="23" name="Text 21"/>
          <p:cNvSpPr/>
          <p:nvPr/>
        </p:nvSpPr>
        <p:spPr>
          <a:xfrm>
            <a:off x="3666232" y="807839"/>
            <a:ext cx="591889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770372" y="877639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70372" y="1042690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오전 목표</a:t>
            </a:r>
            <a:endParaRPr lang="en-US" sz="550" dirty="0"/>
          </a:p>
        </p:txBody>
      </p:sp>
      <p:sp>
        <p:nvSpPr>
          <p:cNvPr id="26" name="Text 24"/>
          <p:cNvSpPr/>
          <p:nvPr/>
        </p:nvSpPr>
        <p:spPr>
          <a:xfrm>
            <a:off x="4288716" y="802928"/>
            <a:ext cx="765551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88716" y="942677"/>
            <a:ext cx="765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288716" y="1047452"/>
            <a:ext cx="765551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체크리스트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+P8코드</a:t>
            </a:r>
            <a:endParaRPr lang="en-US" sz="500" dirty="0"/>
          </a:p>
        </p:txBody>
      </p:sp>
      <p:sp>
        <p:nvSpPr>
          <p:cNvPr id="29" name="Text 27"/>
          <p:cNvSpPr/>
          <p:nvPr/>
        </p:nvSpPr>
        <p:spPr>
          <a:xfrm>
            <a:off x="5084862" y="807839"/>
            <a:ext cx="591889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89001" y="877639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4.78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89001" y="1042690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목표</a:t>
            </a:r>
            <a:endParaRPr lang="en-US" sz="550" dirty="0"/>
          </a:p>
        </p:txBody>
      </p:sp>
      <p:sp>
        <p:nvSpPr>
          <p:cNvPr id="32" name="Text 30"/>
          <p:cNvSpPr/>
          <p:nvPr/>
        </p:nvSpPr>
        <p:spPr>
          <a:xfrm>
            <a:off x="2213461" y="1263402"/>
            <a:ext cx="349758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247751" y="1446014"/>
            <a:ext cx="591889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351891" y="1515814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4.78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351891" y="1680865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오후 달성</a:t>
            </a:r>
            <a:endParaRPr lang="en-US" sz="550" dirty="0"/>
          </a:p>
        </p:txBody>
      </p:sp>
      <p:sp>
        <p:nvSpPr>
          <p:cNvPr id="36" name="Text 34"/>
          <p:cNvSpPr/>
          <p:nvPr/>
        </p:nvSpPr>
        <p:spPr>
          <a:xfrm>
            <a:off x="2870237" y="1441103"/>
            <a:ext cx="76539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70237" y="1580852"/>
            <a:ext cx="7653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+0.07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2870237" y="1685627"/>
            <a:ext cx="765399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R²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≥0.62 (월)</a:t>
            </a:r>
            <a:endParaRPr lang="en-US" sz="500" dirty="0"/>
          </a:p>
        </p:txBody>
      </p:sp>
      <p:sp>
        <p:nvSpPr>
          <p:cNvPr id="39" name="Text 37"/>
          <p:cNvSpPr/>
          <p:nvPr/>
        </p:nvSpPr>
        <p:spPr>
          <a:xfrm>
            <a:off x="3666232" y="1446014"/>
            <a:ext cx="591889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770372" y="1515814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4.85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70372" y="1680865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월오전</a:t>
            </a:r>
            <a:endParaRPr lang="en-US" sz="550" dirty="0"/>
          </a:p>
        </p:txBody>
      </p:sp>
      <p:sp>
        <p:nvSpPr>
          <p:cNvPr id="42" name="Text 40"/>
          <p:cNvSpPr/>
          <p:nvPr/>
        </p:nvSpPr>
        <p:spPr>
          <a:xfrm>
            <a:off x="4288716" y="1441103"/>
            <a:ext cx="765551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88716" y="1580852"/>
            <a:ext cx="7655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288716" y="1685627"/>
            <a:ext cx="765551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 Acc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≥57% (월)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5084862" y="1446014"/>
            <a:ext cx="591889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89001" y="1515814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189001" y="1680865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월오후</a:t>
            </a:r>
            <a:endParaRPr lang="en-US" sz="550" dirty="0"/>
          </a:p>
        </p:txBody>
      </p:sp>
      <p:sp>
        <p:nvSpPr>
          <p:cNvPr id="48" name="Text 46"/>
          <p:cNvSpPr/>
          <p:nvPr/>
        </p:nvSpPr>
        <p:spPr>
          <a:xfrm>
            <a:off x="2213461" y="1901577"/>
            <a:ext cx="3497580" cy="12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247751" y="2084189"/>
            <a:ext cx="591889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351891" y="2153989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2351891" y="2319040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월달성</a:t>
            </a:r>
            <a:endParaRPr lang="en-US" sz="550" dirty="0"/>
          </a:p>
        </p:txBody>
      </p:sp>
      <p:sp>
        <p:nvSpPr>
          <p:cNvPr id="52" name="Text 50"/>
          <p:cNvSpPr/>
          <p:nvPr/>
        </p:nvSpPr>
        <p:spPr>
          <a:xfrm>
            <a:off x="2870198" y="2079278"/>
            <a:ext cx="769346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870198" y="2219027"/>
            <a:ext cx="76934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2870198" y="2323802"/>
            <a:ext cx="769346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PR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검증완료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3670102" y="2084189"/>
            <a:ext cx="591889" cy="399901"/>
          </a:xfrm>
          <a:prstGeom prst="roundRect">
            <a:avLst>
              <a:gd name="adj" fmla="val 15879"/>
            </a:avLst>
          </a:prstGeom>
          <a:solidFill>
            <a:srgbClr val="16213E"/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774241" y="2153989"/>
            <a:ext cx="38361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4.95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3774241" y="2319040"/>
            <a:ext cx="38361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주</a:t>
            </a:r>
            <a:endParaRPr lang="en-US" sz="550" dirty="0"/>
          </a:p>
        </p:txBody>
      </p:sp>
      <p:sp>
        <p:nvSpPr>
          <p:cNvPr id="58" name="Text 56"/>
          <p:cNvSpPr/>
          <p:nvPr/>
        </p:nvSpPr>
        <p:spPr>
          <a:xfrm>
            <a:off x="4292547" y="2079278"/>
            <a:ext cx="769498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11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4292547" y="2219027"/>
            <a:ext cx="7694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+0.05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292547" y="2323802"/>
            <a:ext cx="769498" cy="165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</a:t>
            </a:r>
            <a:endParaRPr lang="en-US" sz="500" dirty="0"/>
          </a:p>
          <a:p>
            <a:pPr algn="ctr" indent="0" marL="0">
              <a:lnSpc>
                <a:spcPts val="650"/>
              </a:lnSpc>
              <a:buNone/>
            </a:pPr>
            <a:r>
              <a:rPr lang="en-US" sz="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시연 성공</a:t>
            </a:r>
            <a:endParaRPr lang="en-US" sz="500" dirty="0"/>
          </a:p>
        </p:txBody>
      </p:sp>
      <p:sp>
        <p:nvSpPr>
          <p:cNvPr id="61" name="Text 59"/>
          <p:cNvSpPr/>
          <p:nvPr/>
        </p:nvSpPr>
        <p:spPr>
          <a:xfrm>
            <a:off x="5092601" y="2088952"/>
            <a:ext cx="584150" cy="390376"/>
          </a:xfrm>
          <a:prstGeom prst="roundRect">
            <a:avLst>
              <a:gd name="adj" fmla="val 16266"/>
            </a:avLst>
          </a:prstGeom>
          <a:solidFill>
            <a:srgbClr val="001500"/>
          </a:solidFill>
          <a:ln w="19050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196818" y="2158752"/>
            <a:ext cx="3757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5.0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96818" y="2323802"/>
            <a:ext cx="3757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5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</a:t>
            </a:r>
            <a:endParaRPr lang="en-US" sz="550" dirty="0"/>
          </a:p>
        </p:txBody>
      </p:sp>
      <p:sp>
        <p:nvSpPr>
          <p:cNvPr id="64" name="Text 62"/>
          <p:cNvSpPr/>
          <p:nvPr/>
        </p:nvSpPr>
        <p:spPr>
          <a:xfrm>
            <a:off x="2247751" y="2577852"/>
            <a:ext cx="3429000" cy="408384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2266801" y="2577852"/>
            <a:ext cx="0" cy="408384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400151" y="2654052"/>
            <a:ext cx="3225546" cy="255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7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“일요일까지 6일. 데이터도 인터넷도 필요 없습니다. 오늘 오전에 완성하십시오.” </a:t>
            </a:r>
            <a:pPr algn="l" indent="0" marL="0">
              <a:lnSpc>
                <a:spcPts val="1007"/>
              </a:lnSpc>
              <a:buNone/>
            </a:pPr>
            <a:r>
              <a:rPr lang="en-US" sz="65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김태현</a:t>
            </a:r>
            <a:endParaRPr lang="en-US" sz="650" dirty="0"/>
          </a:p>
        </p:txBody>
      </p:sp>
      <p:sp>
        <p:nvSpPr>
          <p:cNvPr id="67" name="Text 65"/>
          <p:cNvSpPr/>
          <p:nvPr/>
        </p:nvSpPr>
        <p:spPr>
          <a:xfrm>
            <a:off x="5803702" y="564952"/>
            <a:ext cx="312216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누적 달성 하이라이트 (05-12~05-17)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803702" y="761702"/>
            <a:ext cx="3060948" cy="395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803702" y="799654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994053" y="799654"/>
            <a:ext cx="20312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P3 강등권 예측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8048923" y="818704"/>
            <a:ext cx="4112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 100%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8515499" y="787003"/>
            <a:ext cx="349151" cy="149126"/>
          </a:xfrm>
          <a:prstGeom prst="roundRect">
            <a:avLst>
              <a:gd name="adj" fmla="val 25549"/>
            </a:avLst>
          </a:prstGeom>
          <a:solidFill>
            <a:srgbClr val="001A16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8575774" y="809179"/>
            <a:ext cx="2331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5803702" y="1034207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994053" y="1034207"/>
            <a:ext cx="20470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P4 MVP 스코어링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8064401" y="1053257"/>
            <a:ext cx="3954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 0.9987</a:t>
            </a:r>
            <a:endParaRPr lang="en-US" sz="600" dirty="0"/>
          </a:p>
        </p:txBody>
      </p:sp>
      <p:sp>
        <p:nvSpPr>
          <p:cNvPr id="77" name="Text 75"/>
          <p:cNvSpPr/>
          <p:nvPr/>
        </p:nvSpPr>
        <p:spPr>
          <a:xfrm>
            <a:off x="8515499" y="1021556"/>
            <a:ext cx="349151" cy="149126"/>
          </a:xfrm>
          <a:prstGeom prst="roundRect">
            <a:avLst>
              <a:gd name="adj" fmla="val 25549"/>
            </a:avLst>
          </a:prstGeom>
          <a:solidFill>
            <a:srgbClr val="001A16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8575774" y="1043732"/>
            <a:ext cx="2331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5803702" y="1268760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5994053" y="1268760"/>
            <a:ext cx="206059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 선수 종합 레이팅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8077646" y="1287810"/>
            <a:ext cx="3819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0.9093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8515499" y="1256109"/>
            <a:ext cx="349151" cy="149126"/>
          </a:xfrm>
          <a:prstGeom prst="roundRect">
            <a:avLst>
              <a:gd name="adj" fmla="val 25549"/>
            </a:avLst>
          </a:prstGeom>
          <a:solidFill>
            <a:srgbClr val="001A16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8575774" y="1278285"/>
            <a:ext cx="23317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최우수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5803702" y="1503313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994053" y="1503313"/>
            <a:ext cx="21383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 시즌 득점 예측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8153846" y="1522363"/>
            <a:ext cx="3819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0.8877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8591699" y="1490663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8651974" y="1512838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5803702" y="1737866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994053" y="1737866"/>
            <a:ext cx="21383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 시장가치 예측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8153846" y="1756916"/>
            <a:ext cx="3819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0.8734</a:t>
            </a:r>
            <a:endParaRPr lang="en-US" sz="600" dirty="0"/>
          </a:p>
        </p:txBody>
      </p:sp>
      <p:sp>
        <p:nvSpPr>
          <p:cNvPr id="92" name="Text 90"/>
          <p:cNvSpPr/>
          <p:nvPr/>
        </p:nvSpPr>
        <p:spPr>
          <a:xfrm>
            <a:off x="8591699" y="1725216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8651974" y="1747391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94" name="Text 92"/>
          <p:cNvSpPr/>
          <p:nvPr/>
        </p:nvSpPr>
        <p:spPr>
          <a:xfrm>
            <a:off x="5803702" y="197241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5994053" y="1972419"/>
            <a:ext cx="213832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포지션별 시장가치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8153846" y="1991469"/>
            <a:ext cx="38194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 0.8812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8591699" y="1959769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8651974" y="1981944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99" name="Text 97"/>
          <p:cNvSpPr/>
          <p:nvPr/>
        </p:nvSpPr>
        <p:spPr>
          <a:xfrm>
            <a:off x="5803702" y="2206972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5994053" y="2206972"/>
            <a:ext cx="210492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 이적 적응 예측</a:t>
            </a:r>
            <a:endParaRPr lang="en-US" sz="700" dirty="0"/>
          </a:p>
        </p:txBody>
      </p:sp>
      <p:sp>
        <p:nvSpPr>
          <p:cNvPr id="101" name="Text 99"/>
          <p:cNvSpPr/>
          <p:nvPr/>
        </p:nvSpPr>
        <p:spPr>
          <a:xfrm>
            <a:off x="8121104" y="2226022"/>
            <a:ext cx="4153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 88.23%</a:t>
            </a:r>
            <a:endParaRPr lang="en-US" sz="600" dirty="0"/>
          </a:p>
        </p:txBody>
      </p:sp>
      <p:sp>
        <p:nvSpPr>
          <p:cNvPr id="102" name="Text 100"/>
          <p:cNvSpPr/>
          <p:nvPr/>
        </p:nvSpPr>
        <p:spPr>
          <a:xfrm>
            <a:off x="8591699" y="2194322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200"/>
          </a:solidFill>
          <a:ln w="9525">
            <a:solidFill>
              <a:srgbClr val="2ECC7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3" name="Text 101"/>
          <p:cNvSpPr/>
          <p:nvPr/>
        </p:nvSpPr>
        <p:spPr>
          <a:xfrm>
            <a:off x="8651974" y="2216497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2ECC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우수</a:t>
            </a:r>
            <a:endParaRPr lang="en-US" sz="600" dirty="0"/>
          </a:p>
        </p:txBody>
      </p:sp>
      <p:sp>
        <p:nvSpPr>
          <p:cNvPr id="104" name="Text 102"/>
          <p:cNvSpPr/>
          <p:nvPr/>
        </p:nvSpPr>
        <p:spPr>
          <a:xfrm>
            <a:off x="5803702" y="2441525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994053" y="2441525"/>
            <a:ext cx="203266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16페이지</a:t>
            </a:r>
            <a:endParaRPr lang="en-US" sz="700" dirty="0"/>
          </a:p>
        </p:txBody>
      </p:sp>
      <p:sp>
        <p:nvSpPr>
          <p:cNvPr id="106" name="Text 104"/>
          <p:cNvSpPr/>
          <p:nvPr/>
        </p:nvSpPr>
        <p:spPr>
          <a:xfrm>
            <a:off x="8050262" y="2451050"/>
            <a:ext cx="4875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9개</a:t>
            </a:r>
            <a:endParaRPr lang="en-US" sz="600" dirty="0"/>
          </a:p>
        </p:txBody>
      </p:sp>
      <p:sp>
        <p:nvSpPr>
          <p:cNvPr id="107" name="Text 105"/>
          <p:cNvSpPr/>
          <p:nvPr/>
        </p:nvSpPr>
        <p:spPr>
          <a:xfrm>
            <a:off x="8591699" y="2428875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020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8" name="Text 106"/>
          <p:cNvSpPr/>
          <p:nvPr/>
        </p:nvSpPr>
        <p:spPr>
          <a:xfrm>
            <a:off x="8651974" y="2451050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600" dirty="0"/>
          </a:p>
        </p:txBody>
      </p:sp>
      <p:sp>
        <p:nvSpPr>
          <p:cNvPr id="109" name="Text 107"/>
          <p:cNvSpPr/>
          <p:nvPr/>
        </p:nvSpPr>
        <p:spPr>
          <a:xfrm>
            <a:off x="5803702" y="2676079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994053" y="2676079"/>
            <a:ext cx="22658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P7 train_v5_1.py 코드</a:t>
            </a:r>
            <a:endParaRPr lang="en-US" sz="700" dirty="0"/>
          </a:p>
        </p:txBody>
      </p:sp>
      <p:sp>
        <p:nvSpPr>
          <p:cNvPr id="111" name="Text 109"/>
          <p:cNvSpPr/>
          <p:nvPr/>
        </p:nvSpPr>
        <p:spPr>
          <a:xfrm>
            <a:off x="8278862" y="2685604"/>
            <a:ext cx="2544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50피처</a:t>
            </a:r>
            <a:endParaRPr lang="en-US" sz="600" dirty="0"/>
          </a:p>
        </p:txBody>
      </p:sp>
      <p:sp>
        <p:nvSpPr>
          <p:cNvPr id="112" name="Text 110"/>
          <p:cNvSpPr/>
          <p:nvPr/>
        </p:nvSpPr>
        <p:spPr>
          <a:xfrm>
            <a:off x="8591699" y="2663428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020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Text 111"/>
          <p:cNvSpPr/>
          <p:nvPr/>
        </p:nvSpPr>
        <p:spPr>
          <a:xfrm>
            <a:off x="8651974" y="2685604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600" dirty="0"/>
          </a:p>
        </p:txBody>
      </p:sp>
      <p:sp>
        <p:nvSpPr>
          <p:cNvPr id="114" name="Text 112"/>
          <p:cNvSpPr/>
          <p:nvPr/>
        </p:nvSpPr>
        <p:spPr>
          <a:xfrm>
            <a:off x="5803702" y="2910632"/>
            <a:ext cx="12948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5994053" y="2910632"/>
            <a:ext cx="213877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원인 규명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8154293" y="2920157"/>
            <a:ext cx="3814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data/ 환경</a:t>
            </a:r>
            <a:endParaRPr lang="en-US" sz="600" dirty="0"/>
          </a:p>
        </p:txBody>
      </p:sp>
      <p:sp>
        <p:nvSpPr>
          <p:cNvPr id="117" name="Text 115"/>
          <p:cNvSpPr/>
          <p:nvPr/>
        </p:nvSpPr>
        <p:spPr>
          <a:xfrm>
            <a:off x="8591699" y="2897981"/>
            <a:ext cx="272951" cy="149126"/>
          </a:xfrm>
          <a:prstGeom prst="roundRect">
            <a:avLst>
              <a:gd name="adj" fmla="val 25549"/>
            </a:avLst>
          </a:prstGeom>
          <a:solidFill>
            <a:srgbClr val="001020"/>
          </a:solidFill>
          <a:ln w="9525">
            <a:solidFill>
              <a:srgbClr val="58A6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8" name="Text 116"/>
          <p:cNvSpPr/>
          <p:nvPr/>
        </p:nvSpPr>
        <p:spPr>
          <a:xfrm>
            <a:off x="8651974" y="2920157"/>
            <a:ext cx="1554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달성</a:t>
            </a:r>
            <a:endParaRPr lang="en-US" sz="600" dirty="0"/>
          </a:p>
        </p:txBody>
      </p:sp>
      <p:sp>
        <p:nvSpPr>
          <p:cNvPr id="119" name="Text 117"/>
          <p:cNvSpPr/>
          <p:nvPr/>
        </p:nvSpPr>
        <p:spPr>
          <a:xfrm>
            <a:off x="279350" y="4807148"/>
            <a:ext cx="8585299" cy="234851"/>
          </a:xfrm>
          <a:prstGeom prst="rect">
            <a:avLst/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0" name="Shape 118"/>
          <p:cNvSpPr/>
          <p:nvPr/>
        </p:nvSpPr>
        <p:spPr>
          <a:xfrm>
            <a:off x="279350" y="4811911"/>
            <a:ext cx="8585299" cy="0"/>
          </a:xfrm>
          <a:prstGeom prst="line">
            <a:avLst/>
          </a:prstGeom>
          <a:noFill/>
          <a:ln w="9525">
            <a:solidFill>
              <a:srgbClr val="1E2530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06301" y="4867424"/>
            <a:ext cx="38663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오전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demo_script 완성 → </a:t>
            </a:r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P7+P1 로컬 학습 → </a:t>
            </a:r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목요일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영입 회의 시연 성공 → 5.0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6693843" y="4867424"/>
            <a:ext cx="20847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노팅엄·브렌트포드 · 30~50M£ · </a:t>
            </a:r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05-21 영입 회의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0" y="0"/>
            <a:ext cx="3048000" cy="38100"/>
          </a:xfrm>
          <a:prstGeom prst="rect">
            <a:avLst/>
          </a:prstGeom>
          <a:solidFill>
            <a:srgbClr val="00D26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0" y="0"/>
            <a:ext cx="3048000" cy="38100"/>
          </a:xfrm>
          <a:prstGeom prst="rect">
            <a:avLst/>
          </a:prstGeom>
          <a:solidFill>
            <a:srgbClr val="F5A62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9350" y="228451"/>
            <a:ext cx="46226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대시보드 현황 — </a:t>
            </a:r>
            <a:pPr algn="l"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· 즉시 활용 9개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36866" y="323701"/>
            <a:ext cx="2068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S1→S2→P8→P6→S6 시연 루트 · 한 후보당 약 5분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279350" y="564952"/>
            <a:ext cx="2785467" cy="825252"/>
          </a:xfrm>
          <a:prstGeom prst="roundRect">
            <a:avLst>
              <a:gd name="adj" fmla="val 923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9350" y="584002"/>
            <a:ext cx="2785467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5027" y="691902"/>
            <a:ext cx="2634115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5027" y="1060103"/>
            <a:ext cx="263411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페이지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55027" y="1196578"/>
            <a:ext cx="263411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배포 완료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179118" y="564952"/>
            <a:ext cx="2785616" cy="825252"/>
          </a:xfrm>
          <a:prstGeom prst="roundRect">
            <a:avLst>
              <a:gd name="adj" fmla="val 923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179118" y="584002"/>
            <a:ext cx="2785616" cy="0"/>
          </a:xfrm>
          <a:prstGeom prst="line">
            <a:avLst/>
          </a:prstGeom>
          <a:noFill/>
          <a:ln w="38100">
            <a:solidFill>
              <a:srgbClr val="00D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4792" y="691902"/>
            <a:ext cx="263426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54792" y="1060103"/>
            <a:ext cx="2634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활용 가능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254792" y="1196578"/>
            <a:ext cx="26342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S1, P4, P6, S2, P8, P3, P2, S3, S6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079034" y="564952"/>
            <a:ext cx="2785616" cy="825252"/>
          </a:xfrm>
          <a:prstGeom prst="roundRect">
            <a:avLst>
              <a:gd name="adj" fmla="val 9234"/>
            </a:avLst>
          </a:prstGeom>
          <a:solidFill>
            <a:srgbClr val="1621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079034" y="584002"/>
            <a:ext cx="2785616" cy="0"/>
          </a:xfrm>
          <a:prstGeom prst="line">
            <a:avLst/>
          </a:prstGeom>
          <a:noFill/>
          <a:ln w="381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4708" y="691902"/>
            <a:ext cx="263426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54708" y="1060103"/>
            <a:ext cx="26342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월요일 확정 예정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154708" y="1196578"/>
            <a:ext cx="26342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— 월요일 로컬 학습 결과 반영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79350" y="1479054"/>
            <a:ext cx="23963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메뉴 16개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279350" y="1688455"/>
            <a:ext cx="1143000" cy="26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361801" y="1713756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61801" y="1910358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즉시 분석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361801" y="2106960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나의 쇼트리스트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361801" y="2303562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인텔리전스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361801" y="2500164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스카우트 개요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361801" y="2696766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분석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361801" y="2893368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인텔리전스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361801" y="3089970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강등권 탐색기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1485751" y="1688455"/>
            <a:ext cx="1143000" cy="268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568202" y="1713756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 저평가 탐색기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1568202" y="1910358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팀 프로파일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1568202" y="2106960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통계 순위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568202" y="2303562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시즌 개요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1568202" y="2500164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비교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1568202" y="2696766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역대 기록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1568202" y="2893368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설명 (SHAP)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1568202" y="3089970"/>
            <a:ext cx="101709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유형 탐색기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2743051" y="1479054"/>
            <a:ext cx="62440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시연 루트 — 한 후보당 약 5분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43051" y="1688455"/>
            <a:ext cx="1082129" cy="2373213"/>
          </a:xfrm>
          <a:prstGeom prst="roundRect">
            <a:avLst>
              <a:gd name="adj" fmla="val 7042"/>
            </a:avLst>
          </a:prstGeom>
          <a:solidFill>
            <a:srgbClr val="F5A623">
              <a:alpha val="8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829385" y="1796355"/>
            <a:ext cx="909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2829385" y="1967805"/>
            <a:ext cx="909462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S1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선수 종합 레이팅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829385" y="2280047"/>
            <a:ext cx="909462" cy="142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선수가 EPL 수준에서 얼마나 뛰어난가?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829385" y="3744218"/>
            <a:ext cx="9094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R²=0.9093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MAE=4.66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3839468" y="2775049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002881" y="1688455"/>
            <a:ext cx="1082278" cy="2373213"/>
          </a:xfrm>
          <a:prstGeom prst="roundRect">
            <a:avLst>
              <a:gd name="adj" fmla="val 7041"/>
            </a:avLst>
          </a:prstGeom>
          <a:solidFill>
            <a:srgbClr val="F5A623">
              <a:alpha val="8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089213" y="1796355"/>
            <a:ext cx="90961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089213" y="1967805"/>
            <a:ext cx="909614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S2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저평가 탐색기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089213" y="2280047"/>
            <a:ext cx="909614" cy="142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시장에서 저평가된 타깃이 있는가?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089213" y="3744218"/>
            <a:ext cx="90961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R²=0.8812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MAE=£3.23M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099447" y="2775049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262860" y="1688455"/>
            <a:ext cx="1082129" cy="2373213"/>
          </a:xfrm>
          <a:prstGeom prst="roundRect">
            <a:avLst>
              <a:gd name="adj" fmla="val 7042"/>
            </a:avLst>
          </a:prstGeom>
          <a:solidFill>
            <a:srgbClr val="F5A623">
              <a:alpha val="8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349194" y="1796355"/>
            <a:ext cx="909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349194" y="1967805"/>
            <a:ext cx="909462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P8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이적 적응 예측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49194" y="2280047"/>
            <a:ext cx="909462" cy="142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구단에서 바로 적응할 수 있는가?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349194" y="3744218"/>
            <a:ext cx="9094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AUC=0.6612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F1=88.23%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59277" y="2775049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522690" y="1688455"/>
            <a:ext cx="1082129" cy="2373213"/>
          </a:xfrm>
          <a:prstGeom prst="roundRect">
            <a:avLst>
              <a:gd name="adj" fmla="val 7042"/>
            </a:avLst>
          </a:prstGeom>
          <a:solidFill>
            <a:srgbClr val="F5A623">
              <a:alpha val="8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609024" y="1796355"/>
            <a:ext cx="909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609024" y="1967805"/>
            <a:ext cx="909462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P6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시장가치 확인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609024" y="2280047"/>
            <a:ext cx="909462" cy="142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적정 이적료는 얼마인가?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6609024" y="3744218"/>
            <a:ext cx="9094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R²=0.8734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MAE=£3.28M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7619107" y="2775049"/>
            <a:ext cx="151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782520" y="1688455"/>
            <a:ext cx="1082129" cy="2373213"/>
          </a:xfrm>
          <a:prstGeom prst="roundRect">
            <a:avLst>
              <a:gd name="adj" fmla="val 7042"/>
            </a:avLst>
          </a:prstGeom>
          <a:solidFill>
            <a:srgbClr val="F5A623">
              <a:alpha val="8000"/>
            </a:srgbClr>
          </a:solidFill>
          <a:ln w="19050">
            <a:solidFill>
              <a:srgbClr val="F5A62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7868854" y="1796355"/>
            <a:ext cx="9094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868854" y="1967805"/>
            <a:ext cx="909462" cy="27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S6</a:t>
            </a:r>
            <a:endParaRPr lang="en-US" sz="900" dirty="0"/>
          </a:p>
          <a:p>
            <a:pPr algn="ctr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하락세 리스크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868854" y="2280047"/>
            <a:ext cx="909462" cy="1426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 2~3년 부상·하락 리스크는?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7868854" y="3744218"/>
            <a:ext cx="90946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AUC=0.8324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F1=61.74%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2743051" y="4125069"/>
            <a:ext cx="2802434" cy="244376"/>
          </a:xfrm>
          <a:prstGeom prst="roundRect">
            <a:avLst>
              <a:gd name="adj" fmla="val 20788"/>
            </a:avLst>
          </a:prstGeom>
          <a:solidFill>
            <a:srgbClr val="0F346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2879527" y="4185345"/>
            <a:ext cx="25800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대상 클럽 | </a:t>
            </a:r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노팅엄 포레스트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pPr algn="l" indent="0" marL="0">
              <a:buNone/>
            </a:pPr>
            <a:r>
              <a:rPr lang="en-US" sz="700" b="1" dirty="0">
                <a:solidFill>
                  <a:srgbClr val="E8EA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브렌트포드</a:t>
            </a:r>
            <a:pPr algn="l"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| 예산 </a:t>
            </a:r>
            <a:pPr algn="l" indent="0" marL="0">
              <a:buNone/>
            </a:pPr>
            <a:r>
              <a:rPr lang="en-US" sz="700" b="1" dirty="0">
                <a:solidFill>
                  <a:srgbClr val="F5A62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30~50M£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5621685" y="4125069"/>
            <a:ext cx="1655118" cy="244376"/>
          </a:xfrm>
          <a:prstGeom prst="roundRect">
            <a:avLst>
              <a:gd name="adj" fmla="val 20788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758160" y="4185345"/>
            <a:ext cx="14098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P1·P7 달성 시 즉시 활용 → 11개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79350" y="4458295"/>
            <a:ext cx="8585299" cy="583704"/>
          </a:xfrm>
          <a:prstGeom prst="roundRect">
            <a:avLst>
              <a:gd name="adj" fmla="val 10879"/>
            </a:avLst>
          </a:prstGeom>
          <a:solidFill>
            <a:srgbClr val="0F3460"/>
          </a:solidFill>
          <a:ln w="9525">
            <a:solidFill>
              <a:srgbClr val="1A4A8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441275" y="4608909"/>
            <a:ext cx="537343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58A6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STREAMLIT CLOUD — 즉시 접속 가능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441275" y="4758035"/>
            <a:ext cx="5373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945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https://epl-scouting-report-dashboard-project-ffyb8msh6uafxyyg8txsm8.streamlit.app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571333" y="4544020"/>
            <a:ext cx="1131391" cy="412254"/>
          </a:xfrm>
          <a:prstGeom prst="roundRect">
            <a:avLst>
              <a:gd name="adj" fmla="val 15403"/>
            </a:avLst>
          </a:prstGeom>
          <a:solidFill>
            <a:srgbClr val="001A10"/>
          </a:solidFill>
          <a:ln w="9525">
            <a:solidFill>
              <a:srgbClr val="00D26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7"/>
          <p:cNvSpPr/>
          <p:nvPr/>
        </p:nvSpPr>
        <p:spPr>
          <a:xfrm>
            <a:off x="7725183" y="4616946"/>
            <a:ext cx="82369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16페이지 배포 완료</a:t>
            </a:r>
            <a:endParaRPr lang="en-US" sz="700" dirty="0"/>
          </a:p>
          <a:p>
            <a:pPr algn="ctr" indent="0" marL="0">
              <a:lnSpc>
                <a:spcPts val="1050"/>
              </a:lnSpc>
              <a:buNone/>
            </a:pPr>
            <a:r>
              <a:rPr lang="en-US" sz="700" dirty="0">
                <a:solidFill>
                  <a:srgbClr val="00D26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영입 회의 시연 준비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2026-05-17T00:29:11Z</dcterms:created>
  <dcterms:modified xsi:type="dcterms:W3CDTF">2026-05-17T00:29:11Z</dcterms:modified>
</cp:coreProperties>
</file>