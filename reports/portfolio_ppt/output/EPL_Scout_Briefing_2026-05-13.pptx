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82501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0597" y="571351"/>
            <a:ext cx="141634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04900" y="528489"/>
            <a:ext cx="1626891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22번째 정기 미팅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04900" y="685354"/>
            <a:ext cx="1626891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50026" y="482501"/>
            <a:ext cx="1184374" cy="1031677"/>
          </a:xfrm>
          <a:prstGeom prst="roundRect">
            <a:avLst>
              <a:gd name="adj" fmla="val 12310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38868" y="603052"/>
            <a:ext cx="8066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538868" y="907852"/>
            <a:ext cx="8066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38868" y="1088827"/>
            <a:ext cx="8066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평가 점수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38868" y="1260277"/>
            <a:ext cx="8066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전일 대비 유지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37745" y="1771352"/>
            <a:ext cx="36683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  ·  DAILY BRIEFING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63631" y="2006203"/>
            <a:ext cx="3216590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데일리 브리핑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377904" y="2640955"/>
            <a:ext cx="238819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05월 13일 (수)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49293" y="3018681"/>
            <a:ext cx="20452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수요일 정기 미팅  ·  2026-05-13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41750" y="3342382"/>
            <a:ext cx="660350" cy="31700"/>
          </a:xfrm>
          <a:prstGeom prst="roundRect">
            <a:avLst>
              <a:gd name="adj" fmla="val 80126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76463" y="3526334"/>
            <a:ext cx="4790926" cy="791766"/>
          </a:xfrm>
          <a:prstGeom prst="roundRect">
            <a:avLst>
              <a:gd name="adj" fmla="val 12832"/>
            </a:avLst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176463" y="3535859"/>
            <a:ext cx="4790926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57864" y="3526334"/>
            <a:ext cx="0" cy="791766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76463" y="4308574"/>
            <a:ext cx="4790926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00275" y="3526334"/>
            <a:ext cx="0" cy="791766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03438" y="3697784"/>
            <a:ext cx="42488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"워크플로 yml 경로 한 줄 — 6일 연속 미달의 진짜 해법"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503438" y="3986659"/>
            <a:ext cx="42488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train_v5_1.py는 이미 완성돼 있었다. 오늘 워크플로 경로 한 줄만 바꾸면 된다.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37570" y="461813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089970" y="4575274"/>
            <a:ext cx="8532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</a:t>
            </a:r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스카우트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56633" y="461813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409033" y="4589562"/>
            <a:ext cx="18333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Analytics Agent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5118199"/>
            <a:ext cx="9144000" cy="25301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28451"/>
            <a:ext cx="437440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모델 성능 현황 </a:t>
            </a:r>
            <a:pPr algn="l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P1·P7 6일 연속 미달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174730" y="301675"/>
            <a:ext cx="677317" cy="203002"/>
          </a:xfrm>
          <a:prstGeom prst="roundRect">
            <a:avLst>
              <a:gd name="adj" fmla="val 125122"/>
            </a:avLst>
          </a:prstGeom>
          <a:solidFill>
            <a:srgbClr val="00E676">
              <a:alpha val="15000"/>
            </a:srgbClr>
          </a:solidFill>
          <a:ln w="9525">
            <a:solidFill>
              <a:srgbClr val="00E67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73105" y="336500"/>
            <a:ext cx="4901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 3개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915448" y="301675"/>
            <a:ext cx="582067" cy="203002"/>
          </a:xfrm>
          <a:prstGeom prst="roundRect">
            <a:avLst>
              <a:gd name="adj" fmla="val 125122"/>
            </a:avLst>
          </a:prstGeom>
          <a:solidFill>
            <a:srgbClr val="2ECC71">
              <a:alpha val="15000"/>
            </a:srgbClr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13823" y="336500"/>
            <a:ext cx="3930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초록 4개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560915" y="301675"/>
            <a:ext cx="582067" cy="203002"/>
          </a:xfrm>
          <a:prstGeom prst="roundRect">
            <a:avLst>
              <a:gd name="adj" fmla="val 125122"/>
            </a:avLst>
          </a:prstGeom>
          <a:solidFill>
            <a:srgbClr val="FFEB3B">
              <a:alpha val="12000"/>
            </a:srgbClr>
          </a:solidFill>
          <a:ln w="9525">
            <a:solidFill>
              <a:srgbClr val="FFEB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59291" y="336500"/>
            <a:ext cx="3930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EB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노랑 3개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06383" y="301675"/>
            <a:ext cx="582067" cy="203002"/>
          </a:xfrm>
          <a:prstGeom prst="roundRect">
            <a:avLst>
              <a:gd name="adj" fmla="val 125122"/>
            </a:avLst>
          </a:prstGeom>
          <a:solidFill>
            <a:srgbClr val="E94560">
              <a:alpha val="15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04758" y="336500"/>
            <a:ext cx="3930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빨강 2개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5550" y="4788247"/>
            <a:ext cx="8432899" cy="253752"/>
          </a:xfrm>
          <a:prstGeom prst="roundRect">
            <a:avLst>
              <a:gd name="adj" fmla="val 25024"/>
            </a:avLst>
          </a:prstGeom>
          <a:solidFill>
            <a:srgbClr val="16213E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9375" y="4848523"/>
            <a:ext cx="834895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train_v5_1.py 완성(05-09) — Actions yml이 여전히 train_v5.py 호출 · 경로 한 줄 수정으로 즉시 해결 |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elo_trend_3, form_elo_composite, RobustScaler 미적용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228451"/>
            <a:ext cx="44005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어제(05-12) 달성·미달 체크리스트 — </a:t>
            </a:r>
            <a:pPr algn="l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전원 미달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15050" y="323701"/>
            <a:ext cx="27786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액션아이템 전부 미달 — 워크플로 yml 경로 미수정이 직접 원인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04800" y="741164"/>
            <a:ext cx="4306193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800" y="564952"/>
            <a:ext cx="43923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A — 어제(05-12) 4개 전원 미달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04800" y="809327"/>
            <a:ext cx="4306193" cy="55304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04800" y="814090"/>
            <a:ext cx="4306193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6230" y="809327"/>
            <a:ext cx="0" cy="553045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4800" y="1357610"/>
            <a:ext cx="4306193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3850" y="809327"/>
            <a:ext cx="0" cy="553045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401" y="88225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0778" y="939403"/>
            <a:ext cx="97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1851" y="882253"/>
            <a:ext cx="32071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Actions 실행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61851" y="1040904"/>
            <a:ext cx="320717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train_v5.py 계속 호출, v5.1 미실행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(6일 연속)</a:t>
            </a:r>
            <a:pPr algn="l" indent="0" marL="0">
              <a:lnSpc>
                <a:spcPts val="980"/>
              </a:lnSpc>
              <a:buNone/>
            </a:pP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파일은 05-09 완성돼 있으나 yml 경로 미수정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994993" y="882253"/>
            <a:ext cx="504974" cy="183952"/>
          </a:xfrm>
          <a:prstGeom prst="roundRect">
            <a:avLst>
              <a:gd name="adj" fmla="val 62136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80718" y="917079"/>
            <a:ext cx="3401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6일 연속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04800" y="1425773"/>
            <a:ext cx="4306193" cy="55304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04800" y="1430536"/>
            <a:ext cx="4306193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06230" y="1425773"/>
            <a:ext cx="0" cy="553045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4800" y="1974056"/>
            <a:ext cx="4306193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3850" y="1425773"/>
            <a:ext cx="0" cy="553045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4401" y="149869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0778" y="1555849"/>
            <a:ext cx="97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1851" y="1498699"/>
            <a:ext cx="32071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train_pipeline.py 코드 직접 수정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61851" y="1657350"/>
            <a:ext cx="320717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피처 미추가, Acc 54.79% 동일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(6일 연속)</a:t>
            </a:r>
            <a:pPr algn="l" indent="0" marL="0">
              <a:lnSpc>
                <a:spcPts val="980"/>
              </a:lnSpc>
              <a:buNone/>
            </a:pP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elo_trend_3, form_elo_composite, RobustScaler 미적용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994993" y="1498699"/>
            <a:ext cx="504974" cy="183952"/>
          </a:xfrm>
          <a:prstGeom prst="roundRect">
            <a:avLst>
              <a:gd name="adj" fmla="val 62136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080718" y="1533525"/>
            <a:ext cx="3401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6일 연속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04800" y="2042220"/>
            <a:ext cx="4306193" cy="55304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04800" y="2046982"/>
            <a:ext cx="4306193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06230" y="2042220"/>
            <a:ext cx="0" cy="553045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4800" y="2590502"/>
            <a:ext cx="4306193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3850" y="2042220"/>
            <a:ext cx="0" cy="553045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4401" y="211514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10778" y="2172295"/>
            <a:ext cx="97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1851" y="2115145"/>
            <a:ext cx="3379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dev_result.json 판단 로직 강화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1851" y="2273796"/>
            <a:ext cx="337917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미수정 (내일로 이월)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05-12 dev_result.json 미생성 — Actions 실행 여부 불명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163616" y="2115145"/>
            <a:ext cx="336352" cy="183952"/>
          </a:xfrm>
          <a:prstGeom prst="roundRect">
            <a:avLst>
              <a:gd name="adj" fmla="val 62136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249341" y="2149971"/>
            <a:ext cx="168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이월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304800" y="2658666"/>
            <a:ext cx="4306193" cy="55304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304800" y="2663428"/>
            <a:ext cx="4306193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06230" y="2658666"/>
            <a:ext cx="0" cy="553045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4800" y="3206948"/>
            <a:ext cx="4306193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3850" y="2658666"/>
            <a:ext cx="0" cy="553045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4401" y="273159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10778" y="2788741"/>
            <a:ext cx="97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1851" y="2731591"/>
            <a:ext cx="3295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시연 스크립트 초안 작성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61851" y="2890242"/>
            <a:ext cx="329507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약속 미이행, 초안 미작성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S1→S2→P8→P6→S6 루트 설계 미착수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081165" y="2731591"/>
            <a:ext cx="418802" cy="183952"/>
          </a:xfrm>
          <a:prstGeom prst="roundRect">
            <a:avLst>
              <a:gd name="adj" fmla="val 62136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166890" y="2766417"/>
            <a:ext cx="2522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미착수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4737943" y="741164"/>
            <a:ext cx="4101257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7943" y="564952"/>
            <a:ext cx="41832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B — 핵심 원인 분석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737943" y="822127"/>
            <a:ext cx="4101257" cy="1002357"/>
          </a:xfrm>
          <a:prstGeom prst="roundRect">
            <a:avLst>
              <a:gd name="adj" fmla="val 7602"/>
            </a:avLst>
          </a:prstGeom>
          <a:solidFill>
            <a:srgbClr val="0F3460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874419" y="933152"/>
            <a:ext cx="39048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근본 원인: 워크플로 yml 경로 미수정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74419" y="1117253"/>
            <a:ext cx="390487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train_v5_1.py는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C0C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2026-05-09에 이미 완성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됐음</a:t>
            </a:r>
            <a:endParaRPr lang="en-US" sz="7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(FW/MID 포지션 분리 · Optuna 100 trials · positive=True 메타러너 포함)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874419" y="1447056"/>
            <a:ext cx="390487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Actions 워크플로 yml이 여전히 </a:t>
            </a:r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train_v5.py</a:t>
            </a:r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호출 —</a:t>
            </a:r>
            <a:endParaRPr lang="en-US" sz="700" dirty="0"/>
          </a:p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 완성 이후에도 워크플로 설정 4일간 미수정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737943" y="1900684"/>
            <a:ext cx="4101257" cy="647254"/>
          </a:xfrm>
          <a:prstGeom prst="roundRect">
            <a:avLst>
              <a:gd name="adj" fmla="val 11773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874419" y="1999059"/>
            <a:ext cx="39048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결론: yml 경로 한 줄로 즉시 해결 가능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874419" y="2183160"/>
            <a:ext cx="390487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train_v5.py →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경로 한 줄 수정</a:t>
            </a:r>
            <a:endParaRPr lang="en-US" sz="7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후 커밋 → 오늘 밤 Actions에서 v5.1 최초 실행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737943" y="2624138"/>
            <a:ext cx="41832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C — 타임라인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737943" y="281136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001200"/>
          </a:solidFill>
          <a:ln w="19050">
            <a:solidFill>
              <a:srgbClr val="00E67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928295" y="2812703"/>
            <a:ext cx="192609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2026-05-09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 파일 생성 완료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4795093" y="2989064"/>
            <a:ext cx="12650" cy="7620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737943" y="311601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1A10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928295" y="3117354"/>
            <a:ext cx="312960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05-09~05-12 (4일간)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Actions이 train_v5.py 계속 호출, v5.1 미실행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795093" y="3293715"/>
            <a:ext cx="12650" cy="7620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737943" y="3420666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928295" y="3422005"/>
            <a:ext cx="346479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2026-05-13 오전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 경로 수정 예정 (오늘 커밋 후 오늘 밤 v5.1 최초 실행)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304800" y="4753273"/>
            <a:ext cx="8534400" cy="288727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304800" y="4762798"/>
            <a:ext cx="85344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1750" y="4835723"/>
            <a:ext cx="84461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0C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6일 연속 P7 미달의 진짜 원인은 코드가 아니라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 yml 경로 한 줄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0C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이었다 — 오늘 오전 수정으로 즉시 해결 가능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228451"/>
            <a:ext cx="46731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액션아이템 Top 3 — </a:t>
            </a:r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 경로 수정 오전 필수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71741" y="323701"/>
            <a:ext cx="28228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1순위 yml 경로(오전) · 2순위 P1 코드(오전) · 3순위 시연 초안(오후)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04800" y="564952"/>
            <a:ext cx="2777133" cy="3969097"/>
          </a:xfrm>
          <a:prstGeom prst="roundRect">
            <a:avLst>
              <a:gd name="adj" fmla="val 365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584002"/>
            <a:ext cx="2777133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72408" y="564952"/>
            <a:ext cx="0" cy="3969097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4800" y="4524524"/>
            <a:ext cx="2777133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4325" y="564952"/>
            <a:ext cx="0" cy="3969097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44080" y="704552"/>
            <a:ext cx="317302" cy="164902"/>
          </a:xfrm>
          <a:prstGeom prst="roundRect">
            <a:avLst>
              <a:gd name="adj" fmla="val 69314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20280" y="729853"/>
            <a:ext cx="168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50800" y="730002"/>
            <a:ext cx="1126182" cy="193477"/>
          </a:xfrm>
          <a:prstGeom prst="roundRect">
            <a:avLst>
              <a:gd name="adj" fmla="val 59077"/>
            </a:avLst>
          </a:prstGeom>
          <a:solidFill>
            <a:srgbClr val="1E16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1826" y="764828"/>
            <a:ext cx="9222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1순위 — 오전 (긴급)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0800" y="974229"/>
            <a:ext cx="25348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0800" y="1129754"/>
            <a:ext cx="253483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Actions P7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 경로 수정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0800" y="1513880"/>
            <a:ext cx="2485132" cy="350044"/>
          </a:xfrm>
          <a:prstGeom prst="roundRect">
            <a:avLst>
              <a:gd name="adj" fmla="val 1451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7000" y="1564630"/>
            <a:ext cx="237938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test R² 0.586 / val-test 갭 0.055
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목표까지 −0.034 미달 (6일 연속)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0800" y="1914674"/>
            <a:ext cx="598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R²=0.586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349252" y="1914674"/>
            <a:ext cx="598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R² ≥ 0.62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50800" y="2054275"/>
            <a:ext cx="2485132" cy="76200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0800" y="2054275"/>
            <a:ext cx="2348359" cy="76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0800" y="2181225"/>
            <a:ext cx="2485132" cy="1692920"/>
          </a:xfrm>
          <a:prstGeom prst="roundRect">
            <a:avLst>
              <a:gd name="adj" fmla="val 3001"/>
            </a:avLst>
          </a:prstGeom>
          <a:solidFill>
            <a:srgbClr val="0D1117"/>
          </a:solidFill>
          <a:ln w="9525">
            <a:solidFill>
              <a:srgbClr val="1E2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6525" y="2241500"/>
            <a:ext cx="23599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변경 (.github/workflows/)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536525" y="2381101"/>
            <a:ext cx="2313682" cy="37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30"/>
              </a:lnSpc>
              <a:spcAft>
                <a:spcPts val="100"/>
              </a:spcAft>
              <a:buSzPct val="100000"/>
              <a:buChar char="•"/>
            </a:pPr>
            <a:r>
              <a:rPr lang="en-US" sz="6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pPr algn="l" indent="0" marL="0">
              <a:lnSpc>
                <a:spcPts val="9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train_v5.py → train_v5_1.py (경로 한 줄)</a:t>
            </a:r>
            <a:endParaRPr lang="en-US" sz="600" dirty="0"/>
          </a:p>
          <a:p>
            <a:pPr algn="l" marL="342900" indent="-342900">
              <a:lnSpc>
                <a:spcPts val="930"/>
              </a:lnSpc>
              <a:spcAft>
                <a:spcPts val="100"/>
              </a:spcAft>
              <a:buSzPct val="100000"/>
              <a:buChar char="•"/>
            </a:pPr>
            <a:r>
              <a:rPr lang="en-US" sz="6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pPr algn="l" indent="0" marL="0">
              <a:lnSpc>
                <a:spcPts val="9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후 커밋 → 오늘 밤 v5.1 최초 실행</a:t>
            </a:r>
            <a:endParaRPr lang="en-US" sz="600" dirty="0"/>
          </a:p>
          <a:p>
            <a:pPr algn="l" marL="342900" indent="-342900">
              <a:lnSpc>
                <a:spcPts val="930"/>
              </a:lnSpc>
              <a:spcAft>
                <a:spcPts val="100"/>
              </a:spcAft>
              <a:buSzPct val="100000"/>
              <a:buChar char="•"/>
            </a:pPr>
            <a:r>
              <a:rPr lang="en-US" sz="6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pPr algn="l" indent="0" marL="0">
              <a:lnSpc>
                <a:spcPts val="9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FW/MID 포지션 분리 · Optuna 100 trials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50800" y="3924895"/>
            <a:ext cx="2485132" cy="244376"/>
          </a:xfrm>
          <a:prstGeom prst="roundRect">
            <a:avLst>
              <a:gd name="adj" fmla="val 20788"/>
            </a:avLst>
          </a:prstGeom>
          <a:solidFill>
            <a:srgbClr val="0D1A24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6525" y="3985171"/>
            <a:ext cx="23599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test R² ≥ 0.62 / val-test 갭 ≤ 0.07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0800" y="4220021"/>
            <a:ext cx="822127" cy="193477"/>
          </a:xfrm>
          <a:prstGeom prst="roundRect">
            <a:avLst>
              <a:gd name="adj" fmla="val 19692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3726" y="4254847"/>
            <a:ext cx="6898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 (긴급)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239863" y="4264372"/>
            <a:ext cx="7099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+0.07 → 4.92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183434" y="564952"/>
            <a:ext cx="2777133" cy="3969097"/>
          </a:xfrm>
          <a:prstGeom prst="roundRect">
            <a:avLst>
              <a:gd name="adj" fmla="val 365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183434" y="584002"/>
            <a:ext cx="2777133" cy="0"/>
          </a:xfrm>
          <a:prstGeom prst="line">
            <a:avLst/>
          </a:prstGeom>
          <a:noFill/>
          <a:ln w="38100">
            <a:solidFill>
              <a:srgbClr val="C0C0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51041" y="564952"/>
            <a:ext cx="0" cy="3969097"/>
          </a:xfrm>
          <a:prstGeom prst="line">
            <a:avLst/>
          </a:prstGeom>
          <a:noFill/>
          <a:ln w="19050">
            <a:solidFill>
              <a:srgbClr val="C0C0C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83434" y="4524524"/>
            <a:ext cx="2777133" cy="0"/>
          </a:xfrm>
          <a:prstGeom prst="line">
            <a:avLst/>
          </a:prstGeom>
          <a:noFill/>
          <a:ln w="19050">
            <a:solidFill>
              <a:srgbClr val="C0C0C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92959" y="564952"/>
            <a:ext cx="0" cy="3969097"/>
          </a:xfrm>
          <a:prstGeom prst="line">
            <a:avLst/>
          </a:prstGeom>
          <a:noFill/>
          <a:ln w="19050">
            <a:solidFill>
              <a:srgbClr val="C0C0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9434" y="730002"/>
            <a:ext cx="818555" cy="193477"/>
          </a:xfrm>
          <a:prstGeom prst="roundRect">
            <a:avLst>
              <a:gd name="adj" fmla="val 59077"/>
            </a:avLst>
          </a:prstGeom>
          <a:solidFill>
            <a:srgbClr val="141414"/>
          </a:solidFill>
          <a:ln w="9525">
            <a:solidFill>
              <a:srgbClr val="C0C0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440460" y="764828"/>
            <a:ext cx="6084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C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2순위 — 오전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329434" y="974229"/>
            <a:ext cx="25348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329434" y="1129754"/>
            <a:ext cx="253483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train_pipeline.py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피처 추가 직접 수정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329434" y="1513880"/>
            <a:ext cx="2485132" cy="350044"/>
          </a:xfrm>
          <a:prstGeom prst="roundRect">
            <a:avLst>
              <a:gd name="adj" fmla="val 1451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405634" y="1564630"/>
            <a:ext cx="237938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Acc 54.79% / F1 40.65%
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목표까지 −2.21%p 미달 (6일 연속)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329434" y="1914674"/>
            <a:ext cx="5156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54.79%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5172968" y="1914674"/>
            <a:ext cx="6544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Acc ≥ 57%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3329434" y="2054275"/>
            <a:ext cx="2485132" cy="76200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329434" y="2054275"/>
            <a:ext cx="2388096" cy="76200"/>
          </a:xfrm>
          <a:prstGeom prst="roundRect">
            <a:avLst>
              <a:gd name="adj" fmla="val 50000"/>
            </a:avLst>
          </a:prstGeom>
          <a:solidFill>
            <a:srgbClr val="C0C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329434" y="2181225"/>
            <a:ext cx="2485132" cy="1692920"/>
          </a:xfrm>
          <a:prstGeom prst="roundRect">
            <a:avLst>
              <a:gd name="adj" fmla="val 3001"/>
            </a:avLst>
          </a:prstGeom>
          <a:solidFill>
            <a:srgbClr val="0D1117"/>
          </a:solidFill>
          <a:ln w="9525">
            <a:solidFill>
              <a:srgbClr val="1E2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415159" y="2241500"/>
            <a:ext cx="23599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변경 (models/p1_match_result/train_pipeline.py)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3415159" y="2476351"/>
            <a:ext cx="2313682" cy="510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30"/>
              </a:lnSpc>
              <a:spcAft>
                <a:spcPts val="100"/>
              </a:spcAft>
              <a:buSzPct val="100000"/>
              <a:buChar char="•"/>
            </a:pPr>
            <a:r>
              <a:rPr lang="en-US" sz="6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pPr algn="l" indent="0" marL="0">
              <a:lnSpc>
                <a:spcPts val="9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elo_trend_3 = home_elo_pre.diff(3) 추가</a:t>
            </a:r>
            <a:endParaRPr lang="en-US" sz="600" dirty="0"/>
          </a:p>
          <a:p>
            <a:pPr algn="l" marL="342900" indent="-342900">
              <a:lnSpc>
                <a:spcPts val="930"/>
              </a:lnSpc>
              <a:spcAft>
                <a:spcPts val="100"/>
              </a:spcAft>
              <a:buSzPct val="100000"/>
              <a:buChar char="•"/>
            </a:pPr>
            <a:r>
              <a:rPr lang="en-US" sz="6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pPr algn="l" indent="0" marL="0">
              <a:lnSpc>
                <a:spcPts val="9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form_elo_composite = elo_diff * form_diff_5 추가</a:t>
            </a:r>
            <a:endParaRPr lang="en-US" sz="600" dirty="0"/>
          </a:p>
          <a:p>
            <a:pPr algn="l" marL="342900" indent="-342900">
              <a:lnSpc>
                <a:spcPts val="930"/>
              </a:lnSpc>
              <a:spcAft>
                <a:spcPts val="100"/>
              </a:spcAft>
              <a:buSzPct val="100000"/>
              <a:buChar char="•"/>
            </a:pPr>
            <a:r>
              <a:rPr lang="en-US" sz="6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pPr algn="l" indent="0" marL="0">
              <a:lnSpc>
                <a:spcPts val="9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StandardScaler → RobustScaler 교체</a:t>
            </a:r>
            <a:endParaRPr lang="en-US" sz="600" dirty="0"/>
          </a:p>
          <a:p>
            <a:pPr algn="l" marL="342900" indent="-342900">
              <a:lnSpc>
                <a:spcPts val="930"/>
              </a:lnSpc>
              <a:spcAft>
                <a:spcPts val="100"/>
              </a:spcAft>
              <a:buSzPct val="100000"/>
              <a:buChar char="•"/>
            </a:pPr>
            <a:r>
              <a:rPr lang="en-US" sz="6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pPr algn="l" indent="0" marL="0">
              <a:lnSpc>
                <a:spcPts val="9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n_estimators=600 / max_depth=5 / lr=0.03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329434" y="3924895"/>
            <a:ext cx="2485132" cy="244376"/>
          </a:xfrm>
          <a:prstGeom prst="roundRect">
            <a:avLst>
              <a:gd name="adj" fmla="val 20788"/>
            </a:avLst>
          </a:prstGeom>
          <a:solidFill>
            <a:srgbClr val="0D1A24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415159" y="3985171"/>
            <a:ext cx="23599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XGBoost test Acc ≥ 57%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329434" y="4220021"/>
            <a:ext cx="532209" cy="193477"/>
          </a:xfrm>
          <a:prstGeom prst="roundRect">
            <a:avLst>
              <a:gd name="adj" fmla="val 19692"/>
            </a:avLst>
          </a:prstGeom>
          <a:solidFill>
            <a:srgbClr val="141414"/>
          </a:solidFill>
          <a:ln w="9525">
            <a:solidFill>
              <a:srgbClr val="C0C0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402360" y="4254847"/>
            <a:ext cx="394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C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118497" y="4264372"/>
            <a:ext cx="7099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 → 4.97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062067" y="564952"/>
            <a:ext cx="2777133" cy="3969097"/>
          </a:xfrm>
          <a:prstGeom prst="roundRect">
            <a:avLst>
              <a:gd name="adj" fmla="val 365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6062067" y="584002"/>
            <a:ext cx="2777133" cy="0"/>
          </a:xfrm>
          <a:prstGeom prst="line">
            <a:avLst/>
          </a:prstGeom>
          <a:noFill/>
          <a:ln w="38100">
            <a:solidFill>
              <a:srgbClr val="CD7F3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29675" y="564952"/>
            <a:ext cx="0" cy="3969097"/>
          </a:xfrm>
          <a:prstGeom prst="line">
            <a:avLst/>
          </a:prstGeom>
          <a:noFill/>
          <a:ln w="19050">
            <a:solidFill>
              <a:srgbClr val="CD7F3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62067" y="4524524"/>
            <a:ext cx="2777133" cy="0"/>
          </a:xfrm>
          <a:prstGeom prst="line">
            <a:avLst/>
          </a:prstGeom>
          <a:noFill/>
          <a:ln w="19050">
            <a:solidFill>
              <a:srgbClr val="CD7F3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71592" y="564952"/>
            <a:ext cx="0" cy="3969097"/>
          </a:xfrm>
          <a:prstGeom prst="line">
            <a:avLst/>
          </a:prstGeom>
          <a:noFill/>
          <a:ln w="19050">
            <a:solidFill>
              <a:srgbClr val="CD7F3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08068" y="730002"/>
            <a:ext cx="818555" cy="193477"/>
          </a:xfrm>
          <a:prstGeom prst="roundRect">
            <a:avLst>
              <a:gd name="adj" fmla="val 59077"/>
            </a:avLst>
          </a:prstGeom>
          <a:solidFill>
            <a:srgbClr val="140E08"/>
          </a:solidFill>
          <a:ln w="9525">
            <a:solidFill>
              <a:srgbClr val="CD7F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319093" y="764828"/>
            <a:ext cx="6084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3순위 — 오후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208068" y="974229"/>
            <a:ext cx="25348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208068" y="1129754"/>
            <a:ext cx="253483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시연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 초안 작성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208068" y="1513880"/>
            <a:ext cx="2485132" cy="350044"/>
          </a:xfrm>
          <a:prstGeom prst="roundRect">
            <a:avLst>
              <a:gd name="adj" fmla="val 1451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284268" y="1564630"/>
            <a:ext cx="237938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초안 없음 (어제 미착수)
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 9개 준비 완료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208068" y="1914674"/>
            <a:ext cx="2485132" cy="1854696"/>
          </a:xfrm>
          <a:prstGeom prst="roundRect">
            <a:avLst>
              <a:gd name="adj" fmla="val 2739"/>
            </a:avLst>
          </a:prstGeom>
          <a:solidFill>
            <a:srgbClr val="0D1117"/>
          </a:solidFill>
          <a:ln w="9525">
            <a:solidFill>
              <a:srgbClr val="1E2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293793" y="1974949"/>
            <a:ext cx="23599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루트 (reports/portfolio_ppt/demo_script_draft.md)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293793" y="2209800"/>
            <a:ext cx="2313682" cy="640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30"/>
              </a:lnSpc>
              <a:spcAft>
                <a:spcPts val="100"/>
              </a:spcAft>
              <a:buSzPct val="100000"/>
              <a:buChar char="•"/>
            </a:pPr>
            <a:r>
              <a:rPr lang="en-US" sz="6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pPr algn="l" indent="0" marL="0">
              <a:lnSpc>
                <a:spcPts val="9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선수 종합 레이팅 → 역량 확인</a:t>
            </a:r>
            <a:endParaRPr lang="en-US" sz="600" dirty="0"/>
          </a:p>
          <a:p>
            <a:pPr algn="l" marL="342900" indent="-342900">
              <a:lnSpc>
                <a:spcPts val="930"/>
              </a:lnSpc>
              <a:spcAft>
                <a:spcPts val="100"/>
              </a:spcAft>
              <a:buSzPct val="100000"/>
              <a:buChar char="•"/>
            </a:pPr>
            <a:r>
              <a:rPr lang="en-US" sz="6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pPr algn="l" indent="0" marL="0">
              <a:lnSpc>
                <a:spcPts val="9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저평가 탐색기 → 시장 기회 발굴</a:t>
            </a:r>
            <a:endParaRPr lang="en-US" sz="600" dirty="0"/>
          </a:p>
          <a:p>
            <a:pPr algn="l" marL="342900" indent="-342900">
              <a:lnSpc>
                <a:spcPts val="930"/>
              </a:lnSpc>
              <a:spcAft>
                <a:spcPts val="100"/>
              </a:spcAft>
              <a:buSzPct val="100000"/>
              <a:buChar char="•"/>
            </a:pPr>
            <a:r>
              <a:rPr lang="en-US" sz="6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pPr algn="l" indent="0" marL="0">
              <a:lnSpc>
                <a:spcPts val="9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이적 적응 예측 → 즉시 전력화 확인</a:t>
            </a:r>
            <a:endParaRPr lang="en-US" sz="600" dirty="0"/>
          </a:p>
          <a:p>
            <a:pPr algn="l" marL="342900" indent="-342900">
              <a:lnSpc>
                <a:spcPts val="930"/>
              </a:lnSpc>
              <a:spcAft>
                <a:spcPts val="100"/>
              </a:spcAft>
              <a:buSzPct val="100000"/>
              <a:buChar char="•"/>
            </a:pPr>
            <a:r>
              <a:rPr lang="en-US" sz="6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pPr algn="l" indent="0" marL="0">
              <a:lnSpc>
                <a:spcPts val="9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시장가치 확인 → 적정 이적료 산정</a:t>
            </a:r>
            <a:endParaRPr lang="en-US" sz="600" dirty="0"/>
          </a:p>
          <a:p>
            <a:pPr algn="l" marL="342900" indent="-342900">
              <a:lnSpc>
                <a:spcPts val="930"/>
              </a:lnSpc>
              <a:spcAft>
                <a:spcPts val="100"/>
              </a:spcAft>
              <a:buSzPct val="100000"/>
              <a:buChar char="•"/>
            </a:pPr>
            <a:r>
              <a:rPr lang="en-US" sz="6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pPr algn="l" indent="0" marL="0">
              <a:lnSpc>
                <a:spcPts val="9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 하락세 리스크 → 향후 2~3년 전망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6208068" y="3820120"/>
            <a:ext cx="2485132" cy="349151"/>
          </a:xfrm>
          <a:prstGeom prst="roundRect">
            <a:avLst>
              <a:gd name="adj" fmla="val 14550"/>
            </a:avLst>
          </a:prstGeom>
          <a:solidFill>
            <a:srgbClr val="0D1A24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6293793" y="3880396"/>
            <a:ext cx="2359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5장 초안 완성 / 노팅엄·브렌트포드 / 예산 30~50M £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208068" y="4220021"/>
            <a:ext cx="532209" cy="193477"/>
          </a:xfrm>
          <a:prstGeom prst="roundRect">
            <a:avLst>
              <a:gd name="adj" fmla="val 19692"/>
            </a:avLst>
          </a:prstGeom>
          <a:solidFill>
            <a:srgbClr val="140E08"/>
          </a:solidFill>
          <a:ln w="9525">
            <a:solidFill>
              <a:srgbClr val="CD7F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280993" y="4254847"/>
            <a:ext cx="394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오후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8063508" y="4264372"/>
            <a:ext cx="6422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 → 5.0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304800" y="4622899"/>
            <a:ext cx="8534400" cy="444401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3"/>
          <p:cNvSpPr/>
          <p:nvPr/>
        </p:nvSpPr>
        <p:spPr>
          <a:xfrm>
            <a:off x="304800" y="4627662"/>
            <a:ext cx="8534400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1750" y="4787950"/>
            <a:ext cx="788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예상 시나리오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1305967" y="4683175"/>
            <a:ext cx="1803946" cy="333375"/>
          </a:xfrm>
          <a:prstGeom prst="roundRect">
            <a:avLst>
              <a:gd name="adj" fmla="val 15238"/>
            </a:avLst>
          </a:prstGeom>
          <a:solidFill>
            <a:srgbClr val="1A14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1349408" y="4730800"/>
            <a:ext cx="17170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완전 달성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349408" y="4835575"/>
            <a:ext cx="17170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173313" y="4683175"/>
            <a:ext cx="1804095" cy="333375"/>
          </a:xfrm>
          <a:prstGeom prst="roundRect">
            <a:avLst>
              <a:gd name="adj" fmla="val 15238"/>
            </a:avLst>
          </a:prstGeom>
          <a:solidFill>
            <a:srgbClr val="0D1525"/>
          </a:solidFill>
          <a:ln w="9525">
            <a:solidFill>
              <a:srgbClr val="1E2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3216753" y="4730800"/>
            <a:ext cx="171721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P7+P1 달성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3216753" y="4835575"/>
            <a:ext cx="17172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4.97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040809" y="4683175"/>
            <a:ext cx="1803946" cy="333375"/>
          </a:xfrm>
          <a:prstGeom prst="roundRect">
            <a:avLst>
              <a:gd name="adj" fmla="val 15238"/>
            </a:avLst>
          </a:prstGeom>
          <a:solidFill>
            <a:srgbClr val="0D1525"/>
          </a:solidFill>
          <a:ln w="9525">
            <a:solidFill>
              <a:srgbClr val="1E2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5084250" y="4730800"/>
            <a:ext cx="17170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P7만 달성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5084250" y="4835575"/>
            <a:ext cx="17170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908155" y="4683175"/>
            <a:ext cx="1804095" cy="333375"/>
          </a:xfrm>
          <a:prstGeom prst="roundRect">
            <a:avLst>
              <a:gd name="adj" fmla="val 15238"/>
            </a:avLst>
          </a:prstGeom>
          <a:solidFill>
            <a:srgbClr val="0D1525"/>
          </a:solidFill>
          <a:ln w="9525">
            <a:solidFill>
              <a:srgbClr val="1E2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6951595" y="4730800"/>
            <a:ext cx="171721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유지</a:t>
            </a:r>
            <a:endParaRPr lang="en-US" sz="600" dirty="0"/>
          </a:p>
        </p:txBody>
      </p:sp>
      <p:sp>
        <p:nvSpPr>
          <p:cNvPr id="88" name="Text 86"/>
          <p:cNvSpPr/>
          <p:nvPr/>
        </p:nvSpPr>
        <p:spPr>
          <a:xfrm>
            <a:off x="6951595" y="4835575"/>
            <a:ext cx="17172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228451"/>
            <a:ext cx="37507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종합 평가 — </a:t>
            </a:r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4.85/5.0 유지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89799" y="323701"/>
            <a:ext cx="23963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유지 — P7+0.07, P1+0.05, 시연+0.03 달성 시 5.0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2250" y="641152"/>
            <a:ext cx="1371600" cy="1371600"/>
          </a:xfrm>
          <a:prstGeom prst="roundRect">
            <a:avLst>
              <a:gd name="adj" fmla="val 66667"/>
            </a:avLst>
          </a:prstGeom>
          <a:solidFill>
            <a:srgbClr val="16213E"/>
          </a:solidFill>
          <a:ln w="7620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9305" y="1069777"/>
            <a:ext cx="89488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79612" y="1450628"/>
            <a:ext cx="2618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1525" y="2101602"/>
            <a:ext cx="1073051" cy="228600"/>
          </a:xfrm>
          <a:prstGeom prst="roundRect">
            <a:avLst>
              <a:gd name="adj" fmla="val 50000"/>
            </a:avLst>
          </a:prstGeom>
          <a:solidFill>
            <a:srgbClr val="8B949E">
              <a:alpha val="10000"/>
            </a:srgbClr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9999" y="2149227"/>
            <a:ext cx="816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전일 대비 유지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5440" y="2419052"/>
            <a:ext cx="16252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4.85 → 오늘 4.85 (어제 4개 미달)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04800" y="2631728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04800" y="2853928"/>
            <a:ext cx="2006501" cy="101501"/>
          </a:xfrm>
          <a:prstGeom prst="roundRect">
            <a:avLst>
              <a:gd name="adj" fmla="val 200195"/>
            </a:avLst>
          </a:prstGeom>
          <a:solidFill>
            <a:srgbClr val="16213E"/>
          </a:solidFill>
          <a:ln w="9525">
            <a:solidFill>
              <a:srgbClr val="2A32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14325" y="2863453"/>
            <a:ext cx="1927771" cy="82451"/>
          </a:xfrm>
          <a:prstGeom prst="roundRect">
            <a:avLst>
              <a:gd name="adj" fmla="val 246449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822996" y="3044279"/>
            <a:ext cx="4980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97.0% 달성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438251" y="564952"/>
            <a:ext cx="30830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달성 로드맵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38251" y="859780"/>
            <a:ext cx="806202" cy="447377"/>
          </a:xfrm>
          <a:prstGeom prst="roundRect">
            <a:avLst>
              <a:gd name="adj" fmla="val 14194"/>
            </a:avLst>
          </a:prstGeom>
          <a:solidFill>
            <a:srgbClr val="1A15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53151" y="942231"/>
            <a:ext cx="576402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53151" y="1119932"/>
            <a:ext cx="5764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(오늘 시작)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295686" y="828377"/>
            <a:ext cx="12411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95686" y="1018877"/>
            <a:ext cx="124115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95686" y="1140768"/>
            <a:ext cx="12411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</a:t>
            </a:r>
            <a:endParaRPr lang="en-US" sz="6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≥ 0.62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588073" y="859780"/>
            <a:ext cx="872728" cy="447377"/>
          </a:xfrm>
          <a:prstGeom prst="roundRect">
            <a:avLst>
              <a:gd name="adj" fmla="val 14194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2308" y="942231"/>
            <a:ext cx="644259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2308" y="1119932"/>
            <a:ext cx="6442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Actions 확인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149352" y="1389459"/>
            <a:ext cx="2357679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49352" y="1611362"/>
            <a:ext cx="660350" cy="447377"/>
          </a:xfrm>
          <a:prstGeom prst="roundRect">
            <a:avLst>
              <a:gd name="adj" fmla="val 14194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265710" y="1693813"/>
            <a:ext cx="427634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65710" y="1871514"/>
            <a:ext cx="4276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달성 후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866587" y="1579959"/>
            <a:ext cx="6646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866587" y="1770459"/>
            <a:ext cx="664601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66587" y="1892350"/>
            <a:ext cx="66460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</a:t>
            </a:r>
            <a:endParaRPr lang="en-US" sz="6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 57%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588073" y="1611362"/>
            <a:ext cx="872728" cy="447377"/>
          </a:xfrm>
          <a:prstGeom prst="roundRect">
            <a:avLst>
              <a:gd name="adj" fmla="val 14194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02308" y="1693813"/>
            <a:ext cx="644259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02308" y="1871514"/>
            <a:ext cx="6442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Actions 확인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149352" y="2141041"/>
            <a:ext cx="2357679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149352" y="2362944"/>
            <a:ext cx="660350" cy="447377"/>
          </a:xfrm>
          <a:prstGeom prst="roundRect">
            <a:avLst>
              <a:gd name="adj" fmla="val 14194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265710" y="2445395"/>
            <a:ext cx="427634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265710" y="2623096"/>
            <a:ext cx="4276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달성 후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864464" y="2331541"/>
            <a:ext cx="8812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864464" y="2522041"/>
            <a:ext cx="88122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864464" y="2643932"/>
            <a:ext cx="881226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</a:t>
            </a:r>
            <a:endParaRPr lang="en-US" sz="6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완성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4800451" y="2362944"/>
            <a:ext cx="660350" cy="447377"/>
          </a:xfrm>
          <a:prstGeom prst="roundRect">
            <a:avLst>
              <a:gd name="adj" fmla="val 14194"/>
            </a:avLst>
          </a:prstGeom>
          <a:solidFill>
            <a:srgbClr val="001500"/>
          </a:solidFill>
          <a:ln w="19050">
            <a:solidFill>
              <a:srgbClr val="00E67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916809" y="2445395"/>
            <a:ext cx="427634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916809" y="2623096"/>
            <a:ext cx="4276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내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2438251" y="2943374"/>
            <a:ext cx="3022550" cy="664369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2457301" y="2943374"/>
            <a:ext cx="0" cy="664369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90651" y="3019574"/>
            <a:ext cx="2810967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7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"train_v5_1.py는 이미 완성돼 있었습니다. 6일 동안 해결 못한 이유가 워크플로 yml 경로 한 줄 때문이었다는 건 실망스럽습니다. </a:t>
            </a:r>
            <a:pPr algn="l" indent="0" marL="0">
              <a:lnSpc>
                <a:spcPts val="1007"/>
              </a:lnSpc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아침 P7 R²=0.62 이상, P1 Acc=57% 이상이 나오면 포트폴리오 시연 준비를 본격 시작합니다.</a:t>
            </a:r>
            <a:pPr algn="l" indent="0" marL="0">
              <a:lnSpc>
                <a:spcPts val="1007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5587752" y="564952"/>
            <a:ext cx="33164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달성 — 즉시 활용 9개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587752" y="774353"/>
            <a:ext cx="3251448" cy="393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587752" y="818704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800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629275" y="847279"/>
            <a:ext cx="705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803553" y="806053"/>
            <a:ext cx="26755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강등권 예측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803553" y="942529"/>
            <a:ext cx="26755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100%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Acc 97.5%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8490049" y="806053"/>
            <a:ext cx="349151" cy="149126"/>
          </a:xfrm>
          <a:prstGeom prst="roundRect">
            <a:avLst>
              <a:gd name="adj" fmla="val 25549"/>
            </a:avLst>
          </a:prstGeom>
          <a:solidFill>
            <a:srgbClr val="001A16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550325" y="828229"/>
            <a:ext cx="2331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587752" y="1123355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800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629275" y="1151930"/>
            <a:ext cx="705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5803553" y="1110704"/>
            <a:ext cx="26755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 MVP 스코어링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803553" y="1247180"/>
            <a:ext cx="26755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0.9987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NDCG@10 0.9993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8490049" y="1110704"/>
            <a:ext cx="349151" cy="149126"/>
          </a:xfrm>
          <a:prstGeom prst="roundRect">
            <a:avLst>
              <a:gd name="adj" fmla="val 25549"/>
            </a:avLst>
          </a:prstGeom>
          <a:solidFill>
            <a:srgbClr val="001A16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550325" y="1132880"/>
            <a:ext cx="2331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587752" y="1428006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800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629275" y="1456581"/>
            <a:ext cx="705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5803553" y="1415355"/>
            <a:ext cx="26755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선수 종합 레이팅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803553" y="1551831"/>
            <a:ext cx="26755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0.9093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MAE 4.66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8490049" y="1415355"/>
            <a:ext cx="349151" cy="149126"/>
          </a:xfrm>
          <a:prstGeom prst="roundRect">
            <a:avLst>
              <a:gd name="adj" fmla="val 25549"/>
            </a:avLst>
          </a:prstGeom>
          <a:solidFill>
            <a:srgbClr val="001A16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8550325" y="1437531"/>
            <a:ext cx="2331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587752" y="1732657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5629275" y="1761232"/>
            <a:ext cx="705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5803553" y="1720007"/>
            <a:ext cx="27532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시즌 득점 예측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803553" y="1856482"/>
            <a:ext cx="2753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0.8877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MAE 0.96골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8566249" y="1720007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626525" y="1742182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5587752" y="205635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5629275" y="2084933"/>
            <a:ext cx="705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5803553" y="2043708"/>
            <a:ext cx="27532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시장가치 예측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803553" y="2180183"/>
            <a:ext cx="27532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0.8734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MAE £3.28M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8566249" y="2043708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8626525" y="2065883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5587752" y="2361009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5629275" y="2389584"/>
            <a:ext cx="705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5803553" y="2348359"/>
            <a:ext cx="27532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포지션별 시장가치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5803553" y="2484834"/>
            <a:ext cx="27532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0.8812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MAE £3.23M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8566249" y="2348359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8626525" y="2370534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600" dirty="0"/>
          </a:p>
        </p:txBody>
      </p:sp>
      <p:sp>
        <p:nvSpPr>
          <p:cNvPr id="88" name="Text 86"/>
          <p:cNvSpPr/>
          <p:nvPr/>
        </p:nvSpPr>
        <p:spPr>
          <a:xfrm>
            <a:off x="5587752" y="2665661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5629275" y="2694236"/>
            <a:ext cx="705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5803553" y="2653010"/>
            <a:ext cx="27532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이적 적응 예측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5803553" y="2789486"/>
            <a:ext cx="27532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F1 88.23%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8566249" y="2653010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8626525" y="2675186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5587752" y="2970312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5629275" y="2998887"/>
            <a:ext cx="705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5803553" y="2957661"/>
            <a:ext cx="27532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유사선수 탐색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5803553" y="3094137"/>
            <a:ext cx="27532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GK Sil </a:t>
            </a:r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0.4873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DEF 0.3637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8566249" y="2957661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8626525" y="2979837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</a:t>
            </a:r>
            <a:endParaRPr lang="en-US" sz="600" dirty="0"/>
          </a:p>
        </p:txBody>
      </p:sp>
      <p:sp>
        <p:nvSpPr>
          <p:cNvPr id="100" name="Text 98"/>
          <p:cNvSpPr/>
          <p:nvPr/>
        </p:nvSpPr>
        <p:spPr>
          <a:xfrm>
            <a:off x="5587752" y="3274963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5629275" y="3303538"/>
            <a:ext cx="705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5803553" y="3262313"/>
            <a:ext cx="27532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 하락세 감지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5803553" y="3398788"/>
            <a:ext cx="27532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0.8324</a:t>
            </a:r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F1 61.74%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8566249" y="3262313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8626525" y="3284488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</a:t>
            </a:r>
            <a:endParaRPr lang="en-US" sz="600" dirty="0"/>
          </a:p>
        </p:txBody>
      </p:sp>
      <p:sp>
        <p:nvSpPr>
          <p:cNvPr id="106" name="Text 104"/>
          <p:cNvSpPr/>
          <p:nvPr/>
        </p:nvSpPr>
        <p:spPr>
          <a:xfrm>
            <a:off x="304800" y="4797623"/>
            <a:ext cx="8534400" cy="269677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Shape 105"/>
          <p:cNvSpPr/>
          <p:nvPr/>
        </p:nvSpPr>
        <p:spPr>
          <a:xfrm>
            <a:off x="304800" y="4802386"/>
            <a:ext cx="8534400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31750" y="4870549"/>
            <a:ext cx="2737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 yml 경로 수정 커밋</a:t>
            </a:r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내일 아침 Actions 결과 확인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6160591" y="4870549"/>
            <a:ext cx="26026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브렌트포드·노팅엄 수준 · 30~50M £ · </a:t>
            </a:r>
            <a:pPr algn="l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초안 오늘 오후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228451"/>
            <a:ext cx="46226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현황 — </a:t>
            </a:r>
            <a:pPr algn="l"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16페이지 · 즉시 활용 9개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83139" y="323701"/>
            <a:ext cx="20971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S1→S2→P8→P6→S6 시연 루트 · 한 후보 당 약 5분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04800" y="577602"/>
            <a:ext cx="2066925" cy="758726"/>
          </a:xfrm>
          <a:prstGeom prst="roundRect">
            <a:avLst>
              <a:gd name="adj" fmla="val 1004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596652"/>
            <a:ext cx="2066925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662" y="691902"/>
            <a:ext cx="19012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00"/>
              </a:spcAft>
              <a:buNone/>
            </a:pPr>
            <a:r>
              <a:rPr lang="en-US" sz="2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7662" y="1009352"/>
            <a:ext cx="19012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페이지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87662" y="1145828"/>
            <a:ext cx="19012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Cloud 배포 완료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460575" y="577602"/>
            <a:ext cx="2067074" cy="758726"/>
          </a:xfrm>
          <a:prstGeom prst="roundRect">
            <a:avLst>
              <a:gd name="adj" fmla="val 1004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460575" y="596652"/>
            <a:ext cx="2067074" cy="0"/>
          </a:xfrm>
          <a:prstGeom prst="line">
            <a:avLst/>
          </a:prstGeom>
          <a:noFill/>
          <a:ln w="381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3435" y="691902"/>
            <a:ext cx="190135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00"/>
              </a:spcAft>
              <a:buNone/>
            </a:pPr>
            <a:r>
              <a:rPr lang="en-US" sz="2400" b="1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43435" y="1009352"/>
            <a:ext cx="19013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43435" y="1145828"/>
            <a:ext cx="19013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S1, P4, P6, S2, P8, P3, P2, S3, S6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616500" y="577602"/>
            <a:ext cx="2066925" cy="758726"/>
          </a:xfrm>
          <a:prstGeom prst="roundRect">
            <a:avLst>
              <a:gd name="adj" fmla="val 1004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16500" y="596652"/>
            <a:ext cx="2066925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9361" y="691902"/>
            <a:ext cx="19012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00"/>
              </a:spcAft>
              <a:buNone/>
            </a:pPr>
            <a:r>
              <a:rPr lang="en-US" sz="24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99361" y="1009352"/>
            <a:ext cx="19012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조건부 · 미달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99361" y="1145828"/>
            <a:ext cx="19012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 미달 / P7 R² 미달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772275" y="577602"/>
            <a:ext cx="2066925" cy="758726"/>
          </a:xfrm>
          <a:prstGeom prst="roundRect">
            <a:avLst>
              <a:gd name="adj" fmla="val 1004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772275" y="596652"/>
            <a:ext cx="2066925" cy="0"/>
          </a:xfrm>
          <a:prstGeom prst="line">
            <a:avLst/>
          </a:prstGeom>
          <a:noFill/>
          <a:ln w="3810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5137" y="691902"/>
            <a:ext cx="19012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00"/>
              </a:spcAft>
              <a:buNone/>
            </a:pPr>
            <a:r>
              <a:rPr lang="en-US" sz="24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55137" y="1009352"/>
            <a:ext cx="19012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기타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855137" y="1145828"/>
            <a:ext cx="19012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기타 지원 페이지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04800" y="1437829"/>
            <a:ext cx="1544241" cy="3004691"/>
          </a:xfrm>
          <a:prstGeom prst="roundRect">
            <a:avLst>
              <a:gd name="adj" fmla="val 4934"/>
            </a:avLst>
          </a:prstGeom>
          <a:solidFill>
            <a:srgbClr val="1A14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86513" y="1545729"/>
            <a:ext cx="13808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6513" y="1717179"/>
            <a:ext cx="1380815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endParaRPr lang="en-US" sz="9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종합 레이팅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6513" y="2029420"/>
            <a:ext cx="1380815" cy="2057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선수가 EPL 수준에서 얼마나 뛰어난가?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6513" y="4125069"/>
            <a:ext cx="13808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R²=0.9093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MAE=4.66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76127" y="2840087"/>
            <a:ext cx="151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052191" y="1437829"/>
            <a:ext cx="1544389" cy="3004691"/>
          </a:xfrm>
          <a:prstGeom prst="roundRect">
            <a:avLst>
              <a:gd name="adj" fmla="val 4934"/>
            </a:avLst>
          </a:prstGeom>
          <a:solidFill>
            <a:srgbClr val="1A14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133902" y="1545729"/>
            <a:ext cx="13809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133902" y="1717179"/>
            <a:ext cx="1380967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</a:t>
            </a:r>
            <a:endParaRPr lang="en-US" sz="9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저평가 탐색기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33902" y="2029420"/>
            <a:ext cx="1380967" cy="2057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시장에서 저평가된 타깃이 있는가?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133902" y="4125069"/>
            <a:ext cx="13809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R²=0.8812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MAE=£3.23M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623667" y="2840087"/>
            <a:ext cx="151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799731" y="1437829"/>
            <a:ext cx="1544389" cy="3004691"/>
          </a:xfrm>
          <a:prstGeom prst="roundRect">
            <a:avLst>
              <a:gd name="adj" fmla="val 4934"/>
            </a:avLst>
          </a:prstGeom>
          <a:solidFill>
            <a:srgbClr val="1A14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881442" y="1545729"/>
            <a:ext cx="13809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881442" y="1717179"/>
            <a:ext cx="1380967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9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적응 예측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81442" y="2029420"/>
            <a:ext cx="1380967" cy="2057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구단에서 바로 적응할 수 있는가?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881442" y="4125069"/>
            <a:ext cx="13809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AUC=0.6612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F1=88.23%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71207" y="2840087"/>
            <a:ext cx="151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547271" y="1437829"/>
            <a:ext cx="1544389" cy="3004691"/>
          </a:xfrm>
          <a:prstGeom prst="roundRect">
            <a:avLst>
              <a:gd name="adj" fmla="val 4934"/>
            </a:avLst>
          </a:prstGeom>
          <a:solidFill>
            <a:srgbClr val="1A14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628982" y="1545729"/>
            <a:ext cx="13809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28982" y="1717179"/>
            <a:ext cx="1380967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endParaRPr lang="en-US" sz="9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시장가치 확인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28982" y="2029420"/>
            <a:ext cx="1380967" cy="2057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적정 이적료는 얼마인가?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628982" y="4125069"/>
            <a:ext cx="13809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R²=0.8734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MAE=£3.28M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118747" y="2840087"/>
            <a:ext cx="151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294811" y="1437829"/>
            <a:ext cx="1544389" cy="3004691"/>
          </a:xfrm>
          <a:prstGeom prst="roundRect">
            <a:avLst>
              <a:gd name="adj" fmla="val 4934"/>
            </a:avLst>
          </a:prstGeom>
          <a:solidFill>
            <a:srgbClr val="1A14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376522" y="1545729"/>
            <a:ext cx="13809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5단계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76522" y="1717179"/>
            <a:ext cx="1380967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</a:t>
            </a:r>
            <a:endParaRPr lang="en-US" sz="9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하락세 리스크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76522" y="2029420"/>
            <a:ext cx="1380967" cy="2057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2~3년 부상·하락 리스크는?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376522" y="4125069"/>
            <a:ext cx="13809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AUC=0.8324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F1=61.74%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04800" y="4544020"/>
            <a:ext cx="2472928" cy="523280"/>
          </a:xfrm>
          <a:prstGeom prst="roundRect">
            <a:avLst>
              <a:gd name="adj" fmla="val 12135"/>
            </a:avLst>
          </a:prstGeom>
          <a:solidFill>
            <a:srgbClr val="16213E"/>
          </a:solidFill>
          <a:ln w="9525">
            <a:solidFill>
              <a:srgbClr val="5555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15826" y="4604296"/>
            <a:ext cx="22958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P7 성장 곡선</a:t>
            </a:r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R²≥0.62 달성 후 2단계 직후 추가 예정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879229" y="4544020"/>
            <a:ext cx="5959971" cy="523280"/>
          </a:xfrm>
          <a:prstGeom prst="roundRect">
            <a:avLst>
              <a:gd name="adj" fmla="val 12135"/>
            </a:avLst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2879229" y="4548783"/>
            <a:ext cx="5959971" cy="0"/>
          </a:xfrm>
          <a:prstGeom prst="line">
            <a:avLst/>
          </a:prstGeom>
          <a:noFill/>
          <a:ln w="9525">
            <a:solidFill>
              <a:srgbClr val="1A4A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06179" y="4621560"/>
            <a:ext cx="46623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CLOUD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006179" y="4751636"/>
            <a:ext cx="46623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https://epl-scouting-report-dashboard-project-ffyb8msh6uafxyyg8txsm8.streamlit.app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704088" y="4616946"/>
            <a:ext cx="1008162" cy="386953"/>
          </a:xfrm>
          <a:prstGeom prst="roundRect">
            <a:avLst>
              <a:gd name="adj" fmla="val 16410"/>
            </a:avLst>
          </a:prstGeom>
          <a:solidFill>
            <a:srgbClr val="00E676">
              <a:alpha val="10000"/>
            </a:srgbClr>
          </a:solidFill>
          <a:ln w="9525">
            <a:solidFill>
              <a:srgbClr val="00E67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840563" y="4677221"/>
            <a:ext cx="74991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달성 시</a:t>
            </a:r>
            <a:endParaRPr lang="en-US" sz="7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00E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→ 11개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2026-05-13T00:36:40Z</dcterms:created>
  <dcterms:modified xsi:type="dcterms:W3CDTF">2026-05-13T00:36:40Z</dcterms:modified>
</cp:coreProperties>
</file>