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23850" y="209550"/>
            <a:ext cx="323850" cy="323850"/>
          </a:xfrm>
          <a:prstGeom prst="roundRect">
            <a:avLst>
              <a:gd name="adj" fmla="val 20588"/>
            </a:avLst>
          </a:prstGeom>
          <a:solidFill>
            <a:srgbClr val="0A1A2E"/>
          </a:solidFill>
          <a:ln w="19050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78768" y="285750"/>
            <a:ext cx="21829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⚽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42950" y="323850"/>
            <a:ext cx="154916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EPL SCOUT INTELLIGENCE</a:t>
            </a:r>
            <a:endParaRPr lang="en-US" sz="675" dirty="0"/>
          </a:p>
        </p:txBody>
      </p:sp>
      <p:sp>
        <p:nvSpPr>
          <p:cNvPr id="6" name="Text 4"/>
          <p:cNvSpPr/>
          <p:nvPr/>
        </p:nvSpPr>
        <p:spPr>
          <a:xfrm>
            <a:off x="6789837" y="209550"/>
            <a:ext cx="2030313" cy="247650"/>
          </a:xfrm>
          <a:prstGeom prst="roundRect">
            <a:avLst>
              <a:gd name="adj" fmla="val 76923"/>
            </a:avLst>
          </a:prstGeom>
          <a:solidFill>
            <a:srgbClr val="0A1A2E"/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951762" y="266700"/>
            <a:ext cx="17405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제16회 정기 미팅  |  이번 주 마지막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85800" y="1483638"/>
            <a:ext cx="77724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50"/>
              </a:spcAft>
              <a:buNone/>
            </a:pPr>
            <a:r>
              <a:rPr lang="en-US" sz="750" dirty="0">
                <a:solidFill>
                  <a:srgbClr val="8B9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DAILY BRIEFING — 2026-05-08 (FRI)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85800" y="1721763"/>
            <a:ext cx="7772400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53"/>
              </a:lnSpc>
              <a:spcAft>
                <a:spcPts val="750"/>
              </a:spcAft>
              <a:buNone/>
            </a:pPr>
            <a:r>
              <a:rPr lang="en-US" sz="405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EPL 스카우트 </a:t>
            </a:r>
            <a:pPr algn="ctr" indent="0" marL="0">
              <a:lnSpc>
                <a:spcPts val="4253"/>
              </a:lnSpc>
              <a:spcAft>
                <a:spcPts val="750"/>
              </a:spcAft>
              <a:buNone/>
            </a:pPr>
            <a:r>
              <a:rPr lang="en-US" sz="4050" b="1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인텔리전스</a:t>
            </a:r>
            <a:endParaRPr lang="en-US" sz="4050" dirty="0"/>
          </a:p>
        </p:txBody>
      </p:sp>
      <p:sp>
        <p:nvSpPr>
          <p:cNvPr id="10" name="Text 8"/>
          <p:cNvSpPr/>
          <p:nvPr/>
        </p:nvSpPr>
        <p:spPr>
          <a:xfrm>
            <a:off x="685800" y="2356961"/>
            <a:ext cx="77724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350"/>
              </a:spcAft>
              <a:buNone/>
            </a:pPr>
            <a:r>
              <a:rPr lang="en-US" sz="1275" dirty="0">
                <a:solidFill>
                  <a:srgbClr val="8B9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2026년 05월 08일 (금) — 데일리 브리핑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4286250" y="2747486"/>
            <a:ext cx="571500" cy="28575"/>
          </a:xfrm>
          <a:prstGeom prst="roundRect">
            <a:avLst>
              <a:gd name="adj" fmla="val 66667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137773" y="2947511"/>
            <a:ext cx="9685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미팅 회차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137773" y="3109436"/>
            <a:ext cx="9685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25"/>
              </a:spcBef>
              <a:buNone/>
            </a:pPr>
            <a:r>
              <a:rPr lang="en-US" sz="975" b="1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제16회 정기 미팅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4374423" y="2947511"/>
            <a:ext cx="8280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주간 위치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374423" y="3109436"/>
            <a:ext cx="82809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25"/>
              </a:spcBef>
              <a:buNone/>
            </a:pPr>
            <a:r>
              <a:rPr lang="en-US" sz="975" b="1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주 마지막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5474985" y="2947511"/>
            <a:ext cx="5267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평가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474985" y="3109436"/>
            <a:ext cx="5267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25"/>
              </a:spcBef>
              <a:buNone/>
            </a:pPr>
            <a:r>
              <a:rPr lang="en-US" sz="975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4.82 / 5.0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3338923" y="3433286"/>
            <a:ext cx="7778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8B9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김태현 스카우트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204395" y="3485674"/>
            <a:ext cx="38100" cy="38100"/>
          </a:xfrm>
          <a:prstGeom prst="roundRect">
            <a:avLst>
              <a:gd name="adj" fmla="val 2400000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323147" y="3447574"/>
            <a:ext cx="14889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8B9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Marcus Webb (Analytics Agent)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7850684" y="3790950"/>
            <a:ext cx="969466" cy="781050"/>
          </a:xfrm>
          <a:prstGeom prst="roundRect">
            <a:avLst>
              <a:gd name="adj" fmla="val 12195"/>
            </a:avLst>
          </a:prstGeom>
          <a:solidFill>
            <a:srgbClr val="1A1200"/>
          </a:solidFill>
          <a:ln w="9525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025583" y="3895725"/>
            <a:ext cx="61966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4.82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8025583" y="4210050"/>
            <a:ext cx="61966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25"/>
              </a:spcBef>
              <a:buNone/>
            </a:pPr>
            <a:r>
              <a:rPr lang="en-US" sz="600" dirty="0">
                <a:solidFill>
                  <a:srgbClr val="8B9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 5.0 종합 평가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8025583" y="4343400"/>
            <a:ext cx="61966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25"/>
              </a:spcBef>
              <a:buNone/>
            </a:pPr>
            <a:r>
              <a:rPr lang="en-US" sz="675" dirty="0">
                <a:solidFill>
                  <a:srgbClr val="3FB9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+0.02 전일 대비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0" y="4805363"/>
            <a:ext cx="9144000" cy="338138"/>
          </a:xfrm>
          <a:prstGeom prst="rect">
            <a:avLst/>
          </a:prstGeom>
          <a:solidFill>
            <a:srgbClr val="120E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0" y="4814888"/>
            <a:ext cx="9144000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2900" y="4917281"/>
            <a:ext cx="1360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105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⚠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71500" y="4910138"/>
            <a:ext cx="6116363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3"/>
              </a:lnSpc>
              <a:buNone/>
            </a:pPr>
            <a:r>
              <a:rPr lang="en-US" sz="750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파이프라인 성공 — 단 정확도 </a:t>
            </a:r>
            <a:pPr algn="l" indent="0" marL="0">
              <a:lnSpc>
                <a:spcPts val="1163"/>
              </a:lnSpc>
              <a:buNone/>
            </a:pPr>
            <a:r>
              <a:rPr lang="en-US" sz="75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54.79%로 하락</a:t>
            </a:r>
            <a:pPr algn="l" indent="0" marL="0">
              <a:lnSpc>
                <a:spcPts val="1163"/>
              </a:lnSpc>
              <a:buNone/>
            </a:pPr>
            <a:r>
              <a:rPr lang="en-US" sz="750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(목표 ≥57% 미달) | P7 v5.1 파일 </a:t>
            </a:r>
            <a:pPr algn="l" indent="0" marL="0">
              <a:lnSpc>
                <a:spcPts val="1163"/>
              </a:lnSpc>
              <a:buNone/>
            </a:pPr>
            <a:r>
              <a:rPr lang="en-US" sz="75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3일 미생성</a:t>
            </a:r>
            <a:pPr algn="l" indent="0" marL="0">
              <a:lnSpc>
                <a:spcPts val="1163"/>
              </a:lnSpc>
              <a:buNone/>
            </a:pPr>
            <a:r>
              <a:rPr lang="en-US" sz="750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| P2 대시보드 </a:t>
            </a:r>
            <a:pPr algn="l" indent="0" marL="0">
              <a:lnSpc>
                <a:spcPts val="1163"/>
              </a:lnSpc>
              <a:buNone/>
            </a:pPr>
            <a:r>
              <a:rPr lang="en-US" sz="75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4일 이월</a:t>
            </a:r>
            <a:pPr algn="l" indent="0" marL="0">
              <a:lnSpc>
                <a:spcPts val="1163"/>
              </a:lnSpc>
              <a:buNone/>
            </a:pPr>
            <a:r>
              <a:rPr lang="en-US" sz="750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| </a:t>
            </a:r>
            <a:pPr algn="l" indent="0" marL="0">
              <a:lnSpc>
                <a:spcPts val="1163"/>
              </a:lnSpc>
              <a:buNone/>
            </a:pPr>
            <a:r>
              <a:rPr lang="en-US" sz="75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오늘이 진짜 마지막.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209550"/>
            <a:ext cx="173831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12개 모델 성능 현황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123331" y="295275"/>
            <a:ext cx="25695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B9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2026-05-08 기준  |  빨간불 1건 · 노란불 2건 · 안정 9건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5417493" y="4781550"/>
            <a:ext cx="888653" cy="247650"/>
          </a:xfrm>
          <a:prstGeom prst="roundRect">
            <a:avLst>
              <a:gd name="adj" fmla="val 23077"/>
            </a:avLst>
          </a:prstGeom>
          <a:solidFill>
            <a:srgbClr val="161B2E"/>
          </a:solidFill>
          <a:ln w="9525">
            <a:solidFill>
              <a:srgbClr val="2A305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522268" y="4829175"/>
            <a:ext cx="757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44158" y="4843463"/>
            <a:ext cx="56835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8B9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최우수 (2단계)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6401395" y="4781550"/>
            <a:ext cx="698302" cy="247650"/>
          </a:xfrm>
          <a:prstGeom prst="roundRect">
            <a:avLst>
              <a:gd name="adj" fmla="val 23077"/>
            </a:avLst>
          </a:prstGeom>
          <a:solidFill>
            <a:srgbClr val="161B2E"/>
          </a:solidFill>
          <a:ln w="9525">
            <a:solidFill>
              <a:srgbClr val="2A305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506170" y="4829175"/>
            <a:ext cx="757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FB9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628061" y="4843463"/>
            <a:ext cx="37419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8B9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정상 달성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7194947" y="4781550"/>
            <a:ext cx="784027" cy="247650"/>
          </a:xfrm>
          <a:prstGeom prst="roundRect">
            <a:avLst>
              <a:gd name="adj" fmla="val 23077"/>
            </a:avLst>
          </a:prstGeom>
          <a:solidFill>
            <a:srgbClr val="161B2E"/>
          </a:solidFill>
          <a:ln w="9525">
            <a:solidFill>
              <a:srgbClr val="2A305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299722" y="4829175"/>
            <a:ext cx="757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421612" y="4843463"/>
            <a:ext cx="4616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8B9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노란불 이월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8074223" y="4781550"/>
            <a:ext cx="784027" cy="247650"/>
          </a:xfrm>
          <a:prstGeom prst="roundRect">
            <a:avLst>
              <a:gd name="adj" fmla="val 23077"/>
            </a:avLst>
          </a:prstGeom>
          <a:solidFill>
            <a:srgbClr val="161B2E"/>
          </a:solidFill>
          <a:ln w="9525">
            <a:solidFill>
              <a:srgbClr val="2A305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178998" y="4829175"/>
            <a:ext cx="757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300889" y="4843463"/>
            <a:ext cx="4616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8B9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빨간불 긴급</a:t>
            </a:r>
            <a:endParaRPr lang="en-US" sz="6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190500"/>
            <a:ext cx="343351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어제(2026-05-07) 달성·미달 체크리스트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785295" y="276225"/>
            <a:ext cx="11579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B9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부분 달성 1건 · 미달 2건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285750" y="542925"/>
            <a:ext cx="8572500" cy="1173063"/>
          </a:xfrm>
          <a:prstGeom prst="roundRect">
            <a:avLst>
              <a:gd name="adj" fmla="val 7308"/>
            </a:avLst>
          </a:prstGeom>
          <a:solidFill>
            <a:srgbClr val="150F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04800" y="542925"/>
            <a:ext cx="0" cy="1173063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6250" y="666750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2A2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77751" y="733425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76300" y="661988"/>
            <a:ext cx="21439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torch 조건부 임포트 수정 + 재학습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876300" y="885825"/>
            <a:ext cx="7986141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3"/>
              </a:lnSpc>
              <a:buNone/>
            </a:pPr>
            <a:r>
              <a:rPr lang="en-US" sz="750" dirty="0">
                <a:solidFill>
                  <a:srgbClr val="8B9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파이프라인 실행 성공 (success: true), LSTM/MLP 제외됨. XGBoost 단독 정확도 </a:t>
            </a:r>
            <a:pPr algn="l" indent="0" marL="0">
              <a:lnSpc>
                <a:spcPts val="1163"/>
              </a:lnSpc>
              <a:buNone/>
            </a:pPr>
            <a:r>
              <a:rPr lang="en-US" sz="750" b="1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57.26% → 54.79%</a:t>
            </a:r>
            <a:pPr algn="l" indent="0" marL="0">
              <a:lnSpc>
                <a:spcPts val="1163"/>
              </a:lnSpc>
              <a:buNone/>
            </a:pPr>
            <a:r>
              <a:rPr lang="en-US" sz="750" dirty="0">
                <a:solidFill>
                  <a:srgbClr val="8B9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lnSpc>
                <a:spcPts val="1163"/>
              </a:lnSpc>
              <a:buNone/>
            </a:pPr>
            <a:r>
              <a:rPr lang="en-US" sz="7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하락</a:t>
            </a:r>
            <a:pPr algn="l" indent="0" marL="0">
              <a:lnSpc>
                <a:spcPts val="1163"/>
              </a:lnSpc>
              <a:buNone/>
            </a:pPr>
            <a:r>
              <a:rPr lang="en-US" sz="750" dirty="0">
                <a:solidFill>
                  <a:srgbClr val="8B9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목표 ≥57% </a:t>
            </a:r>
            <a:pPr algn="l" indent="0" marL="0">
              <a:lnSpc>
                <a:spcPts val="1163"/>
              </a:lnSpc>
              <a:buNone/>
            </a:pPr>
            <a:r>
              <a:rPr lang="en-US" sz="7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미달</a:t>
            </a:r>
            <a:pPr algn="l" indent="0" marL="0">
              <a:lnSpc>
                <a:spcPts val="1163"/>
              </a:lnSpc>
              <a:buNone/>
            </a:pPr>
            <a:r>
              <a:rPr lang="en-US" sz="750" dirty="0">
                <a:solidFill>
                  <a:srgbClr val="8B9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 "실행 성공"과 "목표 달성"은 다르다.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85750" y="1792188"/>
            <a:ext cx="8572500" cy="1173063"/>
          </a:xfrm>
          <a:prstGeom prst="roundRect">
            <a:avLst>
              <a:gd name="adj" fmla="val 7308"/>
            </a:avLst>
          </a:prstGeom>
          <a:solidFill>
            <a:srgbClr val="15050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04800" y="1792188"/>
            <a:ext cx="0" cy="1173063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6250" y="1916013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2A0A1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77751" y="1982688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76300" y="1911251"/>
            <a:ext cx="198272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v5.1 신규 파일 작성 + 로컬 학습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876300" y="2135088"/>
            <a:ext cx="7986141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3"/>
              </a:lnSpc>
              <a:buNone/>
            </a:pPr>
            <a:r>
              <a:rPr lang="en-US" sz="7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train_v5_1.py 파일 미생성</a:t>
            </a:r>
            <a:pPr algn="l" indent="0" marL="0">
              <a:lnSpc>
                <a:spcPts val="1163"/>
              </a:lnSpc>
              <a:buNone/>
            </a:pPr>
            <a:r>
              <a:rPr lang="en-US" sz="750" dirty="0">
                <a:solidFill>
                  <a:srgbClr val="8B9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→ Actions가 폴백으로 train_v5.py 재실행. 전략 논의 3일, 파일 생성 </a:t>
            </a:r>
            <a:pPr algn="l" indent="0" marL="0">
              <a:lnSpc>
                <a:spcPts val="1163"/>
              </a:lnSpc>
              <a:buNone/>
            </a:pPr>
            <a:r>
              <a:rPr lang="en-US" sz="750" b="1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0건</a:t>
            </a:r>
            <a:pPr algn="l" indent="0" marL="0">
              <a:lnSpc>
                <a:spcPts val="1163"/>
              </a:lnSpc>
              <a:buNone/>
            </a:pPr>
            <a:r>
              <a:rPr lang="en-US" sz="750" dirty="0">
                <a:solidFill>
                  <a:srgbClr val="8B9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 현재 test R² 0.586 (목표 ≥0.62 미달).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85750" y="3041452"/>
            <a:ext cx="8572500" cy="1173063"/>
          </a:xfrm>
          <a:prstGeom prst="roundRect">
            <a:avLst>
              <a:gd name="adj" fmla="val 7308"/>
            </a:avLst>
          </a:prstGeom>
          <a:solidFill>
            <a:srgbClr val="15050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304800" y="3041452"/>
            <a:ext cx="0" cy="1173063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6250" y="3165277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2A0A1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77751" y="3231952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76300" y="3160514"/>
            <a:ext cx="127030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P2 대시보드 통합 완료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876300" y="3384352"/>
            <a:ext cx="7986141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3"/>
              </a:lnSpc>
              <a:buNone/>
            </a:pPr>
            <a:r>
              <a:rPr lang="en-US" sz="750" dirty="0">
                <a:solidFill>
                  <a:srgbClr val="8B9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중복 스킵 처리. </a:t>
            </a:r>
            <a:pPr algn="l" indent="0" marL="0">
              <a:lnSpc>
                <a:spcPts val="1163"/>
              </a:lnSpc>
              <a:buNone/>
            </a:pPr>
            <a:r>
              <a:rPr lang="en-US" sz="7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player_intelligence.py 코드 미작성</a:t>
            </a:r>
            <a:pPr algn="l" indent="0" marL="0">
              <a:lnSpc>
                <a:spcPts val="1163"/>
              </a:lnSpc>
              <a:buNone/>
            </a:pPr>
            <a:r>
              <a:rPr lang="en-US" sz="750" dirty="0">
                <a:solidFill>
                  <a:srgbClr val="8B9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 P2 R²=0.8877 모델은 탁월하나 대시보드 연동 없음 — 영입 회의에 즉시 활용 불가 상태 지속.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85750" y="4309765"/>
            <a:ext cx="8572500" cy="700385"/>
          </a:xfrm>
          <a:prstGeom prst="roundRect">
            <a:avLst>
              <a:gd name="adj" fmla="val 10880"/>
            </a:avLst>
          </a:prstGeom>
          <a:solidFill>
            <a:srgbClr val="0A1220"/>
          </a:solidFill>
          <a:ln w="9525">
            <a:solidFill>
              <a:srgbClr val="2A305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47675" y="4414540"/>
            <a:ext cx="84136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교훈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47675" y="4605040"/>
            <a:ext cx="8248650" cy="300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033"/>
              </a:lnSpc>
              <a:buSzPct val="100000"/>
              <a:buChar char="•"/>
            </a:pPr>
            <a:r>
              <a:rPr lang="en-US" sz="713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"파이프라인이 돌아간다"</a:t>
            </a:r>
            <a:pPr algn="l" indent="0" marL="0">
              <a:lnSpc>
                <a:spcPts val="1033"/>
              </a:lnSpc>
              <a:buNone/>
            </a:pPr>
            <a:r>
              <a:rPr lang="en-US" sz="713" dirty="0">
                <a:solidFill>
                  <a:srgbClr val="8B9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와 </a:t>
            </a:r>
            <a:pPr algn="l" indent="0" marL="0">
              <a:lnSpc>
                <a:spcPts val="1033"/>
              </a:lnSpc>
              <a:buNone/>
            </a:pPr>
            <a:r>
              <a:rPr lang="en-US" sz="713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"쓸 수 있는 성능이 나온다"</a:t>
            </a:r>
            <a:pPr algn="l" indent="0" marL="0">
              <a:lnSpc>
                <a:spcPts val="1033"/>
              </a:lnSpc>
              <a:buNone/>
            </a:pPr>
            <a:r>
              <a:rPr lang="en-US" sz="713" dirty="0">
                <a:solidFill>
                  <a:srgbClr val="8B9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는 다르다 (김태현) — TORCH_AVAILABLE=False 처리 후 전처리 로직 차이로 XGBoost 단독 정확도 하락</a:t>
            </a:r>
            <a:endParaRPr lang="en-US" sz="713" dirty="0"/>
          </a:p>
          <a:p>
            <a:pPr algn="l" marL="342900" indent="-342900">
              <a:lnSpc>
                <a:spcPts val="1033"/>
              </a:lnSpc>
              <a:buSzPct val="100000"/>
              <a:buChar char="•"/>
            </a:pPr>
            <a:r>
              <a:rPr lang="en-US" sz="713" dirty="0">
                <a:solidFill>
                  <a:srgbClr val="8B9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v5.1 착수 3일째 — </a:t>
            </a:r>
            <a:pPr algn="l" indent="0" marL="0">
              <a:lnSpc>
                <a:spcPts val="1033"/>
              </a:lnSpc>
              <a:buNone/>
            </a:pPr>
            <a:r>
              <a:rPr lang="en-US" sz="713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파일이 없으면 Actions는 이전 파일을 실행한다</a:t>
            </a:r>
            <a:pPr algn="l" indent="0" marL="0">
              <a:lnSpc>
                <a:spcPts val="1033"/>
              </a:lnSpc>
              <a:buNone/>
            </a:pPr>
            <a:r>
              <a:rPr lang="en-US" sz="713" dirty="0">
                <a:solidFill>
                  <a:srgbClr val="8B9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 오늘(금) 3건 미달 시 이번 주 4.82 마감</a:t>
            </a:r>
            <a:endParaRPr lang="en-US" sz="71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171450"/>
            <a:ext cx="187327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액션아이템 Top 3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2179439" y="247650"/>
            <a:ext cx="31516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B9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정확도 회복 → P7 v5.1 작성 → P2 통합  |  3건 달성 시 낙관 5.0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228600" y="495300"/>
            <a:ext cx="2819400" cy="3371850"/>
          </a:xfrm>
          <a:prstGeom prst="roundRect">
            <a:avLst>
              <a:gd name="adj" fmla="val 3378"/>
            </a:avLst>
          </a:prstGeom>
          <a:solidFill>
            <a:srgbClr val="130A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28600" y="509587"/>
            <a:ext cx="2819400" cy="0"/>
          </a:xfrm>
          <a:prstGeom prst="line">
            <a:avLst/>
          </a:prstGeom>
          <a:noFill/>
          <a:ln w="28575">
            <a:solidFill>
              <a:srgbClr val="E945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43238" y="495300"/>
            <a:ext cx="0" cy="3371850"/>
          </a:xfrm>
          <a:prstGeom prst="line">
            <a:avLst/>
          </a:prstGeom>
          <a:noFill/>
          <a:ln w="9525">
            <a:solidFill>
              <a:srgbClr val="E945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3862388"/>
            <a:ext cx="2819400" cy="0"/>
          </a:xfrm>
          <a:prstGeom prst="line">
            <a:avLst/>
          </a:prstGeom>
          <a:noFill/>
          <a:ln w="9525">
            <a:solidFill>
              <a:srgbClr val="E945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362" y="495300"/>
            <a:ext cx="0" cy="3371850"/>
          </a:xfrm>
          <a:prstGeom prst="line">
            <a:avLst/>
          </a:prstGeom>
          <a:noFill/>
          <a:ln w="9525">
            <a:solidFill>
              <a:srgbClr val="E945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1475" y="895350"/>
            <a:ext cx="2584323" cy="160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8"/>
              </a:lnSpc>
              <a:buNone/>
            </a:pPr>
            <a:r>
              <a:rPr lang="en-US" sz="975" b="1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정확도 회복 + 재학습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371475" y="1122908"/>
            <a:ext cx="2533650" cy="554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979"/>
              </a:lnSpc>
              <a:buSzPct val="100000"/>
              <a:buChar char="•"/>
            </a:pPr>
            <a:r>
              <a:rPr lang="en-US" sz="675" b="1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train_pipeline.py</a:t>
            </a:r>
            <a:pPr algn="l" indent="0" marL="0">
              <a:lnSpc>
                <a:spcPts val="979"/>
              </a:lnSpc>
              <a:buNone/>
            </a:pPr>
            <a:r>
              <a:rPr lang="en-US" sz="675" dirty="0">
                <a:solidFill>
                  <a:srgbClr val="8B9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전처리 파이프라인 검토</a:t>
            </a:r>
            <a:endParaRPr lang="en-US" sz="675" dirty="0"/>
          </a:p>
          <a:p>
            <a:pPr algn="l" marL="342900" indent="-342900">
              <a:lnSpc>
                <a:spcPts val="979"/>
              </a:lnSpc>
              <a:buSzPct val="100000"/>
              <a:buChar char="•"/>
            </a:pPr>
            <a:r>
              <a:rPr lang="en-US" sz="675" dirty="0">
                <a:solidFill>
                  <a:srgbClr val="8B9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피처 스케일링·데이터 분할 로직 확인 (TORCH_AVAILABLE=False 이후 차이 규명)</a:t>
            </a:r>
            <a:endParaRPr lang="en-US" sz="675" dirty="0"/>
          </a:p>
          <a:p>
            <a:pPr algn="l" marL="342900" indent="-342900">
              <a:lnSpc>
                <a:spcPts val="979"/>
              </a:lnSpc>
              <a:buSzPct val="100000"/>
              <a:buChar char="•"/>
            </a:pPr>
            <a:r>
              <a:rPr lang="en-US" sz="675" dirty="0">
                <a:solidFill>
                  <a:srgbClr val="8B9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XGBoost 단독 최적화 → 커밋·푸시 → Actions 재학습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371475" y="3105150"/>
            <a:ext cx="2533650" cy="628650"/>
          </a:xfrm>
          <a:prstGeom prst="roundRect">
            <a:avLst>
              <a:gd name="adj" fmla="val 9091"/>
            </a:avLst>
          </a:prstGeom>
          <a:solidFill>
            <a:srgbClr val="0A0C10"/>
          </a:solidFill>
          <a:ln w="9525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76250" y="3171825"/>
            <a:ext cx="23705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"/>
              </a:spcAft>
              <a:buNone/>
            </a:pPr>
            <a:r>
              <a:rPr lang="en-US" sz="638" dirty="0">
                <a:solidFill>
                  <a:srgbClr val="8B9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지표</a:t>
            </a:r>
            <a:endParaRPr lang="en-US" sz="638" dirty="0"/>
          </a:p>
        </p:txBody>
      </p:sp>
      <p:sp>
        <p:nvSpPr>
          <p:cNvPr id="14" name="Text 12"/>
          <p:cNvSpPr/>
          <p:nvPr/>
        </p:nvSpPr>
        <p:spPr>
          <a:xfrm>
            <a:off x="476250" y="3305175"/>
            <a:ext cx="23705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XGBoost test Acc ≥ 57%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76250" y="3438525"/>
            <a:ext cx="23705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"/>
              </a:spcBef>
              <a:buNone/>
            </a:pPr>
            <a:r>
              <a:rPr lang="en-US" sz="638" dirty="0">
                <a:solidFill>
                  <a:srgbClr val="8B9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54.79% — 갭 2.21%p  |  기한 09:15</a:t>
            </a:r>
            <a:endParaRPr lang="en-US" sz="638" dirty="0"/>
          </a:p>
        </p:txBody>
      </p:sp>
      <p:sp>
        <p:nvSpPr>
          <p:cNvPr id="16" name="Text 14"/>
          <p:cNvSpPr/>
          <p:nvPr/>
        </p:nvSpPr>
        <p:spPr>
          <a:xfrm>
            <a:off x="476250" y="3571875"/>
            <a:ext cx="237058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"/>
              </a:spcBef>
              <a:buNone/>
            </a:pPr>
            <a:r>
              <a:rPr lang="en-US" sz="638" b="1" dirty="0">
                <a:solidFill>
                  <a:srgbClr val="3FB9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+0.03 → 4.82 → 4.85</a:t>
            </a:r>
            <a:endParaRPr lang="en-US" sz="638" dirty="0"/>
          </a:p>
        </p:txBody>
      </p:sp>
      <p:sp>
        <p:nvSpPr>
          <p:cNvPr id="17" name="Text 15"/>
          <p:cNvSpPr/>
          <p:nvPr/>
        </p:nvSpPr>
        <p:spPr>
          <a:xfrm>
            <a:off x="3162300" y="495300"/>
            <a:ext cx="2819400" cy="3371850"/>
          </a:xfrm>
          <a:prstGeom prst="roundRect">
            <a:avLst>
              <a:gd name="adj" fmla="val 3378"/>
            </a:avLst>
          </a:prstGeom>
          <a:solidFill>
            <a:srgbClr val="130F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3162300" y="509587"/>
            <a:ext cx="2819400" cy="0"/>
          </a:xfrm>
          <a:prstGeom prst="line">
            <a:avLst/>
          </a:prstGeom>
          <a:noFill/>
          <a:ln w="28575">
            <a:solidFill>
              <a:srgbClr val="F5A62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76938" y="495300"/>
            <a:ext cx="0" cy="3371850"/>
          </a:xfrm>
          <a:prstGeom prst="line">
            <a:avLst/>
          </a:prstGeom>
          <a:noFill/>
          <a:ln w="9525">
            <a:solidFill>
              <a:srgbClr val="F5A62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62300" y="3862388"/>
            <a:ext cx="2819400" cy="0"/>
          </a:xfrm>
          <a:prstGeom prst="line">
            <a:avLst/>
          </a:prstGeom>
          <a:noFill/>
          <a:ln w="9525">
            <a:solidFill>
              <a:srgbClr val="F5A62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67063" y="495300"/>
            <a:ext cx="0" cy="3371850"/>
          </a:xfrm>
          <a:prstGeom prst="line">
            <a:avLst/>
          </a:prstGeom>
          <a:noFill/>
          <a:ln w="9525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05175" y="895350"/>
            <a:ext cx="2584323" cy="160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8"/>
              </a:lnSpc>
              <a:buNone/>
            </a:pPr>
            <a:r>
              <a:rPr lang="en-US" sz="975" b="1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v5.1 신규 파일 작성 + 로컬 학습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3305175" y="1122908"/>
            <a:ext cx="2533650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979"/>
              </a:lnSpc>
              <a:buSzPct val="100000"/>
              <a:buChar char="•"/>
            </a:pPr>
            <a:r>
              <a:rPr lang="en-US" sz="675" b="1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train_v5_1.py</a:t>
            </a:r>
            <a:pPr algn="l" indent="0" marL="0">
              <a:lnSpc>
                <a:spcPts val="979"/>
              </a:lnSpc>
              <a:buNone/>
            </a:pPr>
            <a:r>
              <a:rPr lang="en-US" sz="675" dirty="0">
                <a:solidFill>
                  <a:srgbClr val="8B9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신규 생성 (3일째 미생성)</a:t>
            </a:r>
            <a:endParaRPr lang="en-US" sz="675" dirty="0"/>
          </a:p>
          <a:p>
            <a:pPr algn="l" marL="342900" indent="-342900">
              <a:lnSpc>
                <a:spcPts val="979"/>
              </a:lnSpc>
              <a:buSzPct val="100000"/>
              <a:buChar char="•"/>
            </a:pPr>
            <a:r>
              <a:rPr lang="en-US" sz="675" dirty="0">
                <a:solidFill>
                  <a:srgbClr val="8B9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FW/MID 분리 모델, </a:t>
            </a:r>
            <a:pPr algn="l" indent="0" marL="0">
              <a:lnSpc>
                <a:spcPts val="979"/>
              </a:lnSpc>
              <a:buNone/>
            </a:pPr>
            <a:r>
              <a:rPr lang="en-US" sz="675" b="1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gc_trend_3yr</a:t>
            </a:r>
            <a:pPr algn="l" indent="0" marL="0">
              <a:lnSpc>
                <a:spcPts val="979"/>
              </a:lnSpc>
              <a:buNone/>
            </a:pPr>
            <a:r>
              <a:rPr lang="en-US" sz="675" dirty="0">
                <a:solidFill>
                  <a:srgbClr val="8B9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피처 복원</a:t>
            </a:r>
            <a:endParaRPr lang="en-US" sz="675" dirty="0"/>
          </a:p>
          <a:p>
            <a:pPr algn="l" marL="342900" indent="-342900">
              <a:lnSpc>
                <a:spcPts val="979"/>
              </a:lnSpc>
              <a:buSzPct val="100000"/>
              <a:buChar char="•"/>
            </a:pPr>
            <a:r>
              <a:rPr lang="en-US" sz="675" dirty="0">
                <a:solidFill>
                  <a:srgbClr val="8B9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Optuna 100 trials, LinearRegression(positive=True) 메타모델</a:t>
            </a:r>
            <a:endParaRPr lang="en-US" sz="675" dirty="0"/>
          </a:p>
          <a:p>
            <a:pPr algn="l" marL="342900" indent="-342900">
              <a:lnSpc>
                <a:spcPts val="979"/>
              </a:lnSpc>
              <a:buSzPct val="100000"/>
              <a:buChar char="•"/>
            </a:pPr>
            <a:r>
              <a:rPr lang="en-US" sz="675" dirty="0">
                <a:solidFill>
                  <a:srgbClr val="8B9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GroupKFold(n=5) 유지 → results_summary.json v5.1 업데이트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3305175" y="3076575"/>
            <a:ext cx="2533650" cy="657225"/>
          </a:xfrm>
          <a:prstGeom prst="roundRect">
            <a:avLst>
              <a:gd name="adj" fmla="val 8696"/>
            </a:avLst>
          </a:prstGeom>
          <a:solidFill>
            <a:srgbClr val="0A0C10"/>
          </a:solidFill>
          <a:ln w="9525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409950" y="3143250"/>
            <a:ext cx="23705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"/>
              </a:spcAft>
              <a:buNone/>
            </a:pPr>
            <a:r>
              <a:rPr lang="en-US" sz="638" dirty="0">
                <a:solidFill>
                  <a:srgbClr val="8B9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지표</a:t>
            </a:r>
            <a:endParaRPr lang="en-US" sz="638" dirty="0"/>
          </a:p>
        </p:txBody>
      </p:sp>
      <p:sp>
        <p:nvSpPr>
          <p:cNvPr id="26" name="Text 24"/>
          <p:cNvSpPr/>
          <p:nvPr/>
        </p:nvSpPr>
        <p:spPr>
          <a:xfrm>
            <a:off x="3409950" y="3276600"/>
            <a:ext cx="23705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test R² ≥ 0.62 / 갭 ≤ 0.07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3409950" y="3438525"/>
            <a:ext cx="23705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"/>
              </a:spcBef>
              <a:buNone/>
            </a:pPr>
            <a:r>
              <a:rPr lang="en-US" sz="638" dirty="0">
                <a:solidFill>
                  <a:srgbClr val="8B9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R² 0.586, 갭 0.055  |  오늘 종일</a:t>
            </a:r>
            <a:endParaRPr lang="en-US" sz="638" dirty="0"/>
          </a:p>
        </p:txBody>
      </p:sp>
      <p:sp>
        <p:nvSpPr>
          <p:cNvPr id="28" name="Text 26"/>
          <p:cNvSpPr/>
          <p:nvPr/>
        </p:nvSpPr>
        <p:spPr>
          <a:xfrm>
            <a:off x="3409950" y="3571875"/>
            <a:ext cx="237058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"/>
              </a:spcBef>
              <a:buNone/>
            </a:pPr>
            <a:r>
              <a:rPr lang="en-US" sz="638" b="1" dirty="0">
                <a:solidFill>
                  <a:srgbClr val="3FB9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+0.10 → 4.90 → 5.0</a:t>
            </a:r>
            <a:endParaRPr lang="en-US" sz="638" dirty="0"/>
          </a:p>
        </p:txBody>
      </p:sp>
      <p:sp>
        <p:nvSpPr>
          <p:cNvPr id="29" name="Text 27"/>
          <p:cNvSpPr/>
          <p:nvPr/>
        </p:nvSpPr>
        <p:spPr>
          <a:xfrm>
            <a:off x="6096000" y="495300"/>
            <a:ext cx="2819400" cy="3371850"/>
          </a:xfrm>
          <a:prstGeom prst="roundRect">
            <a:avLst>
              <a:gd name="adj" fmla="val 3378"/>
            </a:avLst>
          </a:prstGeom>
          <a:solidFill>
            <a:srgbClr val="0A13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6096000" y="509587"/>
            <a:ext cx="2819400" cy="0"/>
          </a:xfrm>
          <a:prstGeom prst="line">
            <a:avLst/>
          </a:prstGeom>
          <a:noFill/>
          <a:ln w="28575">
            <a:solidFill>
              <a:srgbClr val="00D4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910638" y="495300"/>
            <a:ext cx="0" cy="3371850"/>
          </a:xfrm>
          <a:prstGeom prst="line">
            <a:avLst/>
          </a:prstGeom>
          <a:noFill/>
          <a:ln w="9525">
            <a:solidFill>
              <a:srgbClr val="00D4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96000" y="3862388"/>
            <a:ext cx="2819400" cy="0"/>
          </a:xfrm>
          <a:prstGeom prst="line">
            <a:avLst/>
          </a:prstGeom>
          <a:noFill/>
          <a:ln w="9525">
            <a:solidFill>
              <a:srgbClr val="00D4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00763" y="495300"/>
            <a:ext cx="0" cy="3371850"/>
          </a:xfrm>
          <a:prstGeom prst="line">
            <a:avLst/>
          </a:prstGeom>
          <a:noFill/>
          <a:ln w="9525">
            <a:solidFill>
              <a:srgbClr val="00D4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38875" y="895350"/>
            <a:ext cx="2584323" cy="160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8"/>
              </a:lnSpc>
              <a:buNone/>
            </a:pPr>
            <a:r>
              <a:rPr lang="en-US" sz="975" b="1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P2 대시보드 통합 완료 (4일 이월 절대 불가)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6238875" y="1122908"/>
            <a:ext cx="2533650" cy="707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979"/>
              </a:lnSpc>
              <a:buSzPct val="100000"/>
              <a:buChar char="•"/>
            </a:pPr>
            <a:r>
              <a:rPr lang="en-US" sz="675" b="1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player_intelligence.py</a:t>
            </a:r>
            <a:pPr algn="l" indent="0" marL="0">
              <a:lnSpc>
                <a:spcPts val="979"/>
              </a:lnSpc>
              <a:buNone/>
            </a:pPr>
            <a:r>
              <a:rPr lang="en-US" sz="675" dirty="0">
                <a:solidFill>
                  <a:srgbClr val="8B9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성장 예측 섹션</a:t>
            </a:r>
            <a:endParaRPr lang="en-US" sz="675" dirty="0"/>
          </a:p>
          <a:p>
            <a:pPr algn="l" marL="342900" indent="-342900">
              <a:lnSpc>
                <a:spcPts val="979"/>
              </a:lnSpc>
              <a:buSzPct val="100000"/>
              <a:buChar char="•"/>
            </a:pPr>
            <a:r>
              <a:rPr lang="en-US" sz="675" b="1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st.columns(2)</a:t>
            </a:r>
            <a:pPr algn="l" indent="0" marL="0">
              <a:lnSpc>
                <a:spcPts val="979"/>
              </a:lnSpc>
              <a:buNone/>
            </a:pPr>
            <a:r>
              <a:rPr lang="en-US" sz="675" dirty="0">
                <a:solidFill>
                  <a:srgbClr val="8B9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추가 → 우측 컬럼 P2 XGBoost 연동</a:t>
            </a:r>
            <a:endParaRPr lang="en-US" sz="675" dirty="0"/>
          </a:p>
          <a:p>
            <a:pPr algn="l" marL="342900" indent="-342900">
              <a:lnSpc>
                <a:spcPts val="979"/>
              </a:lnSpc>
              <a:buSzPct val="100000"/>
              <a:buChar char="•"/>
            </a:pPr>
            <a:r>
              <a:rPr lang="en-US" sz="675" dirty="0">
                <a:solidFill>
                  <a:srgbClr val="8B9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포지션별 백분위 계산 → "내년 예상 득점 X.X골 (±1.9골, FW 상위 Z%)"</a:t>
            </a:r>
            <a:endParaRPr lang="en-US" sz="675" dirty="0"/>
          </a:p>
          <a:p>
            <a:pPr algn="l" marL="342900" indent="-342900">
              <a:lnSpc>
                <a:spcPts val="979"/>
              </a:lnSpc>
              <a:buSzPct val="100000"/>
              <a:buChar char="•"/>
            </a:pPr>
            <a:r>
              <a:rPr lang="en-US" sz="675" dirty="0">
                <a:solidFill>
                  <a:srgbClr val="8B9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60~80줄 작성</a:t>
            </a:r>
            <a:endParaRPr lang="en-US" sz="675" dirty="0"/>
          </a:p>
        </p:txBody>
      </p:sp>
      <p:sp>
        <p:nvSpPr>
          <p:cNvPr id="36" name="Text 34"/>
          <p:cNvSpPr/>
          <p:nvPr/>
        </p:nvSpPr>
        <p:spPr>
          <a:xfrm>
            <a:off x="6238875" y="3076575"/>
            <a:ext cx="2533650" cy="657225"/>
          </a:xfrm>
          <a:prstGeom prst="roundRect">
            <a:avLst>
              <a:gd name="adj" fmla="val 8696"/>
            </a:avLst>
          </a:prstGeom>
          <a:solidFill>
            <a:srgbClr val="0A0C10"/>
          </a:solidFill>
          <a:ln w="9525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343650" y="3143250"/>
            <a:ext cx="23705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"/>
              </a:spcAft>
              <a:buNone/>
            </a:pPr>
            <a:r>
              <a:rPr lang="en-US" sz="638" dirty="0">
                <a:solidFill>
                  <a:srgbClr val="8B9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지표</a:t>
            </a:r>
            <a:endParaRPr lang="en-US" sz="638" dirty="0"/>
          </a:p>
        </p:txBody>
      </p:sp>
      <p:sp>
        <p:nvSpPr>
          <p:cNvPr id="38" name="Text 36"/>
          <p:cNvSpPr/>
          <p:nvPr/>
        </p:nvSpPr>
        <p:spPr>
          <a:xfrm>
            <a:off x="6343650" y="3276600"/>
            <a:ext cx="23705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P2 득점 예측 블록 통합</a:t>
            </a:r>
            <a:endParaRPr lang="en-US" sz="825" dirty="0"/>
          </a:p>
        </p:txBody>
      </p:sp>
      <p:sp>
        <p:nvSpPr>
          <p:cNvPr id="39" name="Text 37"/>
          <p:cNvSpPr/>
          <p:nvPr/>
        </p:nvSpPr>
        <p:spPr>
          <a:xfrm>
            <a:off x="6343650" y="3438525"/>
            <a:ext cx="23705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"/>
              </a:spcBef>
              <a:buNone/>
            </a:pPr>
            <a:r>
              <a:rPr lang="en-US" sz="638" dirty="0">
                <a:solidFill>
                  <a:srgbClr val="8B9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R²=0.8877 영입 회의 활용  |  저녁 완료</a:t>
            </a:r>
            <a:endParaRPr lang="en-US" sz="638" dirty="0"/>
          </a:p>
        </p:txBody>
      </p:sp>
      <p:sp>
        <p:nvSpPr>
          <p:cNvPr id="40" name="Text 38"/>
          <p:cNvSpPr/>
          <p:nvPr/>
        </p:nvSpPr>
        <p:spPr>
          <a:xfrm>
            <a:off x="6343650" y="3571875"/>
            <a:ext cx="237058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"/>
              </a:spcBef>
              <a:buNone/>
            </a:pPr>
            <a:r>
              <a:rPr lang="en-US" sz="638" b="1" dirty="0">
                <a:solidFill>
                  <a:srgbClr val="3FB9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+0.05 → 4.85 → 4.90</a:t>
            </a:r>
            <a:endParaRPr lang="en-US" sz="638" dirty="0"/>
          </a:p>
        </p:txBody>
      </p:sp>
      <p:sp>
        <p:nvSpPr>
          <p:cNvPr id="41" name="Text 39"/>
          <p:cNvSpPr/>
          <p:nvPr/>
        </p:nvSpPr>
        <p:spPr>
          <a:xfrm>
            <a:off x="228600" y="3943350"/>
            <a:ext cx="8686800" cy="1104900"/>
          </a:xfrm>
          <a:prstGeom prst="roundRect">
            <a:avLst>
              <a:gd name="adj" fmla="val 6897"/>
            </a:avLst>
          </a:prstGeom>
          <a:solidFill>
            <a:srgbClr val="161B2E"/>
          </a:solidFill>
          <a:ln w="9525">
            <a:solidFill>
              <a:srgbClr val="2A305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171450"/>
            <a:ext cx="218446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김태현 스카우트 종합 평가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2484537" y="247650"/>
            <a:ext cx="18037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B9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4.82 / 5.0  |  오늘 3건 달성 시 5.0 달성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228600" y="495300"/>
            <a:ext cx="2286000" cy="4533900"/>
          </a:xfrm>
          <a:prstGeom prst="roundRect">
            <a:avLst>
              <a:gd name="adj" fmla="val 4167"/>
            </a:avLst>
          </a:prstGeom>
          <a:solidFill>
            <a:srgbClr val="131829"/>
          </a:solidFill>
          <a:ln w="9525">
            <a:solidFill>
              <a:srgbClr val="2A305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01805" y="657225"/>
            <a:ext cx="73944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5" dirty="0">
                <a:solidFill>
                  <a:srgbClr val="8B9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평가 게이지</a:t>
            </a:r>
            <a:endParaRPr lang="en-US" sz="675" dirty="0"/>
          </a:p>
        </p:txBody>
      </p:sp>
      <p:sp>
        <p:nvSpPr>
          <p:cNvPr id="7" name="Shape 5"/>
          <p:cNvSpPr/>
          <p:nvPr/>
        </p:nvSpPr>
        <p:spPr>
          <a:xfrm>
            <a:off x="609600" y="942975"/>
            <a:ext cx="1524000" cy="0"/>
          </a:xfrm>
          <a:prstGeom prst="line">
            <a:avLst/>
          </a:prstGeom>
          <a:noFill/>
          <a:ln w="133350">
            <a:solidFill>
              <a:srgbClr val="1A1E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66925" y="876300"/>
            <a:ext cx="0" cy="762000"/>
          </a:xfrm>
          <a:prstGeom prst="line">
            <a:avLst/>
          </a:prstGeom>
          <a:noFill/>
          <a:ln w="133350">
            <a:solidFill>
              <a:srgbClr val="1A1E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275" y="876300"/>
            <a:ext cx="0" cy="762000"/>
          </a:xfrm>
          <a:prstGeom prst="line">
            <a:avLst/>
          </a:prstGeom>
          <a:noFill/>
          <a:ln w="133350">
            <a:solidFill>
              <a:srgbClr val="1A1E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2950" y="1076325"/>
            <a:ext cx="1257300" cy="0"/>
          </a:xfrm>
          <a:prstGeom prst="line">
            <a:avLst/>
          </a:prstGeom>
          <a:noFill/>
          <a:ln w="133350">
            <a:solidFill>
              <a:srgbClr val="F5A62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9625" y="1009650"/>
            <a:ext cx="0" cy="628650"/>
          </a:xfrm>
          <a:prstGeom prst="line">
            <a:avLst/>
          </a:prstGeom>
          <a:noFill/>
          <a:ln w="13335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4479" y="1733550"/>
            <a:ext cx="79424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4.82</a:t>
            </a:r>
            <a:endParaRPr lang="en-US" sz="3150" dirty="0"/>
          </a:p>
        </p:txBody>
      </p:sp>
      <p:sp>
        <p:nvSpPr>
          <p:cNvPr id="13" name="Text 11"/>
          <p:cNvSpPr/>
          <p:nvPr/>
        </p:nvSpPr>
        <p:spPr>
          <a:xfrm>
            <a:off x="974479" y="2152650"/>
            <a:ext cx="7942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"/>
              </a:spcBef>
              <a:buNone/>
            </a:pPr>
            <a:r>
              <a:rPr lang="en-US" sz="1200" dirty="0">
                <a:solidFill>
                  <a:srgbClr val="8B9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 5.0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74479" y="2362200"/>
            <a:ext cx="7942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3FB9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+0.02 전일 대비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371475" y="2600325"/>
            <a:ext cx="2000250" cy="76200"/>
          </a:xfrm>
          <a:prstGeom prst="roundRect">
            <a:avLst>
              <a:gd name="adj" fmla="val 75000"/>
            </a:avLst>
          </a:prstGeom>
          <a:solidFill>
            <a:srgbClr val="1A1E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71475" y="2600325"/>
            <a:ext cx="1928217" cy="76200"/>
          </a:xfrm>
          <a:prstGeom prst="roundRect">
            <a:avLst>
              <a:gd name="adj" fmla="val 75000"/>
            </a:avLst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67668" y="2771775"/>
            <a:ext cx="10278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8B9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96.4% (전일 대비 +0.4%p)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841474" y="2990850"/>
            <a:ext cx="108130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3FB9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+0.02 P1 torch 해소 크레딧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2647950" y="495300"/>
            <a:ext cx="6267450" cy="3126581"/>
          </a:xfrm>
          <a:prstGeom prst="roundRect">
            <a:avLst>
              <a:gd name="adj" fmla="val 2437"/>
            </a:avLst>
          </a:prstGeom>
          <a:solidFill>
            <a:srgbClr val="161B2E"/>
          </a:solidFill>
          <a:ln w="9525">
            <a:solidFill>
              <a:srgbClr val="2A305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647950" y="3698081"/>
            <a:ext cx="6267450" cy="812006"/>
          </a:xfrm>
          <a:prstGeom prst="roundRect">
            <a:avLst>
              <a:gd name="adj" fmla="val 9384"/>
            </a:avLst>
          </a:prstGeom>
          <a:solidFill>
            <a:srgbClr val="131829"/>
          </a:solidFill>
          <a:ln w="9525">
            <a:solidFill>
              <a:srgbClr val="2A305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790825" y="3802856"/>
            <a:ext cx="61013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5.0 달성 로드맵 (오늘 2026-05-08 최종)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790825" y="4027884"/>
            <a:ext cx="469106" cy="361950"/>
          </a:xfrm>
          <a:prstGeom prst="roundRect">
            <a:avLst>
              <a:gd name="adj" fmla="val 15789"/>
            </a:avLst>
          </a:prstGeom>
          <a:solidFill>
            <a:srgbClr val="0A1220"/>
          </a:solidFill>
          <a:ln w="9525">
            <a:solidFill>
              <a:srgbClr val="2A305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893004" y="4085034"/>
            <a:ext cx="2647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10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4.82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893004" y="4227909"/>
            <a:ext cx="26474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5"/>
              </a:spcBef>
              <a:buNone/>
            </a:pPr>
            <a:r>
              <a:rPr lang="en-US" sz="600" dirty="0">
                <a:solidFill>
                  <a:srgbClr val="8B9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3285379" y="4058841"/>
            <a:ext cx="12904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+0.03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285379" y="4173141"/>
            <a:ext cx="129049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31"/>
              </a:lnSpc>
              <a:spcBef>
                <a:spcPts val="75"/>
              </a:spcBef>
              <a:buNone/>
            </a:pPr>
            <a:r>
              <a:rPr lang="en-US" sz="563" dirty="0">
                <a:solidFill>
                  <a:srgbClr val="8B9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Acc ≥57%</a:t>
            </a:r>
            <a:endParaRPr lang="en-US" sz="563" dirty="0"/>
          </a:p>
          <a:p>
            <a:pPr algn="ctr" indent="0" marL="0">
              <a:lnSpc>
                <a:spcPts val="731"/>
              </a:lnSpc>
              <a:spcBef>
                <a:spcPts val="75"/>
              </a:spcBef>
              <a:buNone/>
            </a:pPr>
            <a:r>
              <a:rPr lang="en-US" sz="563" dirty="0">
                <a:solidFill>
                  <a:srgbClr val="8B9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09:15 Actions</a:t>
            </a:r>
            <a:endParaRPr lang="en-US" sz="563" dirty="0"/>
          </a:p>
        </p:txBody>
      </p:sp>
      <p:sp>
        <p:nvSpPr>
          <p:cNvPr id="27" name="Text 25"/>
          <p:cNvSpPr/>
          <p:nvPr/>
        </p:nvSpPr>
        <p:spPr>
          <a:xfrm>
            <a:off x="4601319" y="4027884"/>
            <a:ext cx="476399" cy="361950"/>
          </a:xfrm>
          <a:prstGeom prst="roundRect">
            <a:avLst>
              <a:gd name="adj" fmla="val 15789"/>
            </a:avLst>
          </a:prstGeom>
          <a:solidFill>
            <a:srgbClr val="0A1220"/>
          </a:solidFill>
          <a:ln w="9525">
            <a:solidFill>
              <a:srgbClr val="2A305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703426" y="4085034"/>
            <a:ext cx="2721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10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4.85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03426" y="4227909"/>
            <a:ext cx="27218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5"/>
              </a:spcBef>
              <a:buNone/>
            </a:pPr>
            <a:r>
              <a:rPr lang="en-US" sz="600" dirty="0">
                <a:solidFill>
                  <a:srgbClr val="8B9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달성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5103166" y="4058841"/>
            <a:ext cx="12904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+0.05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103166" y="4173141"/>
            <a:ext cx="129049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31"/>
              </a:lnSpc>
              <a:spcBef>
                <a:spcPts val="75"/>
              </a:spcBef>
              <a:buNone/>
            </a:pPr>
            <a:r>
              <a:rPr lang="en-US" sz="563" dirty="0">
                <a:solidFill>
                  <a:srgbClr val="8B9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P2 대시보드</a:t>
            </a:r>
            <a:endParaRPr lang="en-US" sz="563" dirty="0"/>
          </a:p>
          <a:p>
            <a:pPr algn="ctr" indent="0" marL="0">
              <a:lnSpc>
                <a:spcPts val="731"/>
              </a:lnSpc>
              <a:spcBef>
                <a:spcPts val="75"/>
              </a:spcBef>
              <a:buNone/>
            </a:pPr>
            <a:r>
              <a:rPr lang="en-US" sz="563" dirty="0">
                <a:solidFill>
                  <a:srgbClr val="8B9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저녁</a:t>
            </a:r>
            <a:endParaRPr lang="en-US" sz="563" dirty="0"/>
          </a:p>
        </p:txBody>
      </p:sp>
      <p:sp>
        <p:nvSpPr>
          <p:cNvPr id="32" name="Text 30"/>
          <p:cNvSpPr/>
          <p:nvPr/>
        </p:nvSpPr>
        <p:spPr>
          <a:xfrm>
            <a:off x="6419106" y="4027884"/>
            <a:ext cx="476399" cy="361950"/>
          </a:xfrm>
          <a:prstGeom prst="roundRect">
            <a:avLst>
              <a:gd name="adj" fmla="val 15789"/>
            </a:avLst>
          </a:prstGeom>
          <a:solidFill>
            <a:srgbClr val="0A1220"/>
          </a:solidFill>
          <a:ln w="9525">
            <a:solidFill>
              <a:srgbClr val="2A305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521212" y="4085034"/>
            <a:ext cx="2721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10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4.90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521212" y="4227909"/>
            <a:ext cx="27218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5"/>
              </a:spcBef>
              <a:buNone/>
            </a:pPr>
            <a:r>
              <a:rPr lang="en-US" sz="600" dirty="0">
                <a:solidFill>
                  <a:srgbClr val="8B9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P2 달성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6920953" y="4012406"/>
            <a:ext cx="12904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+0.10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920953" y="4126706"/>
            <a:ext cx="1290492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31"/>
              </a:lnSpc>
              <a:spcBef>
                <a:spcPts val="75"/>
              </a:spcBef>
              <a:buNone/>
            </a:pPr>
            <a:r>
              <a:rPr lang="en-US" sz="563" dirty="0">
                <a:solidFill>
                  <a:srgbClr val="8B9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v5.1</a:t>
            </a:r>
            <a:endParaRPr lang="en-US" sz="563" dirty="0"/>
          </a:p>
          <a:p>
            <a:pPr algn="ctr" indent="0" marL="0">
              <a:lnSpc>
                <a:spcPts val="731"/>
              </a:lnSpc>
              <a:spcBef>
                <a:spcPts val="75"/>
              </a:spcBef>
              <a:buNone/>
            </a:pPr>
            <a:r>
              <a:rPr lang="en-US" sz="563" dirty="0">
                <a:solidFill>
                  <a:srgbClr val="8B9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R²≥0.62</a:t>
            </a:r>
            <a:endParaRPr lang="en-US" sz="563" dirty="0"/>
          </a:p>
          <a:p>
            <a:pPr algn="ctr" indent="0" marL="0">
              <a:lnSpc>
                <a:spcPts val="731"/>
              </a:lnSpc>
              <a:spcBef>
                <a:spcPts val="75"/>
              </a:spcBef>
              <a:buNone/>
            </a:pPr>
            <a:r>
              <a:rPr lang="en-US" sz="563" dirty="0">
                <a:solidFill>
                  <a:srgbClr val="8B9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오후</a:t>
            </a:r>
            <a:endParaRPr lang="en-US" sz="563" dirty="0"/>
          </a:p>
        </p:txBody>
      </p:sp>
      <p:sp>
        <p:nvSpPr>
          <p:cNvPr id="37" name="Text 35"/>
          <p:cNvSpPr/>
          <p:nvPr/>
        </p:nvSpPr>
        <p:spPr>
          <a:xfrm>
            <a:off x="8236893" y="4018359"/>
            <a:ext cx="535632" cy="381000"/>
          </a:xfrm>
          <a:prstGeom prst="roundRect">
            <a:avLst>
              <a:gd name="adj" fmla="val 15000"/>
            </a:avLst>
          </a:prstGeom>
          <a:solidFill>
            <a:srgbClr val="0A1220"/>
          </a:solidFill>
          <a:ln w="9525">
            <a:solidFill>
              <a:srgbClr val="2A305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8338407" y="4075509"/>
            <a:ext cx="3326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5.0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338407" y="4237434"/>
            <a:ext cx="33260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5"/>
              </a:spcBef>
              <a:buNone/>
            </a:pPr>
            <a:r>
              <a:rPr lang="en-US" sz="600" dirty="0">
                <a:solidFill>
                  <a:srgbClr val="8B9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낙관 목표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2647950" y="4586288"/>
            <a:ext cx="6267450" cy="442913"/>
          </a:xfrm>
          <a:prstGeom prst="roundRect">
            <a:avLst>
              <a:gd name="adj" fmla="val 12903"/>
            </a:avLst>
          </a:prstGeom>
          <a:solidFill>
            <a:srgbClr val="080E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2647950" y="4591050"/>
            <a:ext cx="6267450" cy="0"/>
          </a:xfrm>
          <a:prstGeom prst="line">
            <a:avLst/>
          </a:prstGeom>
          <a:noFill/>
          <a:ln w="9525">
            <a:solidFill>
              <a:srgbClr val="00D4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910638" y="4586288"/>
            <a:ext cx="0" cy="442913"/>
          </a:xfrm>
          <a:prstGeom prst="line">
            <a:avLst/>
          </a:prstGeom>
          <a:noFill/>
          <a:ln w="9525">
            <a:solidFill>
              <a:srgbClr val="00D4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647950" y="5024438"/>
            <a:ext cx="6267450" cy="0"/>
          </a:xfrm>
          <a:prstGeom prst="line">
            <a:avLst/>
          </a:prstGeom>
          <a:noFill/>
          <a:ln w="9525">
            <a:solidFill>
              <a:srgbClr val="00D4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662238" y="4586288"/>
            <a:ext cx="0" cy="442913"/>
          </a:xfrm>
          <a:prstGeom prst="line">
            <a:avLst/>
          </a:prstGeom>
          <a:noFill/>
          <a:ln w="28575">
            <a:solidFill>
              <a:srgbClr val="00D4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90825" y="4672013"/>
            <a:ext cx="6120765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13" dirty="0">
                <a:solidFill>
                  <a:srgbClr val="8B9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"16번째 미팅, 이번 주 마지막. 시스템 모델 품질은 P2, P3, P4, S1 모두 </a:t>
            </a:r>
            <a:pPr algn="l" indent="0" marL="0">
              <a:lnSpc>
                <a:spcPts val="1069"/>
              </a:lnSpc>
              <a:buNone/>
            </a:pPr>
            <a:r>
              <a:rPr lang="en-US" sz="713" b="1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영입 회의 즉시 활용 수준</a:t>
            </a:r>
            <a:pPr algn="l" indent="0" marL="0">
              <a:lnSpc>
                <a:spcPts val="1069"/>
              </a:lnSpc>
              <a:buNone/>
            </a:pPr>
            <a:r>
              <a:rPr lang="en-US" sz="713" dirty="0">
                <a:solidFill>
                  <a:srgbClr val="8B9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 이제 남은 건 </a:t>
            </a:r>
            <a:pPr algn="l" indent="0" marL="0">
              <a:lnSpc>
                <a:spcPts val="1069"/>
              </a:lnSpc>
              <a:buNone/>
            </a:pPr>
            <a:r>
              <a:rPr lang="en-US" sz="713" b="1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실행력</a:t>
            </a:r>
            <a:pPr algn="l" indent="0" marL="0">
              <a:lnSpc>
                <a:spcPts val="1069"/>
              </a:lnSpc>
              <a:buNone/>
            </a:pPr>
            <a:r>
              <a:rPr lang="en-US" sz="713" dirty="0">
                <a:solidFill>
                  <a:srgbClr val="8B9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뿐. P1 정확도 회복, P7 v5.1 파일 생성, P2 대시보드 통합 — 오늘 세 가지 모두 결과물이 나와야." — </a:t>
            </a:r>
            <a:pPr algn="l" indent="0" marL="0">
              <a:lnSpc>
                <a:spcPts val="1069"/>
              </a:lnSpc>
              <a:buNone/>
            </a:pPr>
            <a:r>
              <a:rPr lang="en-US" sz="713" b="1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김태현 스카우트</a:t>
            </a:r>
            <a:endParaRPr lang="en-US" sz="71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171450"/>
            <a:ext cx="200017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Streamlit 대시보드 현황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2303859" y="247650"/>
            <a:ext cx="36481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B9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16페이지 전방위 가동  |  Streamlit Cloud 배포 완료  |  오늘 P2 블록 추가 예정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228600" y="495300"/>
            <a:ext cx="2286000" cy="1247775"/>
          </a:xfrm>
          <a:prstGeom prst="roundRect">
            <a:avLst>
              <a:gd name="adj" fmla="val 7634"/>
            </a:avLst>
          </a:prstGeom>
          <a:solidFill>
            <a:srgbClr val="131829"/>
          </a:solidFill>
          <a:ln w="9525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51473" y="657225"/>
            <a:ext cx="204025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51473" y="1285875"/>
            <a:ext cx="20402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"/>
              </a:spcBef>
              <a:buNone/>
            </a:pPr>
            <a:r>
              <a:rPr lang="en-US" sz="900" dirty="0">
                <a:solidFill>
                  <a:srgbClr val="8B9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51473" y="1457325"/>
            <a:ext cx="204025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675" dirty="0">
                <a:solidFill>
                  <a:srgbClr val="8B9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전방위 커버리지 완성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228600" y="1838325"/>
            <a:ext cx="2286000" cy="895350"/>
          </a:xfrm>
          <a:prstGeom prst="roundRect">
            <a:avLst>
              <a:gd name="adj" fmla="val 8511"/>
            </a:avLst>
          </a:prstGeom>
          <a:solidFill>
            <a:srgbClr val="131829"/>
          </a:solidFill>
          <a:ln w="9525">
            <a:solidFill>
              <a:srgbClr val="2A305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52425" y="1943100"/>
            <a:ext cx="207911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75"/>
              </a:spcAft>
              <a:buNone/>
            </a:pPr>
            <a:r>
              <a:rPr lang="en-US" sz="638" dirty="0">
                <a:solidFill>
                  <a:srgbClr val="8B9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STREAMLIT CLOUD URL</a:t>
            </a:r>
            <a:endParaRPr lang="en-US" sz="638" dirty="0"/>
          </a:p>
        </p:txBody>
      </p:sp>
      <p:sp>
        <p:nvSpPr>
          <p:cNvPr id="11" name="Text 9"/>
          <p:cNvSpPr/>
          <p:nvPr/>
        </p:nvSpPr>
        <p:spPr>
          <a:xfrm>
            <a:off x="352425" y="2085975"/>
            <a:ext cx="20791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00" dirty="0">
                <a:solidFill>
                  <a:srgbClr val="00D4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https://epl-scouting-report-dashboard-project-ffyb8msh6uafxyyg8txsm8.streamlit.app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352425" y="2371725"/>
            <a:ext cx="207911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50"/>
              </a:spcBef>
              <a:buNone/>
            </a:pPr>
            <a:r>
              <a:rPr lang="en-US" sz="600" dirty="0">
                <a:solidFill>
                  <a:srgbClr val="8B9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352425" y="2457450"/>
            <a:ext cx="20791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B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robinho0329 / EPL-scouting-report-dashboard-project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1140705" y="3810000"/>
            <a:ext cx="46179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8B9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QR Code</a:t>
            </a:r>
            <a:endParaRPr lang="en-US" sz="675" dirty="0"/>
          </a:p>
          <a:p>
            <a:pPr algn="ctr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8B9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Placeholder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2647950" y="495300"/>
            <a:ext cx="6267450" cy="4029075"/>
          </a:xfrm>
          <a:prstGeom prst="roundRect">
            <a:avLst>
              <a:gd name="adj" fmla="val 1891"/>
            </a:avLst>
          </a:prstGeom>
          <a:solidFill>
            <a:srgbClr val="161B2E"/>
          </a:solidFill>
          <a:ln w="9525">
            <a:solidFill>
              <a:srgbClr val="2A305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647950" y="4600575"/>
            <a:ext cx="6267450" cy="447675"/>
          </a:xfrm>
          <a:prstGeom prst="roundRect">
            <a:avLst>
              <a:gd name="adj" fmla="val 14894"/>
            </a:avLst>
          </a:prstGeom>
          <a:solidFill>
            <a:srgbClr val="15050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2647950" y="4605338"/>
            <a:ext cx="6267450" cy="0"/>
          </a:xfrm>
          <a:prstGeom prst="line">
            <a:avLst/>
          </a:prstGeom>
          <a:noFill/>
          <a:ln w="9525">
            <a:solidFill>
              <a:srgbClr val="E9456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10638" y="4600575"/>
            <a:ext cx="0" cy="447675"/>
          </a:xfrm>
          <a:prstGeom prst="line">
            <a:avLst/>
          </a:prstGeom>
          <a:noFill/>
          <a:ln w="9525">
            <a:solidFill>
              <a:srgbClr val="E945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47950" y="5043488"/>
            <a:ext cx="6267450" cy="0"/>
          </a:xfrm>
          <a:prstGeom prst="line">
            <a:avLst/>
          </a:prstGeom>
          <a:noFill/>
          <a:ln w="9525">
            <a:solidFill>
              <a:srgbClr val="E945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67000" y="4600575"/>
            <a:ext cx="0" cy="447675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19400" y="4748213"/>
            <a:ext cx="19400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📅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104852" y="4686300"/>
            <a:ext cx="47615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변경 예정 (이번 주 최종 기한): player_intelligence (#4) 내 P2 득점 예측 블록 추가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104852" y="4838700"/>
            <a:ext cx="476150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"/>
              </a:spcBef>
              <a:buNone/>
            </a:pPr>
            <a:r>
              <a:rPr lang="en-US" sz="675" dirty="0">
                <a:solidFill>
                  <a:srgbClr val="8B94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st.columns(2) 우측 컬럼 — XGBoost R²=0.8877 모델 연동, 포지션별 백분위 출력 (약 60~80줄) — 영입 회의 완전 지원 달성</a:t>
            </a:r>
            <a:endParaRPr lang="en-US" sz="6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2026-05-08T00:34:32Z</dcterms:created>
  <dcterms:modified xsi:type="dcterms:W3CDTF">2026-05-08T00:34:32Z</dcterms:modified>
</cp:coreProperties>
</file>