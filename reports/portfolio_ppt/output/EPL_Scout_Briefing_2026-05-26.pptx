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295275"/>
          </a:xfrm>
          <a:prstGeom prst="rect">
            <a:avLst/>
          </a:prstGeom>
          <a:solidFill>
            <a:srgbClr val="FF6B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321594" y="76200"/>
            <a:ext cx="8706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화요일 경고 집행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2365623" y="85725"/>
            <a:ext cx="9525" cy="12382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565648" y="76200"/>
            <a:ext cx="130597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P7 · P1 15일 연속 미달</a:t>
            </a:r>
            <a:endParaRPr lang="en-US" sz="825" dirty="0"/>
          </a:p>
        </p:txBody>
      </p:sp>
      <p:sp>
        <p:nvSpPr>
          <p:cNvPr id="6" name="Text 4"/>
          <p:cNvSpPr/>
          <p:nvPr/>
        </p:nvSpPr>
        <p:spPr>
          <a:xfrm>
            <a:off x="4036516" y="85725"/>
            <a:ext cx="9525" cy="12382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236541" y="76200"/>
            <a:ext cx="107265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22시 절대 마감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5478661" y="85725"/>
            <a:ext cx="9525" cy="12382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678686" y="76200"/>
            <a:ext cx="218644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미이행 시 4.0 이하 — 시스템 재설계 개시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0" y="361950"/>
            <a:ext cx="47625" cy="4781550"/>
          </a:xfrm>
          <a:prstGeom prst="rect">
            <a:avLst/>
          </a:prstGeom>
          <a:solidFill>
            <a:srgbClr val="FF6B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81025" y="1312366"/>
            <a:ext cx="822902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900"/>
              </a:spcAft>
              <a:buNone/>
            </a:pPr>
            <a:r>
              <a:rPr lang="en-US" sz="750" b="1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EPL SCOUT INTELLIGENCE · DAILY BRIEFING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581025" y="1531441"/>
            <a:ext cx="1874044" cy="209550"/>
          </a:xfrm>
          <a:prstGeom prst="roundRect">
            <a:avLst>
              <a:gd name="adj" fmla="val 18182"/>
            </a:avLst>
          </a:prstGeom>
          <a:solidFill>
            <a:srgbClr val="1E1014"/>
          </a:solidFill>
          <a:ln w="9525">
            <a:solidFill>
              <a:srgbClr val="FF6B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85800" y="1569541"/>
            <a:ext cx="169778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35번째 정기 미팅  |  09:00 KST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581025" y="1874341"/>
            <a:ext cx="8229028" cy="946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26"/>
              </a:lnSpc>
              <a:spcAft>
                <a:spcPts val="900"/>
              </a:spcAft>
              <a:buNone/>
            </a:pPr>
            <a:r>
              <a:rPr lang="en-US" sz="345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EPL 스카우트
</a:t>
            </a:r>
            <a:pPr algn="l" indent="0" marL="0">
              <a:lnSpc>
                <a:spcPts val="3726"/>
              </a:lnSpc>
              <a:spcAft>
                <a:spcPts val="900"/>
              </a:spcAft>
              <a:buNone/>
            </a:pPr>
            <a:r>
              <a:rPr lang="en-US" sz="3450" b="1" dirty="0">
                <a:solidFill>
                  <a:srgbClr val="38D9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인텔리전스</a:t>
            </a:r>
            <a:endParaRPr lang="en-US" sz="3450" dirty="0"/>
          </a:p>
        </p:txBody>
      </p:sp>
      <p:sp>
        <p:nvSpPr>
          <p:cNvPr id="15" name="Text 13"/>
          <p:cNvSpPr/>
          <p:nvPr/>
        </p:nvSpPr>
        <p:spPr>
          <a:xfrm>
            <a:off x="581025" y="2934891"/>
            <a:ext cx="685800" cy="28575"/>
          </a:xfrm>
          <a:prstGeom prst="rect">
            <a:avLst/>
          </a:prstGeom>
          <a:solidFill>
            <a:srgbClr val="FF6B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81025" y="3134916"/>
            <a:ext cx="8229028" cy="210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8"/>
              </a:lnSpc>
              <a:spcAft>
                <a:spcPts val="1500"/>
              </a:spcAft>
              <a:buNone/>
            </a:pPr>
            <a:r>
              <a:rPr lang="en-US" sz="975" b="1" dirty="0">
                <a:solidFill>
                  <a:srgbClr val="38D9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2026-05-26 (화)</a:t>
            </a:r>
            <a:pPr algn="l" indent="0" marL="0">
              <a:lnSpc>
                <a:spcPts val="1658"/>
              </a:lnSpc>
              <a:spcAft>
                <a:spcPts val="1500"/>
              </a:spcAft>
              <a:buNone/>
            </a:pPr>
            <a:r>
              <a:rPr lang="en-US" sz="975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· 데일리 브리핑 · 35번째 정기 미팅 · 09:00 KST</a:t>
            </a:r>
            <a:endParaRPr lang="en-US" sz="975" dirty="0"/>
          </a:p>
        </p:txBody>
      </p:sp>
      <p:sp>
        <p:nvSpPr>
          <p:cNvPr id="17" name="Text 15"/>
          <p:cNvSpPr/>
          <p:nvPr/>
        </p:nvSpPr>
        <p:spPr>
          <a:xfrm>
            <a:off x="581025" y="3535859"/>
            <a:ext cx="822902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김태현</a:t>
            </a:r>
            <a:pPr algn="l" indent="0" marL="0">
              <a:buNone/>
            </a:pPr>
            <a:r>
              <a:rPr lang="en-US" sz="825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스카우트 · </a:t>
            </a:r>
            <a:pPr algn="l" indent="0" marL="0">
              <a:buNone/>
            </a:pPr>
            <a:r>
              <a:rPr lang="en-US" sz="825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Marcus Webb</a:t>
            </a:r>
            <a:pPr algn="l" indent="0" marL="0">
              <a:buNone/>
            </a:pPr>
            <a:r>
              <a:rPr lang="en-US" sz="825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(Analytics Agent)</a:t>
            </a:r>
            <a:endParaRPr lang="en-US" sz="825" dirty="0"/>
          </a:p>
        </p:txBody>
      </p:sp>
      <p:sp>
        <p:nvSpPr>
          <p:cNvPr id="18" name="Text 16"/>
          <p:cNvSpPr/>
          <p:nvPr/>
        </p:nvSpPr>
        <p:spPr>
          <a:xfrm>
            <a:off x="7543800" y="3276600"/>
            <a:ext cx="1181100" cy="1181100"/>
          </a:xfrm>
          <a:prstGeom prst="roundRect">
            <a:avLst>
              <a:gd name="adj" fmla="val 77419"/>
            </a:avLst>
          </a:prstGeom>
          <a:solidFill>
            <a:srgbClr val="161B22"/>
          </a:solidFill>
          <a:ln w="38100">
            <a:solidFill>
              <a:srgbClr val="FF6B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7781776" y="3505200"/>
            <a:ext cx="71925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2250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4.05</a:t>
            </a:r>
            <a:endParaRPr lang="en-US" sz="2250" dirty="0"/>
          </a:p>
        </p:txBody>
      </p:sp>
      <p:sp>
        <p:nvSpPr>
          <p:cNvPr id="20" name="Text 18"/>
          <p:cNvSpPr/>
          <p:nvPr/>
        </p:nvSpPr>
        <p:spPr>
          <a:xfrm>
            <a:off x="8016627" y="3810000"/>
            <a:ext cx="24000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50"/>
              </a:spcBef>
              <a:buNone/>
            </a:pPr>
            <a:r>
              <a:rPr lang="en-US" sz="825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/ 5.0</a:t>
            </a:r>
            <a:endParaRPr lang="en-US" sz="825" dirty="0"/>
          </a:p>
        </p:txBody>
      </p:sp>
      <p:sp>
        <p:nvSpPr>
          <p:cNvPr id="21" name="Text 19"/>
          <p:cNvSpPr/>
          <p:nvPr/>
        </p:nvSpPr>
        <p:spPr>
          <a:xfrm>
            <a:off x="7923609" y="3981450"/>
            <a:ext cx="42975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75"/>
              </a:spcBef>
              <a:buNone/>
            </a:pPr>
            <a:r>
              <a:rPr lang="en-US" sz="750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▼ −0.10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7939534" y="4105275"/>
            <a:ext cx="39742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50"/>
              </a:spcBef>
              <a:buNone/>
            </a:pPr>
            <a:r>
              <a:rPr lang="en-US" sz="675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전일 4.15</a:t>
            </a:r>
            <a:endParaRPr lang="en-US" sz="675" dirty="0"/>
          </a:p>
        </p:txBody>
      </p:sp>
      <p:sp>
        <p:nvSpPr>
          <p:cNvPr id="23" name="Text 21"/>
          <p:cNvSpPr/>
          <p:nvPr/>
        </p:nvSpPr>
        <p:spPr>
          <a:xfrm>
            <a:off x="47625" y="4629150"/>
            <a:ext cx="9096375" cy="514350"/>
          </a:xfrm>
          <a:prstGeom prst="rect">
            <a:avLst/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47625" y="4638675"/>
            <a:ext cx="9096375" cy="0"/>
          </a:xfrm>
          <a:prstGeom prst="line">
            <a:avLst/>
          </a:prstGeom>
          <a:noFill/>
          <a:ln w="19050">
            <a:solidFill>
              <a:srgbClr val="FF6B6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2425" y="4814888"/>
            <a:ext cx="326228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i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15일입니다.</a:t>
            </a:r>
            <a:pPr algn="l"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오늘 저녁 22시가 진짜 마지막입니다. — 김태현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2900" y="171450"/>
            <a:ext cx="3028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이그제큐티브 서머리 — 핵심 KPI 5개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6626870" y="247650"/>
            <a:ext cx="221771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22시 한 번에 4.28 복원 가능  |  2026-05-26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42900" y="514350"/>
            <a:ext cx="2755850" cy="1157288"/>
          </a:xfrm>
          <a:prstGeom prst="roundRect">
            <a:avLst>
              <a:gd name="adj" fmla="val 5761"/>
            </a:avLst>
          </a:prstGeom>
          <a:solidFill>
            <a:srgbClr val="161B22"/>
          </a:solidFill>
          <a:ln w="9525">
            <a:solidFill>
              <a:srgbClr val="FF6B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85775" y="638175"/>
            <a:ext cx="251950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연속 미달 모델</a:t>
            </a:r>
            <a:endParaRPr lang="en-US" sz="675" dirty="0"/>
          </a:p>
        </p:txBody>
      </p:sp>
      <p:sp>
        <p:nvSpPr>
          <p:cNvPr id="6" name="Text 4"/>
          <p:cNvSpPr/>
          <p:nvPr/>
        </p:nvSpPr>
        <p:spPr>
          <a:xfrm>
            <a:off x="485775" y="800100"/>
            <a:ext cx="2519502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63"/>
              </a:lnSpc>
              <a:buNone/>
            </a:pPr>
            <a:r>
              <a:rPr lang="en-US" sz="2250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2개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485775" y="1138238"/>
            <a:ext cx="251950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P1 Acc 54.79% · P7 R² 0.5752</a:t>
            </a:r>
            <a:endParaRPr lang="en-US" sz="600" dirty="0"/>
          </a:p>
        </p:txBody>
      </p:sp>
      <p:sp>
        <p:nvSpPr>
          <p:cNvPr id="8" name="Text 6"/>
          <p:cNvSpPr/>
          <p:nvPr/>
        </p:nvSpPr>
        <p:spPr>
          <a:xfrm>
            <a:off x="485775" y="1309688"/>
            <a:ext cx="251950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50"/>
              </a:spcBef>
              <a:buNone/>
            </a:pPr>
            <a:r>
              <a:rPr lang="en-US" sz="675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▼ 15일 연속 — 변화 없음</a:t>
            </a:r>
            <a:endParaRPr lang="en-US" sz="675" dirty="0"/>
          </a:p>
        </p:txBody>
      </p:sp>
      <p:sp>
        <p:nvSpPr>
          <p:cNvPr id="9" name="Text 7"/>
          <p:cNvSpPr/>
          <p:nvPr/>
        </p:nvSpPr>
        <p:spPr>
          <a:xfrm>
            <a:off x="3194000" y="514350"/>
            <a:ext cx="2755999" cy="1157288"/>
          </a:xfrm>
          <a:prstGeom prst="roundRect">
            <a:avLst>
              <a:gd name="adj" fmla="val 5761"/>
            </a:avLst>
          </a:prstGeom>
          <a:solidFill>
            <a:srgbClr val="161B22"/>
          </a:solidFill>
          <a:ln w="9525">
            <a:solidFill>
              <a:srgbClr val="FF6B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336875" y="638175"/>
            <a:ext cx="251965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최장 연속 미달일</a:t>
            </a:r>
            <a:endParaRPr lang="en-US" sz="675" dirty="0"/>
          </a:p>
        </p:txBody>
      </p:sp>
      <p:sp>
        <p:nvSpPr>
          <p:cNvPr id="11" name="Text 9"/>
          <p:cNvSpPr/>
          <p:nvPr/>
        </p:nvSpPr>
        <p:spPr>
          <a:xfrm>
            <a:off x="3336875" y="800100"/>
            <a:ext cx="2519654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63"/>
              </a:lnSpc>
              <a:buNone/>
            </a:pPr>
            <a:r>
              <a:rPr lang="en-US" sz="2250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15일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3336875" y="1138238"/>
            <a:ext cx="25196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P1·P7 동시 연속 미달</a:t>
            </a:r>
            <a:endParaRPr lang="en-US" sz="600" dirty="0"/>
          </a:p>
          <a:p>
            <a:pPr algn="l" indent="0" marL="0">
              <a:lnSpc>
                <a:spcPts val="900"/>
              </a:lnSpc>
              <a:buNone/>
            </a:pPr>
            <a:r>
              <a:rPr lang="en-US" sz="6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저녁 22시 최후 마감</a:t>
            </a:r>
            <a:endParaRPr lang="en-US" sz="600" dirty="0"/>
          </a:p>
        </p:txBody>
      </p:sp>
      <p:sp>
        <p:nvSpPr>
          <p:cNvPr id="13" name="Text 11"/>
          <p:cNvSpPr/>
          <p:nvPr/>
        </p:nvSpPr>
        <p:spPr>
          <a:xfrm>
            <a:off x="3336875" y="1423988"/>
            <a:ext cx="251965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50"/>
              </a:spcBef>
              <a:buNone/>
            </a:pPr>
            <a:r>
              <a:rPr lang="en-US" sz="675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▼ +1일 (전일 14일)</a:t>
            </a:r>
            <a:endParaRPr lang="en-US" sz="675" dirty="0"/>
          </a:p>
        </p:txBody>
      </p:sp>
      <p:sp>
        <p:nvSpPr>
          <p:cNvPr id="14" name="Text 12"/>
          <p:cNvSpPr/>
          <p:nvPr/>
        </p:nvSpPr>
        <p:spPr>
          <a:xfrm>
            <a:off x="6045250" y="514350"/>
            <a:ext cx="2755850" cy="1157288"/>
          </a:xfrm>
          <a:prstGeom prst="roundRect">
            <a:avLst>
              <a:gd name="adj" fmla="val 5761"/>
            </a:avLst>
          </a:prstGeom>
          <a:solidFill>
            <a:srgbClr val="161B22"/>
          </a:solidFill>
          <a:ln w="9525">
            <a:solidFill>
              <a:srgbClr val="FF6B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188125" y="638175"/>
            <a:ext cx="251950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시스템 점수</a:t>
            </a:r>
            <a:endParaRPr lang="en-US" sz="675" dirty="0"/>
          </a:p>
        </p:txBody>
      </p:sp>
      <p:sp>
        <p:nvSpPr>
          <p:cNvPr id="16" name="Text 14"/>
          <p:cNvSpPr/>
          <p:nvPr/>
        </p:nvSpPr>
        <p:spPr>
          <a:xfrm>
            <a:off x="6188125" y="800100"/>
            <a:ext cx="2519502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63"/>
              </a:lnSpc>
              <a:buNone/>
            </a:pPr>
            <a:r>
              <a:rPr lang="en-US" sz="2250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4.05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6188125" y="1138238"/>
            <a:ext cx="25195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화요일 경고: P7/P1 −0.07</a:t>
            </a:r>
            <a:endParaRPr lang="en-US" sz="600" dirty="0"/>
          </a:p>
          <a:p>
            <a:pPr algn="l" indent="0" marL="0">
              <a:lnSpc>
                <a:spcPts val="900"/>
              </a:lnSpc>
              <a:buNone/>
            </a:pPr>
            <a:r>
              <a:rPr lang="en-US" sz="6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S3 FW −0.02 · demo_script −0.01</a:t>
            </a:r>
            <a:endParaRPr lang="en-US" sz="600" dirty="0"/>
          </a:p>
        </p:txBody>
      </p:sp>
      <p:sp>
        <p:nvSpPr>
          <p:cNvPr id="18" name="Text 16"/>
          <p:cNvSpPr/>
          <p:nvPr/>
        </p:nvSpPr>
        <p:spPr>
          <a:xfrm>
            <a:off x="6188125" y="1423988"/>
            <a:ext cx="251950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50"/>
              </a:spcBef>
              <a:buNone/>
            </a:pPr>
            <a:r>
              <a:rPr lang="en-US" sz="675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▼ −0.10 (전일 4.15)</a:t>
            </a:r>
            <a:endParaRPr lang="en-US" sz="675" dirty="0"/>
          </a:p>
        </p:txBody>
      </p:sp>
      <p:sp>
        <p:nvSpPr>
          <p:cNvPr id="19" name="Text 17"/>
          <p:cNvSpPr/>
          <p:nvPr/>
        </p:nvSpPr>
        <p:spPr>
          <a:xfrm>
            <a:off x="342900" y="1747838"/>
            <a:ext cx="4181475" cy="1157288"/>
          </a:xfrm>
          <a:prstGeom prst="roundRect">
            <a:avLst>
              <a:gd name="adj" fmla="val 5761"/>
            </a:avLst>
          </a:prstGeom>
          <a:solidFill>
            <a:srgbClr val="161B22"/>
          </a:solidFill>
          <a:ln w="9525">
            <a:solidFill>
              <a:srgbClr val="FFD43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85775" y="1871663"/>
            <a:ext cx="397364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파일 연속 미달</a:t>
            </a:r>
            <a:endParaRPr lang="en-US" sz="675" dirty="0"/>
          </a:p>
        </p:txBody>
      </p:sp>
      <p:sp>
        <p:nvSpPr>
          <p:cNvPr id="21" name="Text 19"/>
          <p:cNvSpPr/>
          <p:nvPr/>
        </p:nvSpPr>
        <p:spPr>
          <a:xfrm>
            <a:off x="485775" y="2033588"/>
            <a:ext cx="3973640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63"/>
              </a:lnSpc>
              <a:buNone/>
            </a:pPr>
            <a:r>
              <a:rPr lang="en-US" sz="2250" b="1" dirty="0">
                <a:solidFill>
                  <a:srgbClr val="FFD4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7일</a:t>
            </a:r>
            <a:endParaRPr lang="en-US" sz="2250" dirty="0"/>
          </a:p>
        </p:txBody>
      </p:sp>
      <p:sp>
        <p:nvSpPr>
          <p:cNvPr id="22" name="Text 20"/>
          <p:cNvSpPr/>
          <p:nvPr/>
        </p:nvSpPr>
        <p:spPr>
          <a:xfrm>
            <a:off x="485775" y="2371725"/>
            <a:ext cx="397364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S3 FW 개선 계획 · demo_script v2.0 미완성</a:t>
            </a:r>
            <a:endParaRPr lang="en-US" sz="600" dirty="0"/>
          </a:p>
        </p:txBody>
      </p:sp>
      <p:sp>
        <p:nvSpPr>
          <p:cNvPr id="23" name="Text 21"/>
          <p:cNvSpPr/>
          <p:nvPr/>
        </p:nvSpPr>
        <p:spPr>
          <a:xfrm>
            <a:off x="485775" y="2543175"/>
            <a:ext cx="397364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50"/>
              </a:spcBef>
              <a:buNone/>
            </a:pPr>
            <a:r>
              <a:rPr lang="en-US" sz="675" b="1" dirty="0">
                <a:solidFill>
                  <a:srgbClr val="FFD4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▼ +1일 (전일 6일)</a:t>
            </a:r>
            <a:endParaRPr lang="en-US" sz="675" dirty="0"/>
          </a:p>
        </p:txBody>
      </p:sp>
      <p:sp>
        <p:nvSpPr>
          <p:cNvPr id="24" name="Text 22"/>
          <p:cNvSpPr/>
          <p:nvPr/>
        </p:nvSpPr>
        <p:spPr>
          <a:xfrm>
            <a:off x="4619625" y="1747838"/>
            <a:ext cx="4181475" cy="1157288"/>
          </a:xfrm>
          <a:prstGeom prst="roundRect">
            <a:avLst>
              <a:gd name="adj" fmla="val 5761"/>
            </a:avLst>
          </a:prstGeom>
          <a:solidFill>
            <a:srgbClr val="161B22"/>
          </a:solidFill>
          <a:ln w="9525">
            <a:solidFill>
              <a:srgbClr val="38D9A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762500" y="1871663"/>
            <a:ext cx="397364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대시보드 즉시 활용</a:t>
            </a:r>
            <a:endParaRPr lang="en-US" sz="675" dirty="0"/>
          </a:p>
        </p:txBody>
      </p:sp>
      <p:sp>
        <p:nvSpPr>
          <p:cNvPr id="26" name="Text 24"/>
          <p:cNvSpPr/>
          <p:nvPr/>
        </p:nvSpPr>
        <p:spPr>
          <a:xfrm>
            <a:off x="4762500" y="2033588"/>
            <a:ext cx="3973640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63"/>
              </a:lnSpc>
              <a:buNone/>
            </a:pPr>
            <a:r>
              <a:rPr lang="en-US" sz="2250" b="1" dirty="0">
                <a:solidFill>
                  <a:srgbClr val="38D9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 / 16</a:t>
            </a:r>
            <a:endParaRPr lang="en-US" sz="2250" dirty="0"/>
          </a:p>
        </p:txBody>
      </p:sp>
      <p:sp>
        <p:nvSpPr>
          <p:cNvPr id="27" name="Text 25"/>
          <p:cNvSpPr/>
          <p:nvPr/>
        </p:nvSpPr>
        <p:spPr>
          <a:xfrm>
            <a:off x="4762500" y="2371725"/>
            <a:ext cx="3973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S1, P4, P6, S2, P8, P3, P2, S3, S6</a:t>
            </a:r>
            <a:endParaRPr lang="en-US" sz="600" dirty="0"/>
          </a:p>
          <a:p>
            <a:pPr algn="l" indent="0" marL="0">
              <a:lnSpc>
                <a:spcPts val="900"/>
              </a:lnSpc>
              <a:buNone/>
            </a:pPr>
            <a:r>
              <a:rPr lang="en-US" sz="6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영입 회의 즉시 가능</a:t>
            </a:r>
            <a:endParaRPr lang="en-US" sz="600" dirty="0"/>
          </a:p>
        </p:txBody>
      </p:sp>
      <p:sp>
        <p:nvSpPr>
          <p:cNvPr id="28" name="Text 26"/>
          <p:cNvSpPr/>
          <p:nvPr/>
        </p:nvSpPr>
        <p:spPr>
          <a:xfrm>
            <a:off x="4762500" y="2657475"/>
            <a:ext cx="397364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50"/>
              </a:spcBef>
              <a:buNone/>
            </a:pPr>
            <a:r>
              <a:rPr lang="en-US" sz="675" b="1" dirty="0">
                <a:solidFill>
                  <a:srgbClr val="38D9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변동 없음</a:t>
            </a:r>
            <a:endParaRPr lang="en-US" sz="675" dirty="0"/>
          </a:p>
        </p:txBody>
      </p:sp>
      <p:sp>
        <p:nvSpPr>
          <p:cNvPr id="29" name="Text 27"/>
          <p:cNvSpPr/>
          <p:nvPr/>
        </p:nvSpPr>
        <p:spPr>
          <a:xfrm>
            <a:off x="342900" y="3048000"/>
            <a:ext cx="47625" cy="47625"/>
          </a:xfrm>
          <a:prstGeom prst="roundRect">
            <a:avLst>
              <a:gd name="adj" fmla="val 1920000"/>
            </a:avLst>
          </a:prstGeom>
          <a:solidFill>
            <a:srgbClr val="FF6B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466725" y="3000375"/>
            <a:ext cx="276664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P6+P7+P8 풀 체인 완성</a:t>
            </a:r>
            <a:pPr algn="l"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까지 P7 R² 0.62 달성 하나만 남았다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342900" y="3228975"/>
            <a:ext cx="47625" cy="47625"/>
          </a:xfrm>
          <a:prstGeom prst="roundRect">
            <a:avLst>
              <a:gd name="adj" fmla="val 1920000"/>
            </a:avLst>
          </a:prstGeom>
          <a:solidFill>
            <a:srgbClr val="FF6B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466725" y="3181350"/>
            <a:ext cx="341014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저녁 22시 push 실패 시 내일 아침 </a:t>
            </a:r>
            <a:pPr algn="l" indent="0" marL="0">
              <a:lnSpc>
                <a:spcPts val="1125"/>
              </a:lnSpc>
              <a:buNone/>
            </a:pPr>
            <a:r>
              <a:rPr lang="en-US" sz="750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4.0 이하 — 시스템 재설계 논의 개시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342900" y="3409950"/>
            <a:ext cx="47625" cy="47625"/>
          </a:xfrm>
          <a:prstGeom prst="roundRect">
            <a:avLst>
              <a:gd name="adj" fmla="val 1920000"/>
            </a:avLst>
          </a:prstGeom>
          <a:solidFill>
            <a:srgbClr val="FFD4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466725" y="3362325"/>
            <a:ext cx="294819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S3 FW 파일 + demo_script v2.0 </a:t>
            </a:r>
            <a:pPr algn="l" indent="0" marL="0">
              <a:lnSpc>
                <a:spcPts val="1125"/>
              </a:lnSpc>
              <a:buNone/>
            </a:pPr>
            <a:r>
              <a:rPr lang="en-US" sz="750" b="1" dirty="0">
                <a:solidFill>
                  <a:srgbClr val="FFD4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오전 11시 마감</a:t>
            </a:r>
            <a:pPr algn="l"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(7일 연속 미달)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342900" y="3581400"/>
            <a:ext cx="8458200" cy="304800"/>
          </a:xfrm>
          <a:prstGeom prst="roundRect">
            <a:avLst>
              <a:gd name="adj" fmla="val 18750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504825" y="3657600"/>
            <a:ext cx="81343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675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pPr algn="l" indent="0" marL="0">
              <a:buNone/>
            </a:pPr>
            <a:r>
              <a:rPr lang="en-US" sz="675" b="1" dirty="0">
                <a:solidFill>
                  <a:srgbClr val="38D9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최우수</a:t>
            </a:r>
            <a:pPr algn="l" indent="0" marL="0">
              <a:buNone/>
            </a:pPr>
            <a:r>
              <a:rPr lang="en-US" sz="675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3개 (P3 · P4 · S1)</a:t>
            </a:r>
            <a:endParaRPr lang="en-US" sz="675" dirty="0"/>
          </a:p>
          <a:p>
            <a:pPr algn="l" marL="342900" indent="-342900">
              <a:buSzPct val="100000"/>
              <a:buChar char="•"/>
            </a:pPr>
            <a:r>
              <a:rPr lang="en-US" sz="675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pPr algn="l" indent="0" marL="0">
              <a:buNone/>
            </a:pPr>
            <a:r>
              <a:rPr lang="en-US" sz="675" b="1" dirty="0">
                <a:solidFill>
                  <a:srgbClr val="38D9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우수</a:t>
            </a:r>
            <a:pPr algn="l" indent="0" marL="0">
              <a:buNone/>
            </a:pPr>
            <a:r>
              <a:rPr lang="en-US" sz="675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4개 (P2 · P6 · P8 · S2)</a:t>
            </a:r>
            <a:endParaRPr lang="en-US" sz="675" dirty="0"/>
          </a:p>
          <a:p>
            <a:pPr algn="l" marL="342900" indent="-342900">
              <a:buSzPct val="100000"/>
              <a:buChar char="•"/>
            </a:pPr>
            <a:r>
              <a:rPr lang="en-US" sz="675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pPr algn="l" indent="0" marL="0">
              <a:buNone/>
            </a:pPr>
            <a:r>
              <a:rPr lang="en-US" sz="675" b="1" dirty="0">
                <a:solidFill>
                  <a:srgbClr val="FFD4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주의</a:t>
            </a:r>
            <a:pPr algn="l" indent="0" marL="0">
              <a:buNone/>
            </a:pPr>
            <a:r>
              <a:rPr lang="en-US" sz="675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3개 (P5 · S3 · S6)</a:t>
            </a:r>
            <a:endParaRPr lang="en-US" sz="675" dirty="0"/>
          </a:p>
          <a:p>
            <a:pPr algn="l" marL="342900" indent="-342900">
              <a:buSzPct val="100000"/>
              <a:buChar char="•"/>
            </a:pPr>
            <a:r>
              <a:rPr lang="en-US" sz="675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pPr algn="l" indent="0" marL="0">
              <a:buNone/>
            </a:pPr>
            <a:r>
              <a:rPr lang="en-US" sz="675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미달</a:t>
            </a:r>
            <a:pPr algn="l" indent="0" marL="0">
              <a:buNone/>
            </a:pPr>
            <a:r>
              <a:rPr lang="en-US" sz="675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2개 (P1 · P7 — 15일 연속)</a:t>
            </a:r>
            <a:endParaRPr lang="en-US" sz="675" dirty="0"/>
          </a:p>
        </p:txBody>
      </p:sp>
      <p:sp>
        <p:nvSpPr>
          <p:cNvPr id="37" name="Text 35"/>
          <p:cNvSpPr/>
          <p:nvPr/>
        </p:nvSpPr>
        <p:spPr>
          <a:xfrm>
            <a:off x="504825" y="3695700"/>
            <a:ext cx="76200" cy="76200"/>
          </a:xfrm>
          <a:prstGeom prst="roundRect">
            <a:avLst>
              <a:gd name="adj" fmla="val 25000"/>
            </a:avLst>
          </a:prstGeom>
          <a:solidFill>
            <a:srgbClr val="38D9A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2483644" y="3657600"/>
            <a:ext cx="9525" cy="152400"/>
          </a:xfrm>
          <a:prstGeom prst="rect">
            <a:avLst/>
          </a:prstGeom>
          <a:solidFill>
            <a:srgbClr val="3036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2588419" y="3695700"/>
            <a:ext cx="76200" cy="76200"/>
          </a:xfrm>
          <a:prstGeom prst="roundRect">
            <a:avLst>
              <a:gd name="adj" fmla="val 25000"/>
            </a:avLst>
          </a:prstGeom>
          <a:solidFill>
            <a:srgbClr val="38D9A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4567238" y="3657600"/>
            <a:ext cx="9525" cy="152400"/>
          </a:xfrm>
          <a:prstGeom prst="rect">
            <a:avLst/>
          </a:prstGeom>
          <a:solidFill>
            <a:srgbClr val="3036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4672013" y="3695700"/>
            <a:ext cx="76200" cy="76200"/>
          </a:xfrm>
          <a:prstGeom prst="roundRect">
            <a:avLst>
              <a:gd name="adj" fmla="val 25000"/>
            </a:avLst>
          </a:prstGeom>
          <a:solidFill>
            <a:srgbClr val="FFD4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6650831" y="3657600"/>
            <a:ext cx="9525" cy="152400"/>
          </a:xfrm>
          <a:prstGeom prst="rect">
            <a:avLst/>
          </a:prstGeom>
          <a:solidFill>
            <a:srgbClr val="3036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6755606" y="3695700"/>
            <a:ext cx="76200" cy="76200"/>
          </a:xfrm>
          <a:prstGeom prst="roundRect">
            <a:avLst>
              <a:gd name="adj" fmla="val 25000"/>
            </a:avLst>
          </a:prstGeom>
          <a:solidFill>
            <a:srgbClr val="FF6B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800" y="133350"/>
            <a:ext cx="321431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ML 모델 성능 현황 — 12개 신호등 테이블</a:t>
            </a:r>
            <a:endParaRPr lang="en-US" sz="1275" dirty="0"/>
          </a:p>
        </p:txBody>
      </p:sp>
      <p:sp>
        <p:nvSpPr>
          <p:cNvPr id="3" name="Text 1"/>
          <p:cNvSpPr/>
          <p:nvPr/>
        </p:nvSpPr>
        <p:spPr>
          <a:xfrm>
            <a:off x="7090618" y="209550"/>
            <a:ext cx="178355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P1 · P7 15일 연속 미달 강조  |  2026-05-26</a:t>
            </a:r>
            <a:endParaRPr lang="en-US" sz="675" dirty="0"/>
          </a:p>
        </p:txBody>
      </p:sp>
      <p:sp>
        <p:nvSpPr>
          <p:cNvPr id="4" name="Text 2"/>
          <p:cNvSpPr/>
          <p:nvPr/>
        </p:nvSpPr>
        <p:spPr>
          <a:xfrm>
            <a:off x="304800" y="447675"/>
            <a:ext cx="2076450" cy="581025"/>
          </a:xfrm>
          <a:prstGeom prst="roundRect">
            <a:avLst>
              <a:gd name="adj" fmla="val 8197"/>
            </a:avLst>
          </a:prstGeom>
          <a:solidFill>
            <a:srgbClr val="38D9A9">
              <a:alpha val="10000"/>
            </a:srgbClr>
          </a:solidFill>
          <a:ln w="9525">
            <a:solidFill>
              <a:srgbClr val="38D9A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09575" y="514350"/>
            <a:ext cx="190423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38D9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■■최우수</a:t>
            </a:r>
            <a:endParaRPr lang="en-US" sz="600" dirty="0"/>
          </a:p>
        </p:txBody>
      </p:sp>
      <p:sp>
        <p:nvSpPr>
          <p:cNvPr id="6" name="Text 4"/>
          <p:cNvSpPr/>
          <p:nvPr/>
        </p:nvSpPr>
        <p:spPr>
          <a:xfrm>
            <a:off x="409575" y="638175"/>
            <a:ext cx="19042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8D9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3개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9575" y="857250"/>
            <a:ext cx="190423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P3 · P4 · S1</a:t>
            </a:r>
            <a:endParaRPr lang="en-US" sz="600" dirty="0"/>
          </a:p>
        </p:txBody>
      </p:sp>
      <p:sp>
        <p:nvSpPr>
          <p:cNvPr id="8" name="Text 6"/>
          <p:cNvSpPr/>
          <p:nvPr/>
        </p:nvSpPr>
        <p:spPr>
          <a:xfrm>
            <a:off x="2457450" y="447675"/>
            <a:ext cx="2076450" cy="581025"/>
          </a:xfrm>
          <a:prstGeom prst="roundRect">
            <a:avLst>
              <a:gd name="adj" fmla="val 8197"/>
            </a:avLst>
          </a:prstGeom>
          <a:solidFill>
            <a:srgbClr val="38D9A9">
              <a:alpha val="6000"/>
            </a:srgbClr>
          </a:solidFill>
          <a:ln w="9525">
            <a:solidFill>
              <a:srgbClr val="38D9A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562225" y="514350"/>
            <a:ext cx="190423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38D9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■우수</a:t>
            </a:r>
            <a:endParaRPr lang="en-US" sz="600" dirty="0"/>
          </a:p>
        </p:txBody>
      </p:sp>
      <p:sp>
        <p:nvSpPr>
          <p:cNvPr id="10" name="Text 8"/>
          <p:cNvSpPr/>
          <p:nvPr/>
        </p:nvSpPr>
        <p:spPr>
          <a:xfrm>
            <a:off x="2562225" y="638175"/>
            <a:ext cx="19042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8D9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4개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562225" y="857250"/>
            <a:ext cx="190423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P2 · P6 · P8 · S2</a:t>
            </a:r>
            <a:endParaRPr lang="en-US" sz="600" dirty="0"/>
          </a:p>
        </p:txBody>
      </p:sp>
      <p:sp>
        <p:nvSpPr>
          <p:cNvPr id="12" name="Text 10"/>
          <p:cNvSpPr/>
          <p:nvPr/>
        </p:nvSpPr>
        <p:spPr>
          <a:xfrm>
            <a:off x="4610100" y="447675"/>
            <a:ext cx="2076450" cy="581025"/>
          </a:xfrm>
          <a:prstGeom prst="roundRect">
            <a:avLst>
              <a:gd name="adj" fmla="val 8197"/>
            </a:avLst>
          </a:prstGeom>
          <a:solidFill>
            <a:srgbClr val="FFD43B">
              <a:alpha val="8000"/>
            </a:srgbClr>
          </a:solidFill>
          <a:ln w="9525">
            <a:solidFill>
              <a:srgbClr val="FFD43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714875" y="514350"/>
            <a:ext cx="190423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FFD4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△주의</a:t>
            </a:r>
            <a:endParaRPr lang="en-US" sz="600" dirty="0"/>
          </a:p>
        </p:txBody>
      </p:sp>
      <p:sp>
        <p:nvSpPr>
          <p:cNvPr id="14" name="Text 12"/>
          <p:cNvSpPr/>
          <p:nvPr/>
        </p:nvSpPr>
        <p:spPr>
          <a:xfrm>
            <a:off x="4714875" y="638175"/>
            <a:ext cx="19042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D4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3개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14875" y="857250"/>
            <a:ext cx="190423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P5 · S3 · S6</a:t>
            </a:r>
            <a:endParaRPr lang="en-US" sz="600" dirty="0"/>
          </a:p>
        </p:txBody>
      </p:sp>
      <p:sp>
        <p:nvSpPr>
          <p:cNvPr id="16" name="Text 14"/>
          <p:cNvSpPr/>
          <p:nvPr/>
        </p:nvSpPr>
        <p:spPr>
          <a:xfrm>
            <a:off x="6762750" y="447675"/>
            <a:ext cx="2076450" cy="581025"/>
          </a:xfrm>
          <a:prstGeom prst="roundRect">
            <a:avLst>
              <a:gd name="adj" fmla="val 8197"/>
            </a:avLst>
          </a:prstGeom>
          <a:solidFill>
            <a:srgbClr val="FF6B6B">
              <a:alpha val="10000"/>
            </a:srgbClr>
          </a:solidFill>
          <a:ln w="9525">
            <a:solidFill>
              <a:srgbClr val="FF6B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867525" y="514350"/>
            <a:ext cx="190423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▼미달 — 15일 연속</a:t>
            </a:r>
            <a:endParaRPr lang="en-US" sz="600" dirty="0"/>
          </a:p>
        </p:txBody>
      </p:sp>
      <p:sp>
        <p:nvSpPr>
          <p:cNvPr id="18" name="Text 16"/>
          <p:cNvSpPr/>
          <p:nvPr/>
        </p:nvSpPr>
        <p:spPr>
          <a:xfrm>
            <a:off x="6867525" y="638175"/>
            <a:ext cx="19042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2개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867525" y="857250"/>
            <a:ext cx="190423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P1 · P7   오늘 22시 최후 마감</a:t>
            </a:r>
            <a:endParaRPr lang="en-US" sz="600" dirty="0"/>
          </a:p>
        </p:txBody>
      </p:sp>
      <p:sp>
        <p:nvSpPr>
          <p:cNvPr id="20" name="Text 18"/>
          <p:cNvSpPr/>
          <p:nvPr/>
        </p:nvSpPr>
        <p:spPr>
          <a:xfrm>
            <a:off x="0" y="4848225"/>
            <a:ext cx="9144000" cy="295275"/>
          </a:xfrm>
          <a:prstGeom prst="rect">
            <a:avLst/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0" y="4852987"/>
            <a:ext cx="9144000" cy="0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04800" y="4924425"/>
            <a:ext cx="870508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38D9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즉시 활용 가능 9개</a:t>
            </a:r>
            <a:pPr algn="l" indent="0" marL="0">
              <a:buNone/>
            </a:pPr>
            <a:r>
              <a:rPr lang="en-US" sz="675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: S1, P4, P6, S2, P8, P3, P2, S3, S6 </a:t>
            </a:r>
            <a:pPr algn="l" indent="0" marL="0">
              <a:buNone/>
            </a:pPr>
            <a:r>
              <a:rPr lang="en-US" sz="675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P1 · P7 오늘 저녁 22시 해소 목표</a:t>
            </a:r>
            <a:endParaRPr lang="en-US" sz="6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800" y="133350"/>
            <a:ext cx="3594431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P7 · P1 15일 연속 미달 — 원인 진단 딥다이브</a:t>
            </a:r>
            <a:endParaRPr lang="en-US" sz="1275" dirty="0"/>
          </a:p>
        </p:txBody>
      </p:sp>
      <p:sp>
        <p:nvSpPr>
          <p:cNvPr id="3" name="Text 1"/>
          <p:cNvSpPr/>
          <p:nvPr/>
        </p:nvSpPr>
        <p:spPr>
          <a:xfrm>
            <a:off x="7389763" y="209550"/>
            <a:ext cx="147842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기술 준비 완료 — 로컬 실행만 남았다</a:t>
            </a:r>
            <a:endParaRPr lang="en-US" sz="675" dirty="0"/>
          </a:p>
        </p:txBody>
      </p:sp>
      <p:sp>
        <p:nvSpPr>
          <p:cNvPr id="4" name="Text 2"/>
          <p:cNvSpPr/>
          <p:nvPr/>
        </p:nvSpPr>
        <p:spPr>
          <a:xfrm>
            <a:off x="304800" y="466725"/>
            <a:ext cx="4200525" cy="3781425"/>
          </a:xfrm>
          <a:prstGeom prst="roundRect">
            <a:avLst>
              <a:gd name="adj" fmla="val 2015"/>
            </a:avLst>
          </a:prstGeom>
          <a:solidFill>
            <a:srgbClr val="161B22"/>
          </a:solidFill>
          <a:ln w="9525">
            <a:solidFill>
              <a:srgbClr val="FF6B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66725" y="609600"/>
            <a:ext cx="3954209" cy="228600"/>
          </a:xfrm>
          <a:prstGeom prst="rect">
            <a:avLst/>
          </a:prstGeom>
          <a:noFill/>
          <a:ln/>
        </p:spPr>
        <p:txBody>
          <a:bodyPr wrap="square" lIns="0" tIns="0" rIns="0" bIns="5715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P7 성장 곡선 예측 — v5 → v5.1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466725" y="857250"/>
            <a:ext cx="3876675" cy="9525"/>
          </a:xfrm>
          <a:prstGeom prst="rect">
            <a:avLst/>
          </a:prstGeom>
          <a:solidFill>
            <a:srgbClr val="FF6B6B">
              <a:alpha val="2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66725" y="933450"/>
            <a:ext cx="1228725" cy="381000"/>
          </a:xfrm>
          <a:prstGeom prst="roundRect">
            <a:avLst>
              <a:gd name="adj" fmla="val 12500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42925" y="990600"/>
            <a:ext cx="109785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"/>
              </a:spcAft>
              <a:buNone/>
            </a:pPr>
            <a:r>
              <a:rPr lang="en-US" sz="563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현재 (test)</a:t>
            </a:r>
            <a:endParaRPr lang="en-US" sz="563" dirty="0"/>
          </a:p>
        </p:txBody>
      </p:sp>
      <p:sp>
        <p:nvSpPr>
          <p:cNvPr id="9" name="Text 7"/>
          <p:cNvSpPr/>
          <p:nvPr/>
        </p:nvSpPr>
        <p:spPr>
          <a:xfrm>
            <a:off x="542925" y="1104900"/>
            <a:ext cx="109785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0.5752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790700" y="933450"/>
            <a:ext cx="1228725" cy="381000"/>
          </a:xfrm>
          <a:prstGeom prst="roundRect">
            <a:avLst>
              <a:gd name="adj" fmla="val 12500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866900" y="990600"/>
            <a:ext cx="109785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"/>
              </a:spcAft>
              <a:buNone/>
            </a:pPr>
            <a:r>
              <a:rPr lang="en-US" sz="563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목표</a:t>
            </a:r>
            <a:endParaRPr lang="en-US" sz="563" dirty="0"/>
          </a:p>
        </p:txBody>
      </p:sp>
      <p:sp>
        <p:nvSpPr>
          <p:cNvPr id="12" name="Text 10"/>
          <p:cNvSpPr/>
          <p:nvPr/>
        </p:nvSpPr>
        <p:spPr>
          <a:xfrm>
            <a:off x="1866900" y="1104900"/>
            <a:ext cx="109785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38D9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R² ≥ 0.62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114675" y="933450"/>
            <a:ext cx="1228725" cy="381000"/>
          </a:xfrm>
          <a:prstGeom prst="roundRect">
            <a:avLst>
              <a:gd name="adj" fmla="val 12500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190875" y="990600"/>
            <a:ext cx="109785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"/>
              </a:spcAft>
              <a:buNone/>
            </a:pPr>
            <a:r>
              <a:rPr lang="en-US" sz="563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갭</a:t>
            </a:r>
            <a:endParaRPr lang="en-US" sz="563" dirty="0"/>
          </a:p>
        </p:txBody>
      </p:sp>
      <p:sp>
        <p:nvSpPr>
          <p:cNvPr id="15" name="Text 13"/>
          <p:cNvSpPr/>
          <p:nvPr/>
        </p:nvSpPr>
        <p:spPr>
          <a:xfrm>
            <a:off x="3190875" y="1104900"/>
            <a:ext cx="109785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FFD4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−0.0448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66725" y="1381125"/>
            <a:ext cx="395420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VAL VS TEST</a:t>
            </a:r>
            <a:endParaRPr lang="en-US" sz="600" dirty="0"/>
          </a:p>
        </p:txBody>
      </p:sp>
      <p:sp>
        <p:nvSpPr>
          <p:cNvPr id="17" name="Text 15"/>
          <p:cNvSpPr/>
          <p:nvPr/>
        </p:nvSpPr>
        <p:spPr>
          <a:xfrm>
            <a:off x="466725" y="1504950"/>
            <a:ext cx="395420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val R² </a:t>
            </a:r>
            <a:pPr algn="l" indent="0" marL="0">
              <a:lnSpc>
                <a:spcPts val="1125"/>
              </a:lnSpc>
              <a:buNone/>
            </a:pPr>
            <a:r>
              <a:rPr lang="en-US" sz="750" b="1" dirty="0">
                <a:solidFill>
                  <a:srgbClr val="38D9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0.6302 이미 달성</a:t>
            </a:r>
            <a:pPr algn="l"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→ val-test 갭 </a:t>
            </a:r>
            <a:pPr algn="l" indent="0" marL="0">
              <a:lnSpc>
                <a:spcPts val="1125"/>
              </a:lnSpc>
              <a:buNone/>
            </a:pPr>
            <a:r>
              <a:rPr lang="en-US" sz="750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0.055</a:t>
            </a:r>
            <a:pPr algn="l"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해소가 핵심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466725" y="1714500"/>
            <a:ext cx="395420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원인</a:t>
            </a:r>
            <a:endParaRPr lang="en-US" sz="600" dirty="0"/>
          </a:p>
        </p:txBody>
      </p:sp>
      <p:sp>
        <p:nvSpPr>
          <p:cNvPr id="19" name="Text 17"/>
          <p:cNvSpPr/>
          <p:nvPr/>
        </p:nvSpPr>
        <p:spPr>
          <a:xfrm>
            <a:off x="466725" y="1857375"/>
            <a:ext cx="395420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lag 피처 부재</a:t>
            </a:r>
            <a:pPr algn="l"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→ 최근 성장 추세 포착 실패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466725" y="2066925"/>
            <a:ext cx="3876675" cy="550069"/>
          </a:xfrm>
          <a:prstGeom prst="roundRect">
            <a:avLst>
              <a:gd name="adj" fmla="val 8658"/>
            </a:avLst>
          </a:prstGeom>
          <a:solidFill>
            <a:srgbClr val="38D9A9">
              <a:alpha val="8000"/>
            </a:srgbClr>
          </a:solidFill>
          <a:ln w="9525">
            <a:solidFill>
              <a:srgbClr val="38D9A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71500" y="2143125"/>
            <a:ext cx="374046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25"/>
              </a:spcAft>
              <a:buNone/>
            </a:pPr>
            <a:r>
              <a:rPr lang="en-US" sz="563" b="1" dirty="0">
                <a:solidFill>
                  <a:srgbClr val="38D9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해결책</a:t>
            </a:r>
            <a:endParaRPr lang="en-US" sz="563" dirty="0"/>
          </a:p>
        </p:txBody>
      </p:sp>
      <p:sp>
        <p:nvSpPr>
          <p:cNvPr id="22" name="Text 20"/>
          <p:cNvSpPr/>
          <p:nvPr/>
        </p:nvSpPr>
        <p:spPr>
          <a:xfrm>
            <a:off x="571500" y="2266950"/>
            <a:ext cx="3740468" cy="273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713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피처 추가</a:t>
            </a:r>
            <a:endParaRPr lang="en-US" sz="713" dirty="0"/>
          </a:p>
          <a:p>
            <a:pPr algn="l" indent="0" marL="0">
              <a:lnSpc>
                <a:spcPts val="1069"/>
              </a:lnSpc>
              <a:buNone/>
            </a:pPr>
            <a:r>
              <a:rPr lang="en-US" sz="713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 Optuna 35 trials → stacking 재학습</a:t>
            </a:r>
            <a:endParaRPr lang="en-US" sz="713" dirty="0"/>
          </a:p>
        </p:txBody>
      </p:sp>
      <p:sp>
        <p:nvSpPr>
          <p:cNvPr id="23" name="Text 21"/>
          <p:cNvSpPr/>
          <p:nvPr/>
        </p:nvSpPr>
        <p:spPr>
          <a:xfrm>
            <a:off x="466725" y="2683669"/>
            <a:ext cx="251646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38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스크립트: models/p7_growth_curve/train_v5_1.py (준비 완료)</a:t>
            </a:r>
            <a:endParaRPr lang="en-US" sz="638" dirty="0"/>
          </a:p>
        </p:txBody>
      </p:sp>
      <p:sp>
        <p:nvSpPr>
          <p:cNvPr id="24" name="Text 22"/>
          <p:cNvSpPr/>
          <p:nvPr/>
        </p:nvSpPr>
        <p:spPr>
          <a:xfrm>
            <a:off x="466725" y="2864644"/>
            <a:ext cx="194750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38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달성 시: </a:t>
            </a:r>
            <a:pPr algn="l" indent="0" marL="0">
              <a:buNone/>
            </a:pPr>
            <a:r>
              <a:rPr lang="en-US" sz="638" b="1" dirty="0">
                <a:solidFill>
                  <a:srgbClr val="38D9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+0.10 → 4.15</a:t>
            </a:r>
            <a:pPr algn="l" indent="0" marL="0">
              <a:buNone/>
            </a:pPr>
            <a:r>
              <a:rPr lang="en-US" sz="638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· P6+P7+P8 풀 체인 완성</a:t>
            </a:r>
            <a:endParaRPr lang="en-US" sz="638" dirty="0"/>
          </a:p>
        </p:txBody>
      </p:sp>
      <p:sp>
        <p:nvSpPr>
          <p:cNvPr id="25" name="Text 23"/>
          <p:cNvSpPr/>
          <p:nvPr/>
        </p:nvSpPr>
        <p:spPr>
          <a:xfrm>
            <a:off x="4638675" y="466725"/>
            <a:ext cx="4200525" cy="3781425"/>
          </a:xfrm>
          <a:prstGeom prst="roundRect">
            <a:avLst>
              <a:gd name="adj" fmla="val 2015"/>
            </a:avLst>
          </a:prstGeom>
          <a:solidFill>
            <a:srgbClr val="161B22"/>
          </a:solidFill>
          <a:ln w="9525">
            <a:solidFill>
              <a:srgbClr val="FF6B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800600" y="609600"/>
            <a:ext cx="3954209" cy="228600"/>
          </a:xfrm>
          <a:prstGeom prst="rect">
            <a:avLst/>
          </a:prstGeom>
          <a:noFill/>
          <a:ln/>
        </p:spPr>
        <p:txBody>
          <a:bodyPr wrap="square" lIns="0" tIns="0" rIns="0" bIns="5715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P1 경기 결과 예측 — v2</a:t>
            </a:r>
            <a:endParaRPr lang="en-US" sz="975" dirty="0"/>
          </a:p>
        </p:txBody>
      </p:sp>
      <p:sp>
        <p:nvSpPr>
          <p:cNvPr id="27" name="Text 25"/>
          <p:cNvSpPr/>
          <p:nvPr/>
        </p:nvSpPr>
        <p:spPr>
          <a:xfrm>
            <a:off x="4800600" y="857250"/>
            <a:ext cx="3876675" cy="9525"/>
          </a:xfrm>
          <a:prstGeom prst="rect">
            <a:avLst/>
          </a:prstGeom>
          <a:solidFill>
            <a:srgbClr val="FF6B6B">
              <a:alpha val="2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800600" y="933450"/>
            <a:ext cx="1228725" cy="381000"/>
          </a:xfrm>
          <a:prstGeom prst="roundRect">
            <a:avLst>
              <a:gd name="adj" fmla="val 12500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876800" y="990600"/>
            <a:ext cx="109785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"/>
              </a:spcAft>
              <a:buNone/>
            </a:pPr>
            <a:r>
              <a:rPr lang="en-US" sz="563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현재 (test Acc)</a:t>
            </a:r>
            <a:endParaRPr lang="en-US" sz="563" dirty="0"/>
          </a:p>
        </p:txBody>
      </p:sp>
      <p:sp>
        <p:nvSpPr>
          <p:cNvPr id="30" name="Text 28"/>
          <p:cNvSpPr/>
          <p:nvPr/>
        </p:nvSpPr>
        <p:spPr>
          <a:xfrm>
            <a:off x="4876800" y="1104900"/>
            <a:ext cx="109785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54.79%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124575" y="933450"/>
            <a:ext cx="1228725" cy="381000"/>
          </a:xfrm>
          <a:prstGeom prst="roundRect">
            <a:avLst>
              <a:gd name="adj" fmla="val 12500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6200775" y="990600"/>
            <a:ext cx="109785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"/>
              </a:spcAft>
              <a:buNone/>
            </a:pPr>
            <a:r>
              <a:rPr lang="en-US" sz="563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목표</a:t>
            </a:r>
            <a:endParaRPr lang="en-US" sz="563" dirty="0"/>
          </a:p>
        </p:txBody>
      </p:sp>
      <p:sp>
        <p:nvSpPr>
          <p:cNvPr id="33" name="Text 31"/>
          <p:cNvSpPr/>
          <p:nvPr/>
        </p:nvSpPr>
        <p:spPr>
          <a:xfrm>
            <a:off x="6200775" y="1104900"/>
            <a:ext cx="109785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38D9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Acc ≥ 57%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448550" y="933450"/>
            <a:ext cx="1228725" cy="381000"/>
          </a:xfrm>
          <a:prstGeom prst="roundRect">
            <a:avLst>
              <a:gd name="adj" fmla="val 12500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7524750" y="990600"/>
            <a:ext cx="109785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"/>
              </a:spcAft>
              <a:buNone/>
            </a:pPr>
            <a:r>
              <a:rPr lang="en-US" sz="563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갭</a:t>
            </a:r>
            <a:endParaRPr lang="en-US" sz="563" dirty="0"/>
          </a:p>
        </p:txBody>
      </p:sp>
      <p:sp>
        <p:nvSpPr>
          <p:cNvPr id="36" name="Text 34"/>
          <p:cNvSpPr/>
          <p:nvPr/>
        </p:nvSpPr>
        <p:spPr>
          <a:xfrm>
            <a:off x="7524750" y="1104900"/>
            <a:ext cx="109785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FFD4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−2.21%p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800600" y="1381125"/>
            <a:ext cx="395420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F1 현황</a:t>
            </a:r>
            <a:endParaRPr lang="en-US" sz="600" dirty="0"/>
          </a:p>
        </p:txBody>
      </p:sp>
      <p:sp>
        <p:nvSpPr>
          <p:cNvPr id="38" name="Text 36"/>
          <p:cNvSpPr/>
          <p:nvPr/>
        </p:nvSpPr>
        <p:spPr>
          <a:xfrm>
            <a:off x="4800600" y="1524000"/>
            <a:ext cx="395420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F1 </a:t>
            </a:r>
            <a:pPr algn="l" indent="0" marL="0">
              <a:lnSpc>
                <a:spcPts val="1125"/>
              </a:lnSpc>
              <a:buNone/>
            </a:pPr>
            <a:r>
              <a:rPr lang="en-US" sz="750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40.65%</a:t>
            </a:r>
            <a:pPr algn="l"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· D(무승부) recall 사실상 0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4800600" y="1733550"/>
            <a:ext cx="395420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원인</a:t>
            </a:r>
            <a:endParaRPr lang="en-US" sz="600" dirty="0"/>
          </a:p>
        </p:txBody>
      </p:sp>
      <p:sp>
        <p:nvSpPr>
          <p:cNvPr id="40" name="Text 38"/>
          <p:cNvSpPr/>
          <p:nvPr/>
        </p:nvSpPr>
        <p:spPr>
          <a:xfrm>
            <a:off x="4800600" y="1876425"/>
            <a:ext cx="395420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 클래스 미분류</a:t>
            </a:r>
            <a:pPr algn="l"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— class_weight 미적용, H2H 무승부 피처 부재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4800600" y="2085975"/>
            <a:ext cx="3876675" cy="550069"/>
          </a:xfrm>
          <a:prstGeom prst="roundRect">
            <a:avLst>
              <a:gd name="adj" fmla="val 8658"/>
            </a:avLst>
          </a:prstGeom>
          <a:solidFill>
            <a:srgbClr val="38D9A9">
              <a:alpha val="8000"/>
            </a:srgbClr>
          </a:solidFill>
          <a:ln w="9525">
            <a:solidFill>
              <a:srgbClr val="38D9A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4905375" y="2162175"/>
            <a:ext cx="374046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25"/>
              </a:spcAft>
              <a:buNone/>
            </a:pPr>
            <a:r>
              <a:rPr lang="en-US" sz="563" b="1" dirty="0">
                <a:solidFill>
                  <a:srgbClr val="38D9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해결책</a:t>
            </a:r>
            <a:endParaRPr lang="en-US" sz="563" dirty="0"/>
          </a:p>
        </p:txBody>
      </p:sp>
      <p:sp>
        <p:nvSpPr>
          <p:cNvPr id="43" name="Text 41"/>
          <p:cNvSpPr/>
          <p:nvPr/>
        </p:nvSpPr>
        <p:spPr>
          <a:xfrm>
            <a:off x="4905375" y="2286000"/>
            <a:ext cx="3740468" cy="273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713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 H2H 무승부 비율 피처 추가</a:t>
            </a:r>
            <a:endParaRPr lang="en-US" sz="713" dirty="0"/>
          </a:p>
        </p:txBody>
      </p:sp>
      <p:sp>
        <p:nvSpPr>
          <p:cNvPr id="44" name="Text 42"/>
          <p:cNvSpPr/>
          <p:nvPr/>
        </p:nvSpPr>
        <p:spPr>
          <a:xfrm>
            <a:off x="4800600" y="2702719"/>
            <a:ext cx="270364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38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스크립트: models/p1_match_result/train_pipeline.py (준비 완료)</a:t>
            </a:r>
            <a:endParaRPr lang="en-US" sz="638" dirty="0"/>
          </a:p>
        </p:txBody>
      </p:sp>
      <p:sp>
        <p:nvSpPr>
          <p:cNvPr id="45" name="Text 43"/>
          <p:cNvSpPr/>
          <p:nvPr/>
        </p:nvSpPr>
        <p:spPr>
          <a:xfrm>
            <a:off x="4800600" y="2883694"/>
            <a:ext cx="212678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38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달성 시: </a:t>
            </a:r>
            <a:pPr algn="l" indent="0" marL="0">
              <a:buNone/>
            </a:pPr>
            <a:r>
              <a:rPr lang="en-US" sz="638" b="1" dirty="0">
                <a:solidFill>
                  <a:srgbClr val="38D9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+0.08 → 4.23</a:t>
            </a:r>
            <a:pPr algn="l" indent="0" marL="0">
              <a:buNone/>
            </a:pPr>
            <a:r>
              <a:rPr lang="en-US" sz="638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(P7 달성 후 순차 적용 시 4.28)</a:t>
            </a:r>
            <a:endParaRPr lang="en-US" sz="638" dirty="0"/>
          </a:p>
        </p:txBody>
      </p:sp>
      <p:sp>
        <p:nvSpPr>
          <p:cNvPr id="46" name="Text 44"/>
          <p:cNvSpPr/>
          <p:nvPr/>
        </p:nvSpPr>
        <p:spPr>
          <a:xfrm>
            <a:off x="0" y="4248150"/>
            <a:ext cx="9144000" cy="895350"/>
          </a:xfrm>
          <a:prstGeom prst="rect">
            <a:avLst/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819150" y="4362450"/>
            <a:ext cx="190500" cy="190500"/>
          </a:xfrm>
          <a:prstGeom prst="roundRect">
            <a:avLst>
              <a:gd name="adj" fmla="val 480000"/>
            </a:avLst>
          </a:prstGeom>
          <a:solidFill>
            <a:srgbClr val="0D1117"/>
          </a:solidFill>
          <a:ln w="19050">
            <a:solidFill>
              <a:srgbClr val="FFD43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884486" y="4414838"/>
            <a:ext cx="6087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75"/>
              </a:lnSpc>
              <a:buNone/>
            </a:pPr>
            <a:r>
              <a:rPr lang="en-US" sz="675" b="1" dirty="0">
                <a:solidFill>
                  <a:srgbClr val="FFD4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675" dirty="0"/>
          </a:p>
        </p:txBody>
      </p:sp>
      <p:sp>
        <p:nvSpPr>
          <p:cNvPr id="49" name="Text 47"/>
          <p:cNvSpPr/>
          <p:nvPr/>
        </p:nvSpPr>
        <p:spPr>
          <a:xfrm>
            <a:off x="747861" y="4581525"/>
            <a:ext cx="33958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FFD4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~ 11:00</a:t>
            </a:r>
            <a:endParaRPr lang="en-US" sz="600" dirty="0"/>
          </a:p>
        </p:txBody>
      </p:sp>
      <p:sp>
        <p:nvSpPr>
          <p:cNvPr id="50" name="Text 48"/>
          <p:cNvSpPr/>
          <p:nvPr/>
        </p:nvSpPr>
        <p:spPr>
          <a:xfrm>
            <a:off x="600166" y="4695825"/>
            <a:ext cx="62832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88"/>
              </a:lnSpc>
              <a:buNone/>
            </a:pPr>
            <a:r>
              <a:rPr lang="en-US" sz="563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S3 FW 파일</a:t>
            </a:r>
            <a:endParaRPr lang="en-US" sz="563" dirty="0"/>
          </a:p>
          <a:p>
            <a:pPr algn="ctr" indent="0" marL="0">
              <a:lnSpc>
                <a:spcPts val="788"/>
              </a:lnSpc>
              <a:buNone/>
            </a:pPr>
            <a:r>
              <a:rPr lang="en-US" sz="563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demo_script v2.0</a:t>
            </a:r>
            <a:endParaRPr lang="en-US" sz="563" dirty="0"/>
          </a:p>
        </p:txBody>
      </p:sp>
      <p:sp>
        <p:nvSpPr>
          <p:cNvPr id="51" name="Text 49"/>
          <p:cNvSpPr/>
          <p:nvPr/>
        </p:nvSpPr>
        <p:spPr>
          <a:xfrm>
            <a:off x="788343" y="4924425"/>
            <a:ext cx="25700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38D9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+0.05</a:t>
            </a:r>
            <a:endParaRPr lang="en-US" sz="600" dirty="0"/>
          </a:p>
        </p:txBody>
      </p:sp>
      <p:sp>
        <p:nvSpPr>
          <p:cNvPr id="52" name="Text 50"/>
          <p:cNvSpPr/>
          <p:nvPr/>
        </p:nvSpPr>
        <p:spPr>
          <a:xfrm>
            <a:off x="1524000" y="4576763"/>
            <a:ext cx="1219200" cy="9525"/>
          </a:xfrm>
          <a:prstGeom prst="rect">
            <a:avLst/>
          </a:prstGeom>
          <a:solidFill>
            <a:srgbClr val="3036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3257550" y="4362450"/>
            <a:ext cx="190500" cy="190500"/>
          </a:xfrm>
          <a:prstGeom prst="roundRect">
            <a:avLst>
              <a:gd name="adj" fmla="val 480000"/>
            </a:avLst>
          </a:prstGeom>
          <a:solidFill>
            <a:srgbClr val="0D1117"/>
          </a:solidFill>
          <a:ln w="19050">
            <a:solidFill>
              <a:srgbClr val="FFD43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52"/>
          <p:cNvSpPr/>
          <p:nvPr/>
        </p:nvSpPr>
        <p:spPr>
          <a:xfrm>
            <a:off x="3322886" y="4414838"/>
            <a:ext cx="6087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75"/>
              </a:lnSpc>
              <a:buNone/>
            </a:pPr>
            <a:r>
              <a:rPr lang="en-US" sz="675" b="1" dirty="0">
                <a:solidFill>
                  <a:srgbClr val="FFD4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675" dirty="0"/>
          </a:p>
        </p:txBody>
      </p:sp>
      <p:sp>
        <p:nvSpPr>
          <p:cNvPr id="55" name="Text 53"/>
          <p:cNvSpPr/>
          <p:nvPr/>
        </p:nvSpPr>
        <p:spPr>
          <a:xfrm>
            <a:off x="3051721" y="4581525"/>
            <a:ext cx="61405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FFD4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13:00 ~ 16:00</a:t>
            </a:r>
            <a:endParaRPr lang="en-US" sz="600" dirty="0"/>
          </a:p>
        </p:txBody>
      </p:sp>
      <p:sp>
        <p:nvSpPr>
          <p:cNvPr id="56" name="Text 54"/>
          <p:cNvSpPr/>
          <p:nvPr/>
        </p:nvSpPr>
        <p:spPr>
          <a:xfrm>
            <a:off x="3057843" y="4695825"/>
            <a:ext cx="58991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88"/>
              </a:lnSpc>
              <a:buNone/>
            </a:pPr>
            <a:r>
              <a:rPr lang="en-US" sz="563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P7 v5.1 로컬</a:t>
            </a:r>
            <a:endParaRPr lang="en-US" sz="563" dirty="0"/>
          </a:p>
          <a:p>
            <a:pPr algn="ctr" indent="0" marL="0">
              <a:lnSpc>
                <a:spcPts val="788"/>
              </a:lnSpc>
              <a:buNone/>
            </a:pPr>
            <a:r>
              <a:rPr lang="en-US" sz="563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Optuna 35 trials</a:t>
            </a:r>
            <a:endParaRPr lang="en-US" sz="563" dirty="0"/>
          </a:p>
        </p:txBody>
      </p:sp>
      <p:sp>
        <p:nvSpPr>
          <p:cNvPr id="57" name="Text 55"/>
          <p:cNvSpPr/>
          <p:nvPr/>
        </p:nvSpPr>
        <p:spPr>
          <a:xfrm>
            <a:off x="3226743" y="4924425"/>
            <a:ext cx="25700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38D9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+0.10</a:t>
            </a:r>
            <a:endParaRPr lang="en-US" sz="600" dirty="0"/>
          </a:p>
        </p:txBody>
      </p:sp>
      <p:sp>
        <p:nvSpPr>
          <p:cNvPr id="58" name="Text 56"/>
          <p:cNvSpPr/>
          <p:nvPr/>
        </p:nvSpPr>
        <p:spPr>
          <a:xfrm>
            <a:off x="3962400" y="4576763"/>
            <a:ext cx="1219200" cy="9525"/>
          </a:xfrm>
          <a:prstGeom prst="rect">
            <a:avLst/>
          </a:prstGeom>
          <a:solidFill>
            <a:srgbClr val="3036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Text 57"/>
          <p:cNvSpPr/>
          <p:nvPr/>
        </p:nvSpPr>
        <p:spPr>
          <a:xfrm>
            <a:off x="5695950" y="4362450"/>
            <a:ext cx="190500" cy="190500"/>
          </a:xfrm>
          <a:prstGeom prst="roundRect">
            <a:avLst>
              <a:gd name="adj" fmla="val 480000"/>
            </a:avLst>
          </a:prstGeom>
          <a:solidFill>
            <a:srgbClr val="0D1117"/>
          </a:solidFill>
          <a:ln w="19050">
            <a:solidFill>
              <a:srgbClr val="FFD43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Text 58"/>
          <p:cNvSpPr/>
          <p:nvPr/>
        </p:nvSpPr>
        <p:spPr>
          <a:xfrm>
            <a:off x="5761286" y="4414838"/>
            <a:ext cx="6087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75"/>
              </a:lnSpc>
              <a:buNone/>
            </a:pPr>
            <a:r>
              <a:rPr lang="en-US" sz="675" b="1" dirty="0">
                <a:solidFill>
                  <a:srgbClr val="FFD4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675" dirty="0"/>
          </a:p>
        </p:txBody>
      </p:sp>
      <p:sp>
        <p:nvSpPr>
          <p:cNvPr id="61" name="Text 59"/>
          <p:cNvSpPr/>
          <p:nvPr/>
        </p:nvSpPr>
        <p:spPr>
          <a:xfrm>
            <a:off x="5490121" y="4581525"/>
            <a:ext cx="61405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FFD4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17:00 ~ 22:00</a:t>
            </a:r>
            <a:endParaRPr lang="en-US" sz="600" dirty="0"/>
          </a:p>
        </p:txBody>
      </p:sp>
      <p:sp>
        <p:nvSpPr>
          <p:cNvPr id="62" name="Text 60"/>
          <p:cNvSpPr/>
          <p:nvPr/>
        </p:nvSpPr>
        <p:spPr>
          <a:xfrm>
            <a:off x="5451158" y="4695825"/>
            <a:ext cx="68008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88"/>
              </a:lnSpc>
              <a:buNone/>
            </a:pPr>
            <a:r>
              <a:rPr lang="en-US" sz="563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P1 v2 로컬</a:t>
            </a:r>
            <a:endParaRPr lang="en-US" sz="563" dirty="0"/>
          </a:p>
          <a:p>
            <a:pPr algn="ctr" indent="0" marL="0">
              <a:lnSpc>
                <a:spcPts val="788"/>
              </a:lnSpc>
              <a:buNone/>
            </a:pPr>
            <a:r>
              <a:rPr lang="en-US" sz="563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class_weight+H2H</a:t>
            </a:r>
            <a:endParaRPr lang="en-US" sz="563" dirty="0"/>
          </a:p>
        </p:txBody>
      </p:sp>
      <p:sp>
        <p:nvSpPr>
          <p:cNvPr id="63" name="Text 61"/>
          <p:cNvSpPr/>
          <p:nvPr/>
        </p:nvSpPr>
        <p:spPr>
          <a:xfrm>
            <a:off x="5665143" y="4924425"/>
            <a:ext cx="25700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38D9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+0.08</a:t>
            </a:r>
            <a:endParaRPr lang="en-US" sz="600" dirty="0"/>
          </a:p>
        </p:txBody>
      </p:sp>
      <p:sp>
        <p:nvSpPr>
          <p:cNvPr id="64" name="Text 62"/>
          <p:cNvSpPr/>
          <p:nvPr/>
        </p:nvSpPr>
        <p:spPr>
          <a:xfrm>
            <a:off x="6400800" y="4576763"/>
            <a:ext cx="1219200" cy="9525"/>
          </a:xfrm>
          <a:prstGeom prst="rect">
            <a:avLst/>
          </a:prstGeom>
          <a:solidFill>
            <a:srgbClr val="3036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5" name="Text 63"/>
          <p:cNvSpPr/>
          <p:nvPr/>
        </p:nvSpPr>
        <p:spPr>
          <a:xfrm>
            <a:off x="8134350" y="4343400"/>
            <a:ext cx="190500" cy="190500"/>
          </a:xfrm>
          <a:prstGeom prst="roundRect">
            <a:avLst>
              <a:gd name="adj" fmla="val 480000"/>
            </a:avLst>
          </a:prstGeom>
          <a:solidFill>
            <a:srgbClr val="0D1117"/>
          </a:solidFill>
          <a:ln w="19050">
            <a:solidFill>
              <a:srgbClr val="FF6B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6" name="Text 64"/>
          <p:cNvSpPr/>
          <p:nvPr/>
        </p:nvSpPr>
        <p:spPr>
          <a:xfrm>
            <a:off x="8209955" y="4395788"/>
            <a:ext cx="3992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75"/>
              </a:lnSpc>
              <a:buNone/>
            </a:pPr>
            <a:r>
              <a:rPr lang="en-US" sz="675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!</a:t>
            </a:r>
            <a:endParaRPr lang="en-US" sz="675" dirty="0"/>
          </a:p>
        </p:txBody>
      </p:sp>
      <p:sp>
        <p:nvSpPr>
          <p:cNvPr id="67" name="Text 65"/>
          <p:cNvSpPr/>
          <p:nvPr/>
        </p:nvSpPr>
        <p:spPr>
          <a:xfrm>
            <a:off x="8018859" y="4562475"/>
            <a:ext cx="42991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22:00 이전</a:t>
            </a:r>
            <a:endParaRPr lang="en-US" sz="600" dirty="0"/>
          </a:p>
        </p:txBody>
      </p:sp>
      <p:sp>
        <p:nvSpPr>
          <p:cNvPr id="68" name="Text 66"/>
          <p:cNvSpPr/>
          <p:nvPr/>
        </p:nvSpPr>
        <p:spPr>
          <a:xfrm>
            <a:off x="7917338" y="4695825"/>
            <a:ext cx="62452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88"/>
              </a:lnSpc>
              <a:buNone/>
            </a:pPr>
            <a:r>
              <a:rPr lang="en-US" sz="563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results_summary</a:t>
            </a:r>
            <a:endParaRPr lang="en-US" sz="563" dirty="0"/>
          </a:p>
          <a:p>
            <a:pPr algn="ctr" indent="0" marL="0">
              <a:lnSpc>
                <a:spcPts val="788"/>
              </a:lnSpc>
              <a:buNone/>
            </a:pPr>
            <a:r>
              <a:rPr lang="en-US" sz="563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.json push</a:t>
            </a:r>
            <a:endParaRPr lang="en-US" sz="563" dirty="0"/>
          </a:p>
        </p:txBody>
      </p:sp>
      <p:sp>
        <p:nvSpPr>
          <p:cNvPr id="69" name="Text 67"/>
          <p:cNvSpPr/>
          <p:nvPr/>
        </p:nvSpPr>
        <p:spPr>
          <a:xfrm>
            <a:off x="8046095" y="4924425"/>
            <a:ext cx="37435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4.28 복원</a:t>
            </a:r>
            <a:endParaRPr lang="en-US" sz="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61950"/>
          </a:xfrm>
          <a:prstGeom prst="rect">
            <a:avLst/>
          </a:prstGeom>
          <a:solidFill>
            <a:srgbClr val="1E0D0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352425"/>
            <a:ext cx="9144000" cy="0"/>
          </a:xfrm>
          <a:prstGeom prst="line">
            <a:avLst/>
          </a:prstGeom>
          <a:noFill/>
          <a:ln w="19050">
            <a:solidFill>
              <a:srgbClr val="FF6B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04800" y="85725"/>
            <a:ext cx="216154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달성 0건 / 미달 4건 — 달성률 0%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614464" y="104775"/>
            <a:ext cx="9525" cy="133350"/>
          </a:xfrm>
          <a:prstGeom prst="rect">
            <a:avLst/>
          </a:prstGeom>
          <a:solidFill>
            <a:srgbClr val="FF6B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814489" y="104775"/>
            <a:ext cx="313461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어제(05-25 월요일)  |  평가 4.15 → 4.05 (−0.10)  |  화요일 경고 집행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304800" y="476250"/>
            <a:ext cx="5407670" cy="509587"/>
          </a:xfrm>
          <a:prstGeom prst="roundRect">
            <a:avLst>
              <a:gd name="adj" fmla="val 9346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304800" y="481013"/>
            <a:ext cx="5407670" cy="0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707707" y="476250"/>
            <a:ext cx="0" cy="509587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04800" y="981075"/>
            <a:ext cx="5407670" cy="0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9088" y="476250"/>
            <a:ext cx="0" cy="509587"/>
          </a:xfrm>
          <a:prstGeom prst="line">
            <a:avLst/>
          </a:prstGeom>
          <a:noFill/>
          <a:ln w="28575">
            <a:solidFill>
              <a:srgbClr val="FF6B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7675" y="571500"/>
            <a:ext cx="18186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❌</a:t>
            </a:r>
            <a:endParaRPr lang="en-US" sz="1125" dirty="0"/>
          </a:p>
        </p:txBody>
      </p:sp>
      <p:sp>
        <p:nvSpPr>
          <p:cNvPr id="13" name="Text 11"/>
          <p:cNvSpPr/>
          <p:nvPr/>
        </p:nvSpPr>
        <p:spPr>
          <a:xfrm>
            <a:off x="721221" y="590550"/>
            <a:ext cx="440749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P7 v5.1 로컬 학습 (R² ≥ 0.62)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721221" y="762000"/>
            <a:ext cx="4964772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어제 저녁 22시 데드라인 또 미이행 · 현재 </a:t>
            </a:r>
            <a:pPr algn="l" indent="0" marL="0">
              <a:lnSpc>
                <a:spcPts val="1013"/>
              </a:lnSpc>
              <a:buNone/>
            </a:pPr>
            <a:r>
              <a:rPr lang="en-US" sz="675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R² 0.5752</a:t>
            </a:r>
            <a:pPr algn="l" indent="0" marL="0">
              <a:lnSpc>
                <a:spcPts val="1013"/>
              </a:lnSpc>
              <a:buNone/>
            </a:pPr>
            <a:r>
              <a:rPr lang="en-US" sz="675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· 목표 0.62 갭 0.0448</a:t>
            </a:r>
            <a:endParaRPr lang="en-US" sz="675" dirty="0"/>
          </a:p>
        </p:txBody>
      </p:sp>
      <p:sp>
        <p:nvSpPr>
          <p:cNvPr id="15" name="Text 13"/>
          <p:cNvSpPr/>
          <p:nvPr/>
        </p:nvSpPr>
        <p:spPr>
          <a:xfrm>
            <a:off x="304800" y="1071563"/>
            <a:ext cx="5407670" cy="509587"/>
          </a:xfrm>
          <a:prstGeom prst="roundRect">
            <a:avLst>
              <a:gd name="adj" fmla="val 9346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304800" y="1076325"/>
            <a:ext cx="5407670" cy="0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707707" y="1071563"/>
            <a:ext cx="0" cy="509587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04800" y="1576388"/>
            <a:ext cx="5407670" cy="0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19088" y="1071563"/>
            <a:ext cx="0" cy="509587"/>
          </a:xfrm>
          <a:prstGeom prst="line">
            <a:avLst/>
          </a:prstGeom>
          <a:noFill/>
          <a:ln w="28575">
            <a:solidFill>
              <a:srgbClr val="FF6B6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7675" y="1166813"/>
            <a:ext cx="18186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❌</a:t>
            </a:r>
            <a:endParaRPr lang="en-US" sz="1125" dirty="0"/>
          </a:p>
        </p:txBody>
      </p:sp>
      <p:sp>
        <p:nvSpPr>
          <p:cNvPr id="21" name="Text 19"/>
          <p:cNvSpPr/>
          <p:nvPr/>
        </p:nvSpPr>
        <p:spPr>
          <a:xfrm>
            <a:off x="721221" y="1185863"/>
            <a:ext cx="440749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P1 v2 로컬 학습 (Acc ≥ 57%)</a:t>
            </a:r>
            <a:endParaRPr lang="en-US" sz="825" dirty="0"/>
          </a:p>
        </p:txBody>
      </p:sp>
      <p:sp>
        <p:nvSpPr>
          <p:cNvPr id="22" name="Text 20"/>
          <p:cNvSpPr/>
          <p:nvPr/>
        </p:nvSpPr>
        <p:spPr>
          <a:xfrm>
            <a:off x="721221" y="1357313"/>
            <a:ext cx="4964772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어제 저녁 22시 데드라인 또 미이행 · 현재 </a:t>
            </a:r>
            <a:pPr algn="l" indent="0" marL="0">
              <a:lnSpc>
                <a:spcPts val="1013"/>
              </a:lnSpc>
              <a:buNone/>
            </a:pPr>
            <a:r>
              <a:rPr lang="en-US" sz="675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Acc 54.79%</a:t>
            </a:r>
            <a:pPr algn="l" indent="0" marL="0">
              <a:lnSpc>
                <a:spcPts val="1013"/>
              </a:lnSpc>
              <a:buNone/>
            </a:pPr>
            <a:r>
              <a:rPr lang="en-US" sz="675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· 목표 57% 갭 2.21%p</a:t>
            </a:r>
            <a:endParaRPr lang="en-US" sz="675" dirty="0"/>
          </a:p>
        </p:txBody>
      </p:sp>
      <p:sp>
        <p:nvSpPr>
          <p:cNvPr id="23" name="Text 21"/>
          <p:cNvSpPr/>
          <p:nvPr/>
        </p:nvSpPr>
        <p:spPr>
          <a:xfrm>
            <a:off x="304800" y="1666875"/>
            <a:ext cx="5407670" cy="509587"/>
          </a:xfrm>
          <a:prstGeom prst="roundRect">
            <a:avLst>
              <a:gd name="adj" fmla="val 9346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304800" y="1671638"/>
            <a:ext cx="5407670" cy="0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07707" y="1666875"/>
            <a:ext cx="0" cy="509588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04800" y="2171700"/>
            <a:ext cx="5407670" cy="0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19088" y="1666875"/>
            <a:ext cx="0" cy="509588"/>
          </a:xfrm>
          <a:prstGeom prst="line">
            <a:avLst/>
          </a:prstGeom>
          <a:noFill/>
          <a:ln w="28575">
            <a:solidFill>
              <a:srgbClr val="FFD43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47675" y="1762125"/>
            <a:ext cx="18186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❌</a:t>
            </a:r>
            <a:endParaRPr lang="en-US" sz="1125" dirty="0"/>
          </a:p>
        </p:txBody>
      </p:sp>
      <p:sp>
        <p:nvSpPr>
          <p:cNvPr id="29" name="Text 27"/>
          <p:cNvSpPr/>
          <p:nvPr/>
        </p:nvSpPr>
        <p:spPr>
          <a:xfrm>
            <a:off x="721221" y="1781175"/>
            <a:ext cx="446381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S3 FW 개선 방향 파일 생성</a:t>
            </a:r>
            <a:endParaRPr lang="en-US" sz="825" dirty="0"/>
          </a:p>
        </p:txBody>
      </p:sp>
      <p:sp>
        <p:nvSpPr>
          <p:cNvPr id="30" name="Text 28"/>
          <p:cNvSpPr/>
          <p:nvPr/>
        </p:nvSpPr>
        <p:spPr>
          <a:xfrm>
            <a:off x="721221" y="1952625"/>
            <a:ext cx="4964772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b="1" dirty="0">
                <a:solidFill>
                  <a:srgbClr val="FFD4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reports/s3_fw_improvement_plan.md</a:t>
            </a:r>
            <a:pPr algn="l" indent="0" marL="0">
              <a:lnSpc>
                <a:spcPts val="1013"/>
              </a:lnSpc>
              <a:buNone/>
            </a:pPr>
            <a:r>
              <a:rPr lang="en-US" sz="675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파일 없음</a:t>
            </a:r>
            <a:endParaRPr lang="en-US" sz="675" dirty="0"/>
          </a:p>
        </p:txBody>
      </p:sp>
      <p:sp>
        <p:nvSpPr>
          <p:cNvPr id="31" name="Text 29"/>
          <p:cNvSpPr/>
          <p:nvPr/>
        </p:nvSpPr>
        <p:spPr>
          <a:xfrm>
            <a:off x="304800" y="2262188"/>
            <a:ext cx="5407670" cy="509587"/>
          </a:xfrm>
          <a:prstGeom prst="roundRect">
            <a:avLst>
              <a:gd name="adj" fmla="val 9346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Shape 30"/>
          <p:cNvSpPr/>
          <p:nvPr/>
        </p:nvSpPr>
        <p:spPr>
          <a:xfrm>
            <a:off x="304800" y="2266950"/>
            <a:ext cx="5407670" cy="0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707707" y="2262188"/>
            <a:ext cx="0" cy="509587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04800" y="2767013"/>
            <a:ext cx="5407670" cy="0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19088" y="2262188"/>
            <a:ext cx="0" cy="509587"/>
          </a:xfrm>
          <a:prstGeom prst="line">
            <a:avLst/>
          </a:prstGeom>
          <a:noFill/>
          <a:ln w="28575">
            <a:solidFill>
              <a:srgbClr val="FFD43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47675" y="2357438"/>
            <a:ext cx="18186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❌</a:t>
            </a:r>
            <a:endParaRPr lang="en-US" sz="1125" dirty="0"/>
          </a:p>
        </p:txBody>
      </p:sp>
      <p:sp>
        <p:nvSpPr>
          <p:cNvPr id="37" name="Text 35"/>
          <p:cNvSpPr/>
          <p:nvPr/>
        </p:nvSpPr>
        <p:spPr>
          <a:xfrm>
            <a:off x="721221" y="2376488"/>
            <a:ext cx="446381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 demo_script v2.0</a:t>
            </a:r>
            <a:endParaRPr lang="en-US" sz="825" dirty="0"/>
          </a:p>
        </p:txBody>
      </p:sp>
      <p:sp>
        <p:nvSpPr>
          <p:cNvPr id="38" name="Text 36"/>
          <p:cNvSpPr/>
          <p:nvPr/>
        </p:nvSpPr>
        <p:spPr>
          <a:xfrm>
            <a:off x="721221" y="2547938"/>
            <a:ext cx="4964772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v1.0 초안(05-19) 상태 그대로 · v2.0 최종본 미완성</a:t>
            </a:r>
            <a:endParaRPr lang="en-US" sz="675" dirty="0"/>
          </a:p>
        </p:txBody>
      </p:sp>
      <p:sp>
        <p:nvSpPr>
          <p:cNvPr id="39" name="Text 37"/>
          <p:cNvSpPr/>
          <p:nvPr/>
        </p:nvSpPr>
        <p:spPr>
          <a:xfrm>
            <a:off x="5864870" y="476250"/>
            <a:ext cx="2974330" cy="1197769"/>
          </a:xfrm>
          <a:prstGeom prst="roundRect">
            <a:avLst>
              <a:gd name="adj" fmla="val 5567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6007745" y="600075"/>
            <a:ext cx="274235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어제 달성률 요약</a:t>
            </a:r>
            <a:endParaRPr lang="en-US" sz="825" dirty="0"/>
          </a:p>
        </p:txBody>
      </p:sp>
      <p:sp>
        <p:nvSpPr>
          <p:cNvPr id="41" name="Text 39"/>
          <p:cNvSpPr/>
          <p:nvPr/>
        </p:nvSpPr>
        <p:spPr>
          <a:xfrm>
            <a:off x="6007745" y="828675"/>
            <a:ext cx="2742352" cy="144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0"/>
              </a:lnSpc>
              <a:buNone/>
            </a:pPr>
            <a:r>
              <a:rPr lang="en-US" sz="713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달성률: </a:t>
            </a:r>
            <a:pPr algn="l" indent="0" marL="0">
              <a:lnSpc>
                <a:spcPts val="1140"/>
              </a:lnSpc>
              <a:buNone/>
            </a:pPr>
            <a:r>
              <a:rPr lang="en-US" sz="713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 / 4 (0%)</a:t>
            </a:r>
            <a:endParaRPr lang="en-US" sz="713" dirty="0"/>
          </a:p>
        </p:txBody>
      </p:sp>
      <p:sp>
        <p:nvSpPr>
          <p:cNvPr id="42" name="Text 40"/>
          <p:cNvSpPr/>
          <p:nvPr/>
        </p:nvSpPr>
        <p:spPr>
          <a:xfrm>
            <a:off x="6007745" y="1020961"/>
            <a:ext cx="2742352" cy="144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0"/>
              </a:lnSpc>
              <a:buNone/>
            </a:pPr>
            <a:r>
              <a:rPr lang="en-US" sz="713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평점: </a:t>
            </a:r>
            <a:pPr algn="l" indent="0" marL="0">
              <a:lnSpc>
                <a:spcPts val="1140"/>
              </a:lnSpc>
              <a:buNone/>
            </a:pPr>
            <a:r>
              <a:rPr lang="en-US" sz="713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4.15 → 4.05</a:t>
            </a:r>
            <a:pPr algn="l" indent="0" marL="0">
              <a:lnSpc>
                <a:spcPts val="1140"/>
              </a:lnSpc>
              <a:buNone/>
            </a:pPr>
            <a:r>
              <a:rPr lang="en-US" sz="713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pPr algn="l" indent="0" marL="0">
              <a:lnSpc>
                <a:spcPts val="1140"/>
              </a:lnSpc>
              <a:buNone/>
            </a:pPr>
            <a:r>
              <a:rPr lang="en-US" sz="713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(−0.10)</a:t>
            </a:r>
            <a:endParaRPr lang="en-US" sz="713" dirty="0"/>
          </a:p>
        </p:txBody>
      </p:sp>
      <p:sp>
        <p:nvSpPr>
          <p:cNvPr id="43" name="Text 41"/>
          <p:cNvSpPr/>
          <p:nvPr/>
        </p:nvSpPr>
        <p:spPr>
          <a:xfrm>
            <a:off x="6007745" y="1213247"/>
            <a:ext cx="2742352" cy="144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0"/>
              </a:lnSpc>
              <a:buNone/>
            </a:pPr>
            <a:r>
              <a:rPr lang="en-US" sz="713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감점: P7/P1 15일 −0.07 · S3 FW −0.02 · demo −0.01</a:t>
            </a:r>
            <a:endParaRPr lang="en-US" sz="713" dirty="0"/>
          </a:p>
        </p:txBody>
      </p:sp>
      <p:sp>
        <p:nvSpPr>
          <p:cNvPr id="44" name="Text 42"/>
          <p:cNvSpPr/>
          <p:nvPr/>
        </p:nvSpPr>
        <p:spPr>
          <a:xfrm>
            <a:off x="6007745" y="1405533"/>
            <a:ext cx="2742352" cy="144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0"/>
              </a:lnSpc>
              <a:buNone/>
            </a:pPr>
            <a:r>
              <a:rPr lang="en-US" sz="713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경고 발동: </a:t>
            </a:r>
            <a:pPr algn="l" indent="0" marL="0">
              <a:lnSpc>
                <a:spcPts val="1140"/>
              </a:lnSpc>
              <a:buNone/>
            </a:pPr>
            <a:r>
              <a:rPr lang="en-US" sz="713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22시 미이행 → 내일 4.0 이하</a:t>
            </a:r>
            <a:endParaRPr lang="en-US" sz="713" dirty="0"/>
          </a:p>
        </p:txBody>
      </p:sp>
      <p:sp>
        <p:nvSpPr>
          <p:cNvPr id="45" name="Text 43"/>
          <p:cNvSpPr/>
          <p:nvPr/>
        </p:nvSpPr>
        <p:spPr>
          <a:xfrm>
            <a:off x="5864870" y="1769269"/>
            <a:ext cx="2974330" cy="990600"/>
          </a:xfrm>
          <a:prstGeom prst="roundRect">
            <a:avLst>
              <a:gd name="adj" fmla="val 6731"/>
            </a:avLst>
          </a:prstGeom>
          <a:solidFill>
            <a:srgbClr val="0E1F1B"/>
          </a:solidFill>
          <a:ln w="9525">
            <a:solidFill>
              <a:srgbClr val="38D9A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6007745" y="1874044"/>
            <a:ext cx="274235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38D9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전부 달성 시 복원 시나리오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6007745" y="2083594"/>
            <a:ext cx="73018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38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S3 FW 파일 (11시)</a:t>
            </a:r>
            <a:endParaRPr lang="en-US" sz="638" dirty="0"/>
          </a:p>
        </p:txBody>
      </p:sp>
      <p:sp>
        <p:nvSpPr>
          <p:cNvPr id="48" name="Text 46"/>
          <p:cNvSpPr/>
          <p:nvPr/>
        </p:nvSpPr>
        <p:spPr>
          <a:xfrm>
            <a:off x="8069907" y="2093119"/>
            <a:ext cx="63894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38D9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+0.03 → 4.08</a:t>
            </a:r>
            <a:endParaRPr lang="en-US" sz="675" dirty="0"/>
          </a:p>
        </p:txBody>
      </p:sp>
      <p:sp>
        <p:nvSpPr>
          <p:cNvPr id="49" name="Text 47"/>
          <p:cNvSpPr/>
          <p:nvPr/>
        </p:nvSpPr>
        <p:spPr>
          <a:xfrm>
            <a:off x="6007745" y="2235994"/>
            <a:ext cx="99052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38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demo_script v2.0 (11시)</a:t>
            </a:r>
            <a:endParaRPr lang="en-US" sz="638" dirty="0"/>
          </a:p>
        </p:txBody>
      </p:sp>
      <p:sp>
        <p:nvSpPr>
          <p:cNvPr id="50" name="Text 48"/>
          <p:cNvSpPr/>
          <p:nvPr/>
        </p:nvSpPr>
        <p:spPr>
          <a:xfrm>
            <a:off x="8069907" y="2245519"/>
            <a:ext cx="63894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38D9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+0.02 → 4.10</a:t>
            </a:r>
            <a:endParaRPr lang="en-US" sz="675" dirty="0"/>
          </a:p>
        </p:txBody>
      </p:sp>
      <p:sp>
        <p:nvSpPr>
          <p:cNvPr id="51" name="Text 49"/>
          <p:cNvSpPr/>
          <p:nvPr/>
        </p:nvSpPr>
        <p:spPr>
          <a:xfrm>
            <a:off x="6007745" y="2388394"/>
            <a:ext cx="78058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38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P7 R² ≥ 0.62 (오후)</a:t>
            </a:r>
            <a:endParaRPr lang="en-US" sz="638" dirty="0"/>
          </a:p>
        </p:txBody>
      </p:sp>
      <p:sp>
        <p:nvSpPr>
          <p:cNvPr id="52" name="Text 50"/>
          <p:cNvSpPr/>
          <p:nvPr/>
        </p:nvSpPr>
        <p:spPr>
          <a:xfrm>
            <a:off x="8069907" y="2397919"/>
            <a:ext cx="63894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38D9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+0.10 → 4.20</a:t>
            </a:r>
            <a:endParaRPr lang="en-US" sz="675" dirty="0"/>
          </a:p>
        </p:txBody>
      </p:sp>
      <p:sp>
        <p:nvSpPr>
          <p:cNvPr id="53" name="Text 51"/>
          <p:cNvSpPr/>
          <p:nvPr/>
        </p:nvSpPr>
        <p:spPr>
          <a:xfrm>
            <a:off x="6007745" y="2540794"/>
            <a:ext cx="83568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38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P1 Acc ≥ 57% (저녁)</a:t>
            </a:r>
            <a:endParaRPr lang="en-US" sz="638" dirty="0"/>
          </a:p>
        </p:txBody>
      </p:sp>
      <p:sp>
        <p:nvSpPr>
          <p:cNvPr id="54" name="Text 52"/>
          <p:cNvSpPr/>
          <p:nvPr/>
        </p:nvSpPr>
        <p:spPr>
          <a:xfrm>
            <a:off x="8069907" y="2550319"/>
            <a:ext cx="63894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38D9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+0.08 → 4.28</a:t>
            </a:r>
            <a:endParaRPr lang="en-US" sz="675" dirty="0"/>
          </a:p>
        </p:txBody>
      </p:sp>
      <p:sp>
        <p:nvSpPr>
          <p:cNvPr id="55" name="Text 53"/>
          <p:cNvSpPr/>
          <p:nvPr/>
        </p:nvSpPr>
        <p:spPr>
          <a:xfrm>
            <a:off x="0" y="4819650"/>
            <a:ext cx="9144000" cy="323850"/>
          </a:xfrm>
          <a:prstGeom prst="rect">
            <a:avLst/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Shape 54"/>
          <p:cNvSpPr/>
          <p:nvPr/>
        </p:nvSpPr>
        <p:spPr>
          <a:xfrm>
            <a:off x="0" y="4829175"/>
            <a:ext cx="9144000" cy="0"/>
          </a:xfrm>
          <a:prstGeom prst="line">
            <a:avLst/>
          </a:prstGeom>
          <a:noFill/>
          <a:ln w="19050">
            <a:solidFill>
              <a:srgbClr val="FF6B6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04800" y="4924425"/>
            <a:ext cx="870508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</a:t>
            </a:r>
            <a:pPr algn="l" indent="0" marL="0">
              <a:buNone/>
            </a:pPr>
            <a:r>
              <a:rPr lang="en-US" sz="750" b="1" i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4개 중 0개. 15일입니다.</a:t>
            </a:r>
            <a:pPr algn="l" indent="0" marL="0">
              <a:buNone/>
            </a:pPr>
            <a:r>
              <a:rPr lang="en-US" sz="75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경고를 넘어 최후통첩입니다. — 김태현”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42900"/>
          </a:xfrm>
          <a:prstGeom prst="rect">
            <a:avLst/>
          </a:prstGeom>
          <a:solidFill>
            <a:srgbClr val="1E0D0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333375"/>
            <a:ext cx="9144000" cy="0"/>
          </a:xfrm>
          <a:prstGeom prst="line">
            <a:avLst/>
          </a:prstGeom>
          <a:noFill/>
          <a:ln w="19050">
            <a:solidFill>
              <a:srgbClr val="FF6B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04800" y="76200"/>
            <a:ext cx="296854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액션아이템 Top 3 — 저녁 22시 절대 마감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887194" y="95250"/>
            <a:ext cx="301104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4개 완결 시 4.05 → </a:t>
            </a:r>
            <a:pPr algn="l" indent="0" marL="0">
              <a:buNone/>
            </a:pPr>
            <a:r>
              <a:rPr lang="en-US" sz="750" b="1" dirty="0">
                <a:solidFill>
                  <a:srgbClr val="38D9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4.28</a:t>
            </a:r>
            <a:pPr algn="l"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· 미이행 시 내일 4.0 이하 (시스템 재설계)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304800" y="457200"/>
            <a:ext cx="2768501" cy="3776662"/>
          </a:xfrm>
          <a:prstGeom prst="roundRect">
            <a:avLst>
              <a:gd name="adj" fmla="val 2752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304800" y="476250"/>
            <a:ext cx="2768501" cy="0"/>
          </a:xfrm>
          <a:prstGeom prst="line">
            <a:avLst/>
          </a:prstGeom>
          <a:noFill/>
          <a:ln w="38100">
            <a:solidFill>
              <a:srgbClr val="FF6B6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063776" y="457200"/>
            <a:ext cx="0" cy="3776662"/>
          </a:xfrm>
          <a:prstGeom prst="line">
            <a:avLst/>
          </a:prstGeom>
          <a:noFill/>
          <a:ln w="19050">
            <a:solidFill>
              <a:srgbClr val="FF6B6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04800" y="4224337"/>
            <a:ext cx="2768501" cy="0"/>
          </a:xfrm>
          <a:prstGeom prst="line">
            <a:avLst/>
          </a:prstGeom>
          <a:noFill/>
          <a:ln w="19050">
            <a:solidFill>
              <a:srgbClr val="FF6B6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14325" y="457200"/>
            <a:ext cx="0" cy="3776662"/>
          </a:xfrm>
          <a:prstGeom prst="line">
            <a:avLst/>
          </a:prstGeom>
          <a:noFill/>
          <a:ln w="19050">
            <a:solidFill>
              <a:srgbClr val="FF6B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838200"/>
            <a:ext cx="2512975" cy="297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P7 v5.1 + P1 v2</a:t>
            </a:r>
            <a:endParaRPr lang="en-US" sz="900" dirty="0"/>
          </a:p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로컬 학습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1192411"/>
            <a:ext cx="251297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담당: </a:t>
            </a:r>
            <a:pPr algn="l" indent="0" marL="0">
              <a:buNone/>
            </a:pPr>
            <a:r>
              <a:rPr lang="en-US" sz="675" b="1" dirty="0">
                <a:solidFill>
                  <a:srgbClr val="58A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Marcus Webb</a:t>
            </a:r>
            <a:endParaRPr lang="en-US" sz="675" dirty="0"/>
          </a:p>
        </p:txBody>
      </p:sp>
      <p:sp>
        <p:nvSpPr>
          <p:cNvPr id="13" name="Text 11"/>
          <p:cNvSpPr/>
          <p:nvPr/>
        </p:nvSpPr>
        <p:spPr>
          <a:xfrm>
            <a:off x="457200" y="1373386"/>
            <a:ext cx="2463701" cy="583406"/>
          </a:xfrm>
          <a:prstGeom prst="roundRect">
            <a:avLst>
              <a:gd name="adj" fmla="val 6531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33400" y="1421011"/>
            <a:ext cx="2357527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6"/>
              </a:lnSpc>
              <a:buNone/>
            </a:pPr>
            <a:r>
              <a:rPr lang="en-US" sz="638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P7: R² </a:t>
            </a:r>
            <a:pPr algn="l" indent="0" marL="0">
              <a:lnSpc>
                <a:spcPts val="956"/>
              </a:lnSpc>
              <a:buNone/>
            </a:pPr>
            <a:r>
              <a:rPr lang="en-US" sz="638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0.5752</a:t>
            </a:r>
            <a:pPr algn="l" indent="0" marL="0">
              <a:lnSpc>
                <a:spcPts val="956"/>
              </a:lnSpc>
              <a:buNone/>
            </a:pPr>
            <a:r>
              <a:rPr lang="en-US" sz="638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→ </a:t>
            </a:r>
            <a:pPr algn="l" indent="0" marL="0">
              <a:lnSpc>
                <a:spcPts val="956"/>
              </a:lnSpc>
              <a:buNone/>
            </a:pPr>
            <a:r>
              <a:rPr lang="en-US" sz="638" b="1" dirty="0">
                <a:solidFill>
                  <a:srgbClr val="38D9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≥ 0.62</a:t>
            </a:r>
            <a:pPr algn="l" indent="0" marL="0">
              <a:lnSpc>
                <a:spcPts val="956"/>
              </a:lnSpc>
              <a:buNone/>
            </a:pPr>
            <a:r>
              <a:rPr lang="en-US" sz="638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(Optuna 35 trials)</a:t>
            </a:r>
            <a:endParaRPr lang="en-US" sz="638" dirty="0"/>
          </a:p>
        </p:txBody>
      </p:sp>
      <p:sp>
        <p:nvSpPr>
          <p:cNvPr id="15" name="Text 13"/>
          <p:cNvSpPr/>
          <p:nvPr/>
        </p:nvSpPr>
        <p:spPr>
          <a:xfrm>
            <a:off x="533400" y="1542455"/>
            <a:ext cx="2357527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6"/>
              </a:lnSpc>
              <a:buNone/>
            </a:pPr>
            <a:r>
              <a:rPr lang="en-US" sz="638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P1: Acc </a:t>
            </a:r>
            <a:pPr algn="l" indent="0" marL="0">
              <a:lnSpc>
                <a:spcPts val="956"/>
              </a:lnSpc>
              <a:buNone/>
            </a:pPr>
            <a:r>
              <a:rPr lang="en-US" sz="638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54.79%</a:t>
            </a:r>
            <a:pPr algn="l" indent="0" marL="0">
              <a:lnSpc>
                <a:spcPts val="956"/>
              </a:lnSpc>
              <a:buNone/>
            </a:pPr>
            <a:r>
              <a:rPr lang="en-US" sz="638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→ </a:t>
            </a:r>
            <a:pPr algn="l" indent="0" marL="0">
              <a:lnSpc>
                <a:spcPts val="956"/>
              </a:lnSpc>
              <a:buNone/>
            </a:pPr>
            <a:r>
              <a:rPr lang="en-US" sz="638" b="1" dirty="0">
                <a:solidFill>
                  <a:srgbClr val="38D9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≥ 57%</a:t>
            </a:r>
            <a:pPr algn="l" indent="0" marL="0">
              <a:lnSpc>
                <a:spcPts val="956"/>
              </a:lnSpc>
              <a:buNone/>
            </a:pPr>
            <a:r>
              <a:rPr lang="en-US" sz="638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(class_weight)</a:t>
            </a:r>
            <a:endParaRPr lang="en-US" sz="638" dirty="0"/>
          </a:p>
        </p:txBody>
      </p:sp>
      <p:sp>
        <p:nvSpPr>
          <p:cNvPr id="16" name="Text 14"/>
          <p:cNvSpPr/>
          <p:nvPr/>
        </p:nvSpPr>
        <p:spPr>
          <a:xfrm>
            <a:off x="533400" y="1663898"/>
            <a:ext cx="2357527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6"/>
              </a:lnSpc>
              <a:buNone/>
            </a:pPr>
            <a:r>
              <a:rPr lang="en-US" sz="638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오후 13시 P7 시작 → 저녁 17시 P1 시작</a:t>
            </a:r>
            <a:endParaRPr lang="en-US" sz="638" dirty="0"/>
          </a:p>
        </p:txBody>
      </p:sp>
      <p:sp>
        <p:nvSpPr>
          <p:cNvPr id="17" name="Text 15"/>
          <p:cNvSpPr/>
          <p:nvPr/>
        </p:nvSpPr>
        <p:spPr>
          <a:xfrm>
            <a:off x="533400" y="1785342"/>
            <a:ext cx="235752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6"/>
              </a:lnSpc>
              <a:buNone/>
            </a:pPr>
            <a:r>
              <a:rPr lang="en-US" sz="638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train_v5_1.py → train_pipeline.py</a:t>
            </a:r>
            <a:endParaRPr lang="en-US" sz="638" dirty="0"/>
          </a:p>
        </p:txBody>
      </p:sp>
      <p:sp>
        <p:nvSpPr>
          <p:cNvPr id="18" name="Text 16"/>
          <p:cNvSpPr/>
          <p:nvPr/>
        </p:nvSpPr>
        <p:spPr>
          <a:xfrm>
            <a:off x="457200" y="2013942"/>
            <a:ext cx="1063526" cy="200025"/>
          </a:xfrm>
          <a:prstGeom prst="roundRect">
            <a:avLst>
              <a:gd name="adj" fmla="val 19048"/>
            </a:avLst>
          </a:prstGeom>
          <a:solidFill>
            <a:srgbClr val="1E0D0D"/>
          </a:solidFill>
          <a:ln w="9525">
            <a:solidFill>
              <a:srgbClr val="FF6B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42925" y="2052042"/>
            <a:ext cx="90991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22:00 KST 최후 마감</a:t>
            </a:r>
            <a:endParaRPr lang="en-US" sz="675" dirty="0"/>
          </a:p>
        </p:txBody>
      </p:sp>
      <p:sp>
        <p:nvSpPr>
          <p:cNvPr id="20" name="Text 18"/>
          <p:cNvSpPr/>
          <p:nvPr/>
        </p:nvSpPr>
        <p:spPr>
          <a:xfrm>
            <a:off x="457200" y="2271117"/>
            <a:ext cx="96213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38D9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달성 시 +0.18 → 4.23</a:t>
            </a:r>
            <a:endParaRPr lang="en-US" sz="675" dirty="0"/>
          </a:p>
        </p:txBody>
      </p:sp>
      <p:sp>
        <p:nvSpPr>
          <p:cNvPr id="21" name="Text 19"/>
          <p:cNvSpPr/>
          <p:nvPr/>
        </p:nvSpPr>
        <p:spPr>
          <a:xfrm>
            <a:off x="3187601" y="457200"/>
            <a:ext cx="2768650" cy="3776662"/>
          </a:xfrm>
          <a:prstGeom prst="roundRect">
            <a:avLst>
              <a:gd name="adj" fmla="val 2752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3187601" y="476250"/>
            <a:ext cx="2768650" cy="0"/>
          </a:xfrm>
          <a:prstGeom prst="line">
            <a:avLst/>
          </a:prstGeom>
          <a:noFill/>
          <a:ln w="38100">
            <a:solidFill>
              <a:srgbClr val="FFD43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46725" y="457200"/>
            <a:ext cx="0" cy="3776662"/>
          </a:xfrm>
          <a:prstGeom prst="line">
            <a:avLst/>
          </a:prstGeom>
          <a:noFill/>
          <a:ln w="19050">
            <a:solidFill>
              <a:srgbClr val="FFD43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187601" y="4224337"/>
            <a:ext cx="2768650" cy="0"/>
          </a:xfrm>
          <a:prstGeom prst="line">
            <a:avLst/>
          </a:prstGeom>
          <a:noFill/>
          <a:ln w="19050">
            <a:solidFill>
              <a:srgbClr val="FFD43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197126" y="457200"/>
            <a:ext cx="0" cy="3776662"/>
          </a:xfrm>
          <a:prstGeom prst="line">
            <a:avLst/>
          </a:prstGeom>
          <a:noFill/>
          <a:ln w="19050">
            <a:solidFill>
              <a:srgbClr val="FFD43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40001" y="838200"/>
            <a:ext cx="2513127" cy="297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S3 FW 클러스터</a:t>
            </a:r>
            <a:endParaRPr lang="en-US" sz="900" dirty="0"/>
          </a:p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개선 방향 파일 생성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340001" y="1192411"/>
            <a:ext cx="251312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담당: </a:t>
            </a:r>
            <a:pPr algn="l" indent="0" marL="0">
              <a:buNone/>
            </a:pPr>
            <a:r>
              <a:rPr lang="en-US" sz="675" b="1" dirty="0">
                <a:solidFill>
                  <a:srgbClr val="58A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Marcus Webb</a:t>
            </a:r>
            <a:endParaRPr lang="en-US" sz="675" dirty="0"/>
          </a:p>
        </p:txBody>
      </p:sp>
      <p:sp>
        <p:nvSpPr>
          <p:cNvPr id="28" name="Text 26"/>
          <p:cNvSpPr/>
          <p:nvPr/>
        </p:nvSpPr>
        <p:spPr>
          <a:xfrm>
            <a:off x="3340001" y="1373386"/>
            <a:ext cx="2463850" cy="583406"/>
          </a:xfrm>
          <a:prstGeom prst="roundRect">
            <a:avLst>
              <a:gd name="adj" fmla="val 6531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3416201" y="1421011"/>
            <a:ext cx="235767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6"/>
              </a:lnSpc>
              <a:buNone/>
            </a:pPr>
            <a:r>
              <a:rPr lang="en-US" sz="638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파일: reports/s3_fw_improvement_plan.md</a:t>
            </a:r>
            <a:endParaRPr lang="en-US" sz="638" dirty="0"/>
          </a:p>
        </p:txBody>
      </p:sp>
      <p:sp>
        <p:nvSpPr>
          <p:cNvPr id="30" name="Text 28"/>
          <p:cNvSpPr/>
          <p:nvPr/>
        </p:nvSpPr>
        <p:spPr>
          <a:xfrm>
            <a:off x="3416201" y="1544836"/>
            <a:ext cx="2357679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6"/>
              </a:lnSpc>
              <a:buNone/>
            </a:pPr>
            <a:r>
              <a:rPr lang="en-US" sz="638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FW Sil </a:t>
            </a:r>
            <a:pPr algn="l" indent="0" marL="0">
              <a:lnSpc>
                <a:spcPts val="956"/>
              </a:lnSpc>
              <a:buNone/>
            </a:pPr>
            <a:r>
              <a:rPr lang="en-US" sz="638" b="1" dirty="0">
                <a:solidFill>
                  <a:srgbClr val="FFD4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0.2085</a:t>
            </a:r>
            <a:pPr algn="l" indent="0" marL="0">
              <a:lnSpc>
                <a:spcPts val="956"/>
              </a:lnSpc>
              <a:buNone/>
            </a:pPr>
            <a:r>
              <a:rPr lang="en-US" sz="638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→ </a:t>
            </a:r>
            <a:pPr algn="l" indent="0" marL="0">
              <a:lnSpc>
                <a:spcPts val="956"/>
              </a:lnSpc>
              <a:buNone/>
            </a:pPr>
            <a:r>
              <a:rPr lang="en-US" sz="638" b="1" dirty="0">
                <a:solidFill>
                  <a:srgbClr val="38D9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0.25</a:t>
            </a:r>
            <a:pPr algn="l" indent="0" marL="0">
              <a:lnSpc>
                <a:spcPts val="956"/>
              </a:lnSpc>
              <a:buNone/>
            </a:pPr>
            <a:r>
              <a:rPr lang="en-US" sz="638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달성 방안</a:t>
            </a:r>
            <a:endParaRPr lang="en-US" sz="638" dirty="0"/>
          </a:p>
        </p:txBody>
      </p:sp>
      <p:sp>
        <p:nvSpPr>
          <p:cNvPr id="31" name="Text 29"/>
          <p:cNvSpPr/>
          <p:nvPr/>
        </p:nvSpPr>
        <p:spPr>
          <a:xfrm>
            <a:off x="3416201" y="1666280"/>
            <a:ext cx="2357679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6"/>
              </a:lnSpc>
              <a:buNone/>
            </a:pPr>
            <a:r>
              <a:rPr lang="en-US" sz="638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추가 피처: dribbles_completed_pct, pressures_att_3rd</a:t>
            </a:r>
            <a:endParaRPr lang="en-US" sz="638" dirty="0"/>
          </a:p>
        </p:txBody>
      </p:sp>
      <p:sp>
        <p:nvSpPr>
          <p:cNvPr id="32" name="Text 30"/>
          <p:cNvSpPr/>
          <p:nvPr/>
        </p:nvSpPr>
        <p:spPr>
          <a:xfrm>
            <a:off x="3416201" y="1787723"/>
            <a:ext cx="2357679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6"/>
              </a:lnSpc>
              <a:buNone/>
            </a:pPr>
            <a:r>
              <a:rPr lang="en-US" sz="638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K=7 유지 vs K=5 대안 (Sil 비교 포함)</a:t>
            </a:r>
            <a:endParaRPr lang="en-US" sz="638" dirty="0"/>
          </a:p>
        </p:txBody>
      </p:sp>
      <p:sp>
        <p:nvSpPr>
          <p:cNvPr id="33" name="Text 31"/>
          <p:cNvSpPr/>
          <p:nvPr/>
        </p:nvSpPr>
        <p:spPr>
          <a:xfrm>
            <a:off x="3340001" y="2013942"/>
            <a:ext cx="660946" cy="171450"/>
          </a:xfrm>
          <a:prstGeom prst="roundRect">
            <a:avLst>
              <a:gd name="adj" fmla="val 22222"/>
            </a:avLst>
          </a:prstGeom>
          <a:solidFill>
            <a:srgbClr val="1C1A0E"/>
          </a:solidFill>
          <a:ln w="9525">
            <a:solidFill>
              <a:srgbClr val="FFD43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3425726" y="2052042"/>
            <a:ext cx="49928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FFD4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11:00 KST</a:t>
            </a:r>
            <a:endParaRPr lang="en-US" sz="675" dirty="0"/>
          </a:p>
        </p:txBody>
      </p:sp>
      <p:sp>
        <p:nvSpPr>
          <p:cNvPr id="35" name="Text 33"/>
          <p:cNvSpPr/>
          <p:nvPr/>
        </p:nvSpPr>
        <p:spPr>
          <a:xfrm>
            <a:off x="3340001" y="2242542"/>
            <a:ext cx="96213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38D9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달성 시 +0.03 → 4.08</a:t>
            </a:r>
            <a:endParaRPr lang="en-US" sz="675" dirty="0"/>
          </a:p>
        </p:txBody>
      </p:sp>
      <p:sp>
        <p:nvSpPr>
          <p:cNvPr id="36" name="Text 34"/>
          <p:cNvSpPr/>
          <p:nvPr/>
        </p:nvSpPr>
        <p:spPr>
          <a:xfrm>
            <a:off x="6070550" y="457200"/>
            <a:ext cx="2768650" cy="3776662"/>
          </a:xfrm>
          <a:prstGeom prst="roundRect">
            <a:avLst>
              <a:gd name="adj" fmla="val 2752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Shape 35"/>
          <p:cNvSpPr/>
          <p:nvPr/>
        </p:nvSpPr>
        <p:spPr>
          <a:xfrm>
            <a:off x="6070550" y="476250"/>
            <a:ext cx="2768650" cy="0"/>
          </a:xfrm>
          <a:prstGeom prst="line">
            <a:avLst/>
          </a:prstGeom>
          <a:noFill/>
          <a:ln w="38100">
            <a:solidFill>
              <a:srgbClr val="FFD43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829675" y="457200"/>
            <a:ext cx="0" cy="3776662"/>
          </a:xfrm>
          <a:prstGeom prst="line">
            <a:avLst/>
          </a:prstGeom>
          <a:noFill/>
          <a:ln w="19050">
            <a:solidFill>
              <a:srgbClr val="FFD43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70550" y="4224337"/>
            <a:ext cx="2768650" cy="0"/>
          </a:xfrm>
          <a:prstGeom prst="line">
            <a:avLst/>
          </a:prstGeom>
          <a:noFill/>
          <a:ln w="19050">
            <a:solidFill>
              <a:srgbClr val="FFD43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080075" y="457200"/>
            <a:ext cx="0" cy="3776662"/>
          </a:xfrm>
          <a:prstGeom prst="line">
            <a:avLst/>
          </a:prstGeom>
          <a:noFill/>
          <a:ln w="19050">
            <a:solidFill>
              <a:srgbClr val="FFD43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22950" y="838200"/>
            <a:ext cx="2513127" cy="297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 demo_script</a:t>
            </a:r>
            <a:endParaRPr lang="en-US" sz="900" dirty="0"/>
          </a:p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v2.0 최종 완결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222950" y="1192411"/>
            <a:ext cx="251312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담당: </a:t>
            </a:r>
            <a:pPr algn="l" indent="0" marL="0">
              <a:buNone/>
            </a:pPr>
            <a:r>
              <a:rPr lang="en-US" sz="675" b="1" dirty="0">
                <a:solidFill>
                  <a:srgbClr val="58A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Marcus Webb</a:t>
            </a:r>
            <a:endParaRPr lang="en-US" sz="675" dirty="0"/>
          </a:p>
        </p:txBody>
      </p:sp>
      <p:sp>
        <p:nvSpPr>
          <p:cNvPr id="43" name="Text 41"/>
          <p:cNvSpPr/>
          <p:nvPr/>
        </p:nvSpPr>
        <p:spPr>
          <a:xfrm>
            <a:off x="6222950" y="1373386"/>
            <a:ext cx="2463850" cy="581025"/>
          </a:xfrm>
          <a:prstGeom prst="roundRect">
            <a:avLst>
              <a:gd name="adj" fmla="val 6557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6299150" y="1421011"/>
            <a:ext cx="2357679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6"/>
              </a:lnSpc>
              <a:buNone/>
            </a:pPr>
            <a:r>
              <a:rPr lang="en-US" sz="638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v1.0 초안(05-19) → </a:t>
            </a:r>
            <a:pPr algn="l" indent="0" marL="0">
              <a:lnSpc>
                <a:spcPts val="956"/>
              </a:lnSpc>
              <a:buNone/>
            </a:pPr>
            <a:r>
              <a:rPr lang="en-US" sz="638" b="1" dirty="0">
                <a:solidFill>
                  <a:srgbClr val="38D9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v2.0 최종본</a:t>
            </a:r>
            <a:endParaRPr lang="en-US" sz="638" dirty="0"/>
          </a:p>
        </p:txBody>
      </p:sp>
      <p:sp>
        <p:nvSpPr>
          <p:cNvPr id="45" name="Text 43"/>
          <p:cNvSpPr/>
          <p:nvPr/>
        </p:nvSpPr>
        <p:spPr>
          <a:xfrm>
            <a:off x="6299150" y="1542455"/>
            <a:ext cx="2357679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6"/>
              </a:lnSpc>
              <a:buNone/>
            </a:pPr>
            <a:r>
              <a:rPr lang="en-US" sz="638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5분 이내 발표 · Q&amp;A 3개 완비</a:t>
            </a:r>
            <a:endParaRPr lang="en-US" sz="638" dirty="0"/>
          </a:p>
        </p:txBody>
      </p:sp>
      <p:sp>
        <p:nvSpPr>
          <p:cNvPr id="46" name="Text 44"/>
          <p:cNvSpPr/>
          <p:nvPr/>
        </p:nvSpPr>
        <p:spPr>
          <a:xfrm>
            <a:off x="6299150" y="1663898"/>
            <a:ext cx="2357679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6"/>
              </a:lnSpc>
              <a:buNone/>
            </a:pPr>
            <a:r>
              <a:rPr lang="en-US" sz="638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발표 흐름: S1 → S2 → P8 → P6 → S6</a:t>
            </a:r>
            <a:endParaRPr lang="en-US" sz="638" dirty="0"/>
          </a:p>
        </p:txBody>
      </p:sp>
      <p:sp>
        <p:nvSpPr>
          <p:cNvPr id="47" name="Text 45"/>
          <p:cNvSpPr/>
          <p:nvPr/>
        </p:nvSpPr>
        <p:spPr>
          <a:xfrm>
            <a:off x="6299150" y="1785342"/>
            <a:ext cx="2357679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6"/>
              </a:lnSpc>
              <a:buNone/>
            </a:pPr>
            <a:r>
              <a:rPr lang="en-US" sz="638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P8 AUC 0.6612 대응 논리 3문장 포함</a:t>
            </a:r>
            <a:endParaRPr lang="en-US" sz="638" dirty="0"/>
          </a:p>
        </p:txBody>
      </p:sp>
      <p:sp>
        <p:nvSpPr>
          <p:cNvPr id="48" name="Text 46"/>
          <p:cNvSpPr/>
          <p:nvPr/>
        </p:nvSpPr>
        <p:spPr>
          <a:xfrm>
            <a:off x="6222950" y="2011561"/>
            <a:ext cx="660946" cy="171450"/>
          </a:xfrm>
          <a:prstGeom prst="roundRect">
            <a:avLst>
              <a:gd name="adj" fmla="val 22222"/>
            </a:avLst>
          </a:prstGeom>
          <a:solidFill>
            <a:srgbClr val="1C1A0E"/>
          </a:solidFill>
          <a:ln w="9525">
            <a:solidFill>
              <a:srgbClr val="FFD43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6308675" y="2049661"/>
            <a:ext cx="49928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FFD4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11:00 KST</a:t>
            </a:r>
            <a:endParaRPr lang="en-US" sz="675" dirty="0"/>
          </a:p>
        </p:txBody>
      </p:sp>
      <p:sp>
        <p:nvSpPr>
          <p:cNvPr id="50" name="Text 48"/>
          <p:cNvSpPr/>
          <p:nvPr/>
        </p:nvSpPr>
        <p:spPr>
          <a:xfrm>
            <a:off x="6222950" y="2240161"/>
            <a:ext cx="96213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38D9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달성 시 +0.02 → 4.10</a:t>
            </a:r>
            <a:endParaRPr lang="en-US" sz="675" dirty="0"/>
          </a:p>
        </p:txBody>
      </p:sp>
      <p:sp>
        <p:nvSpPr>
          <p:cNvPr id="51" name="Text 49"/>
          <p:cNvSpPr/>
          <p:nvPr/>
        </p:nvSpPr>
        <p:spPr>
          <a:xfrm>
            <a:off x="0" y="4233863"/>
            <a:ext cx="9144000" cy="909638"/>
          </a:xfrm>
          <a:prstGeom prst="rect">
            <a:avLst/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1132582" y="4329113"/>
            <a:ext cx="209550" cy="209550"/>
          </a:xfrm>
          <a:prstGeom prst="roundRect">
            <a:avLst>
              <a:gd name="adj" fmla="val 436364"/>
            </a:avLst>
          </a:prstGeom>
          <a:solidFill>
            <a:srgbClr val="0D1117"/>
          </a:solidFill>
          <a:ln w="19050">
            <a:solidFill>
              <a:srgbClr val="FFD43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1204168" y="4386263"/>
            <a:ext cx="6770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0"/>
              </a:lnSpc>
              <a:buNone/>
            </a:pPr>
            <a:r>
              <a:rPr lang="en-US" sz="750" b="1" dirty="0">
                <a:solidFill>
                  <a:srgbClr val="FFD4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1070967" y="4567238"/>
            <a:ext cx="33958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FFD4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~ 11:00</a:t>
            </a:r>
            <a:endParaRPr lang="en-US" sz="600" dirty="0"/>
          </a:p>
        </p:txBody>
      </p:sp>
      <p:sp>
        <p:nvSpPr>
          <p:cNvPr id="55" name="Text 53"/>
          <p:cNvSpPr/>
          <p:nvPr/>
        </p:nvSpPr>
        <p:spPr>
          <a:xfrm>
            <a:off x="972154" y="4681538"/>
            <a:ext cx="530406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31"/>
              </a:lnSpc>
              <a:buNone/>
            </a:pPr>
            <a:r>
              <a:rPr lang="en-US" sz="563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S3 FW 파일</a:t>
            </a:r>
            <a:endParaRPr lang="en-US" sz="563" dirty="0"/>
          </a:p>
          <a:p>
            <a:pPr algn="ctr" indent="0" marL="0">
              <a:lnSpc>
                <a:spcPts val="731"/>
              </a:lnSpc>
              <a:buNone/>
            </a:pPr>
            <a:r>
              <a:rPr lang="en-US" sz="563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 demo_script</a:t>
            </a:r>
            <a:endParaRPr lang="en-US" sz="563" dirty="0"/>
          </a:p>
        </p:txBody>
      </p:sp>
      <p:sp>
        <p:nvSpPr>
          <p:cNvPr id="56" name="Text 54"/>
          <p:cNvSpPr/>
          <p:nvPr/>
        </p:nvSpPr>
        <p:spPr>
          <a:xfrm>
            <a:off x="952649" y="4895850"/>
            <a:ext cx="58095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38" b="1" dirty="0">
                <a:solidFill>
                  <a:srgbClr val="38D9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+0.05 (4.10)</a:t>
            </a:r>
            <a:endParaRPr lang="en-US" sz="638" dirty="0"/>
          </a:p>
        </p:txBody>
      </p:sp>
      <p:sp>
        <p:nvSpPr>
          <p:cNvPr id="57" name="Text 55"/>
          <p:cNvSpPr/>
          <p:nvPr/>
        </p:nvSpPr>
        <p:spPr>
          <a:xfrm>
            <a:off x="2292995" y="4357688"/>
            <a:ext cx="11400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03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3355628" y="4329113"/>
            <a:ext cx="209550" cy="209550"/>
          </a:xfrm>
          <a:prstGeom prst="roundRect">
            <a:avLst>
              <a:gd name="adj" fmla="val 436364"/>
            </a:avLst>
          </a:prstGeom>
          <a:solidFill>
            <a:srgbClr val="0D1117"/>
          </a:solidFill>
          <a:ln w="19050">
            <a:solidFill>
              <a:srgbClr val="FFD43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Text 57"/>
          <p:cNvSpPr/>
          <p:nvPr/>
        </p:nvSpPr>
        <p:spPr>
          <a:xfrm>
            <a:off x="3427214" y="4386263"/>
            <a:ext cx="6770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0"/>
              </a:lnSpc>
              <a:buNone/>
            </a:pPr>
            <a:r>
              <a:rPr lang="en-US" sz="750" b="1" dirty="0">
                <a:solidFill>
                  <a:srgbClr val="FFD4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3159472" y="4567238"/>
            <a:ext cx="61405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FFD4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13:00 ~ 16:00</a:t>
            </a:r>
            <a:endParaRPr lang="en-US" sz="600" dirty="0"/>
          </a:p>
        </p:txBody>
      </p:sp>
      <p:sp>
        <p:nvSpPr>
          <p:cNvPr id="61" name="Text 59"/>
          <p:cNvSpPr/>
          <p:nvPr/>
        </p:nvSpPr>
        <p:spPr>
          <a:xfrm>
            <a:off x="3303132" y="4681538"/>
            <a:ext cx="314691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31"/>
              </a:lnSpc>
              <a:buNone/>
            </a:pPr>
            <a:r>
              <a:rPr lang="en-US" sz="563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P7 v5.1</a:t>
            </a:r>
            <a:endParaRPr lang="en-US" sz="563" dirty="0"/>
          </a:p>
          <a:p>
            <a:pPr algn="ctr" indent="0" marL="0">
              <a:lnSpc>
                <a:spcPts val="731"/>
              </a:lnSpc>
              <a:buNone/>
            </a:pPr>
            <a:r>
              <a:rPr lang="en-US" sz="563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로컬 실행</a:t>
            </a:r>
            <a:endParaRPr lang="en-US" sz="563" dirty="0"/>
          </a:p>
        </p:txBody>
      </p:sp>
      <p:sp>
        <p:nvSpPr>
          <p:cNvPr id="62" name="Text 60"/>
          <p:cNvSpPr/>
          <p:nvPr/>
        </p:nvSpPr>
        <p:spPr>
          <a:xfrm>
            <a:off x="3175695" y="4895850"/>
            <a:ext cx="58095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38" b="1" dirty="0">
                <a:solidFill>
                  <a:srgbClr val="38D9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+0.10 (4.20)</a:t>
            </a:r>
            <a:endParaRPr lang="en-US" sz="638" dirty="0"/>
          </a:p>
        </p:txBody>
      </p:sp>
      <p:sp>
        <p:nvSpPr>
          <p:cNvPr id="63" name="Text 61"/>
          <p:cNvSpPr/>
          <p:nvPr/>
        </p:nvSpPr>
        <p:spPr>
          <a:xfrm>
            <a:off x="4516041" y="4357688"/>
            <a:ext cx="11400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03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050" dirty="0"/>
          </a:p>
        </p:txBody>
      </p:sp>
      <p:sp>
        <p:nvSpPr>
          <p:cNvPr id="64" name="Text 62"/>
          <p:cNvSpPr/>
          <p:nvPr/>
        </p:nvSpPr>
        <p:spPr>
          <a:xfrm>
            <a:off x="5578673" y="4329113"/>
            <a:ext cx="209550" cy="209550"/>
          </a:xfrm>
          <a:prstGeom prst="roundRect">
            <a:avLst>
              <a:gd name="adj" fmla="val 436364"/>
            </a:avLst>
          </a:prstGeom>
          <a:solidFill>
            <a:srgbClr val="0D1117"/>
          </a:solidFill>
          <a:ln w="19050">
            <a:solidFill>
              <a:srgbClr val="FFD43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5" name="Text 63"/>
          <p:cNvSpPr/>
          <p:nvPr/>
        </p:nvSpPr>
        <p:spPr>
          <a:xfrm>
            <a:off x="5650260" y="4386263"/>
            <a:ext cx="6770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0"/>
              </a:lnSpc>
              <a:buNone/>
            </a:pPr>
            <a:r>
              <a:rPr lang="en-US" sz="750" b="1" dirty="0">
                <a:solidFill>
                  <a:srgbClr val="FFD4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750" dirty="0"/>
          </a:p>
        </p:txBody>
      </p:sp>
      <p:sp>
        <p:nvSpPr>
          <p:cNvPr id="66" name="Text 64"/>
          <p:cNvSpPr/>
          <p:nvPr/>
        </p:nvSpPr>
        <p:spPr>
          <a:xfrm>
            <a:off x="5382518" y="4567238"/>
            <a:ext cx="61405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FFD4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17:00 ~ 22:00</a:t>
            </a:r>
            <a:endParaRPr lang="en-US" sz="600" dirty="0"/>
          </a:p>
        </p:txBody>
      </p:sp>
      <p:sp>
        <p:nvSpPr>
          <p:cNvPr id="67" name="Text 65"/>
          <p:cNvSpPr/>
          <p:nvPr/>
        </p:nvSpPr>
        <p:spPr>
          <a:xfrm>
            <a:off x="5526177" y="4681538"/>
            <a:ext cx="314691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31"/>
              </a:lnSpc>
              <a:buNone/>
            </a:pPr>
            <a:r>
              <a:rPr lang="en-US" sz="563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P1 v2</a:t>
            </a:r>
            <a:endParaRPr lang="en-US" sz="563" dirty="0"/>
          </a:p>
          <a:p>
            <a:pPr algn="ctr" indent="0" marL="0">
              <a:lnSpc>
                <a:spcPts val="731"/>
              </a:lnSpc>
              <a:buNone/>
            </a:pPr>
            <a:r>
              <a:rPr lang="en-US" sz="563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로컬 실행</a:t>
            </a:r>
            <a:endParaRPr lang="en-US" sz="563" dirty="0"/>
          </a:p>
        </p:txBody>
      </p:sp>
      <p:sp>
        <p:nvSpPr>
          <p:cNvPr id="68" name="Text 66"/>
          <p:cNvSpPr/>
          <p:nvPr/>
        </p:nvSpPr>
        <p:spPr>
          <a:xfrm>
            <a:off x="5398740" y="4895850"/>
            <a:ext cx="58095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38" b="1" dirty="0">
                <a:solidFill>
                  <a:srgbClr val="38D9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+0.08 (4.28)</a:t>
            </a:r>
            <a:endParaRPr lang="en-US" sz="638" dirty="0"/>
          </a:p>
        </p:txBody>
      </p:sp>
      <p:sp>
        <p:nvSpPr>
          <p:cNvPr id="69" name="Text 67"/>
          <p:cNvSpPr/>
          <p:nvPr/>
        </p:nvSpPr>
        <p:spPr>
          <a:xfrm>
            <a:off x="6739086" y="4357688"/>
            <a:ext cx="11400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03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050" dirty="0"/>
          </a:p>
        </p:txBody>
      </p:sp>
      <p:sp>
        <p:nvSpPr>
          <p:cNvPr id="70" name="Text 68"/>
          <p:cNvSpPr/>
          <p:nvPr/>
        </p:nvSpPr>
        <p:spPr>
          <a:xfrm>
            <a:off x="7801719" y="4329113"/>
            <a:ext cx="209550" cy="209550"/>
          </a:xfrm>
          <a:prstGeom prst="roundRect">
            <a:avLst>
              <a:gd name="adj" fmla="val 436364"/>
            </a:avLst>
          </a:prstGeom>
          <a:solidFill>
            <a:srgbClr val="0D1117"/>
          </a:solidFill>
          <a:ln w="19050">
            <a:solidFill>
              <a:srgbClr val="FF6B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1" name="Text 69"/>
          <p:cNvSpPr/>
          <p:nvPr/>
        </p:nvSpPr>
        <p:spPr>
          <a:xfrm>
            <a:off x="7884765" y="4386263"/>
            <a:ext cx="4432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0"/>
              </a:lnSpc>
              <a:buNone/>
            </a:pPr>
            <a:r>
              <a:rPr lang="en-US" sz="750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!</a:t>
            </a:r>
            <a:endParaRPr lang="en-US" sz="750" dirty="0"/>
          </a:p>
        </p:txBody>
      </p:sp>
      <p:sp>
        <p:nvSpPr>
          <p:cNvPr id="72" name="Text 70"/>
          <p:cNvSpPr/>
          <p:nvPr/>
        </p:nvSpPr>
        <p:spPr>
          <a:xfrm>
            <a:off x="7695754" y="4567238"/>
            <a:ext cx="42991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22:00 이전</a:t>
            </a:r>
            <a:endParaRPr lang="en-US" sz="600" dirty="0"/>
          </a:p>
        </p:txBody>
      </p:sp>
      <p:sp>
        <p:nvSpPr>
          <p:cNvPr id="73" name="Text 71"/>
          <p:cNvSpPr/>
          <p:nvPr/>
        </p:nvSpPr>
        <p:spPr>
          <a:xfrm>
            <a:off x="7664669" y="4700588"/>
            <a:ext cx="48365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31"/>
              </a:lnSpc>
              <a:buNone/>
            </a:pPr>
            <a:r>
              <a:rPr lang="en-US" sz="563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Push →</a:t>
            </a:r>
            <a:endParaRPr lang="en-US" sz="563" dirty="0"/>
          </a:p>
          <a:p>
            <a:pPr algn="ctr" indent="0" marL="0">
              <a:lnSpc>
                <a:spcPts val="731"/>
              </a:lnSpc>
              <a:buNone/>
            </a:pPr>
            <a:r>
              <a:rPr lang="en-US" sz="563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내일 아침 확인</a:t>
            </a:r>
            <a:endParaRPr lang="en-US" sz="563" dirty="0"/>
          </a:p>
        </p:txBody>
      </p:sp>
      <p:sp>
        <p:nvSpPr>
          <p:cNvPr id="74" name="Text 72"/>
          <p:cNvSpPr/>
          <p:nvPr/>
        </p:nvSpPr>
        <p:spPr>
          <a:xfrm>
            <a:off x="7711529" y="4914900"/>
            <a:ext cx="39772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38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4.28 복원</a:t>
            </a:r>
            <a:endParaRPr lang="en-US" sz="638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447675"/>
          </a:xfrm>
          <a:prstGeom prst="rect">
            <a:avLst/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442913"/>
            <a:ext cx="9144000" cy="0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04800" y="119063"/>
            <a:ext cx="140601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이적 시장 분석 현황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911846" y="142875"/>
            <a:ext cx="9525" cy="152400"/>
          </a:xfrm>
          <a:prstGeom prst="rect">
            <a:avLst/>
          </a:prstGeom>
          <a:solidFill>
            <a:srgbClr val="3036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149971" y="85725"/>
            <a:ext cx="55044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총 페이지: </a:t>
            </a:r>
            <a:pPr algn="l" indent="0" marL="0">
              <a:buNone/>
            </a:pPr>
            <a:r>
              <a:rPr lang="en-US" sz="750" b="1" dirty="0">
                <a:solidFill>
                  <a:srgbClr val="38D9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16개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2918222" y="142875"/>
            <a:ext cx="9525" cy="152400"/>
          </a:xfrm>
          <a:prstGeom prst="rect">
            <a:avLst/>
          </a:prstGeom>
          <a:solidFill>
            <a:srgbClr val="3036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156347" y="85725"/>
            <a:ext cx="49852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즉시 활용: </a:t>
            </a:r>
            <a:pPr algn="l" indent="0" marL="0">
              <a:buNone/>
            </a:pPr>
            <a:r>
              <a:rPr lang="en-US" sz="750" b="1" dirty="0">
                <a:solidFill>
                  <a:srgbClr val="38D9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9개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3873698" y="142875"/>
            <a:ext cx="9525" cy="152400"/>
          </a:xfrm>
          <a:prstGeom prst="rect">
            <a:avLst/>
          </a:prstGeom>
          <a:solidFill>
            <a:srgbClr val="3036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111823" y="85725"/>
            <a:ext cx="120988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P7 달성 대기: </a:t>
            </a:r>
            <a:pPr algn="l" indent="0" marL="0">
              <a:buNone/>
            </a:pPr>
            <a:r>
              <a:rPr lang="en-US" sz="750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P6+P7+P8 풀 체인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5526584" y="142875"/>
            <a:ext cx="9525" cy="152400"/>
          </a:xfrm>
          <a:prstGeom prst="rect">
            <a:avLst/>
          </a:prstGeom>
          <a:solidFill>
            <a:srgbClr val="3036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764709" y="171450"/>
            <a:ext cx="313598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38" dirty="0">
                <a:solidFill>
                  <a:srgbClr val="58A6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https://epl-scouting-report-dashboard-project-ffyb8msh6uafxyyg8txsm8.streamlit.app</a:t>
            </a:r>
            <a:endParaRPr lang="en-US" sz="638" dirty="0"/>
          </a:p>
        </p:txBody>
      </p:sp>
      <p:sp>
        <p:nvSpPr>
          <p:cNvPr id="13" name="Text 11"/>
          <p:cNvSpPr/>
          <p:nvPr/>
        </p:nvSpPr>
        <p:spPr>
          <a:xfrm>
            <a:off x="304800" y="561975"/>
            <a:ext cx="498723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"/>
              </a:spcAft>
              <a:buNone/>
            </a:pPr>
            <a:r>
              <a:rPr lang="en-US" sz="825" b="1" dirty="0">
                <a:solidFill>
                  <a:srgbClr val="38D9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즉시 활용 가능한 영입 분석 조합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304800" y="809625"/>
            <a:ext cx="4889450" cy="1190625"/>
          </a:xfrm>
          <a:prstGeom prst="roundRect">
            <a:avLst>
              <a:gd name="adj" fmla="val 5600"/>
            </a:avLst>
          </a:prstGeom>
          <a:solidFill>
            <a:srgbClr val="0E1F1B"/>
          </a:solidFill>
          <a:ln w="9525">
            <a:solidFill>
              <a:srgbClr val="38D9A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28625" y="904875"/>
            <a:ext cx="141451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A. S1+S2 — 저평가 스캐닝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428625" y="1085850"/>
            <a:ext cx="473463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S1 R² </a:t>
            </a:r>
            <a:pPr algn="l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38D9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0.9093</a:t>
            </a:r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(WAR 레이팅) + S2 R² </a:t>
            </a:r>
            <a:pPr algn="l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38D9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0.8812</a:t>
            </a:r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/ MAE £3.23M</a:t>
            </a:r>
            <a:endParaRPr lang="en-US" sz="675" dirty="0"/>
          </a:p>
        </p:txBody>
      </p:sp>
      <p:sp>
        <p:nvSpPr>
          <p:cNvPr id="17" name="Text 15"/>
          <p:cNvSpPr/>
          <p:nvPr/>
        </p:nvSpPr>
        <p:spPr>
          <a:xfrm>
            <a:off x="428625" y="1253430"/>
            <a:ext cx="473463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5"/>
              </a:spcBef>
              <a:buNone/>
            </a:pPr>
            <a:r>
              <a:rPr lang="en-US" sz="713" i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“이 선수, 실력 대비 저평가됐습니까?” — 30초 분석</a:t>
            </a:r>
            <a:endParaRPr lang="en-US" sz="713" dirty="0"/>
          </a:p>
        </p:txBody>
      </p:sp>
      <p:sp>
        <p:nvSpPr>
          <p:cNvPr id="18" name="Text 16"/>
          <p:cNvSpPr/>
          <p:nvPr/>
        </p:nvSpPr>
        <p:spPr>
          <a:xfrm>
            <a:off x="304800" y="2085975"/>
            <a:ext cx="4889450" cy="1190625"/>
          </a:xfrm>
          <a:prstGeom prst="roundRect">
            <a:avLst>
              <a:gd name="adj" fmla="val 5600"/>
            </a:avLst>
          </a:prstGeom>
          <a:solidFill>
            <a:srgbClr val="0E1F1B"/>
          </a:solidFill>
          <a:ln w="9525">
            <a:solidFill>
              <a:srgbClr val="38D9A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28625" y="2181225"/>
            <a:ext cx="151941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B. P8+S1 — 리스크 스크리닝</a:t>
            </a:r>
            <a:endParaRPr lang="en-US" sz="825" dirty="0"/>
          </a:p>
        </p:txBody>
      </p:sp>
      <p:sp>
        <p:nvSpPr>
          <p:cNvPr id="20" name="Text 18"/>
          <p:cNvSpPr/>
          <p:nvPr/>
        </p:nvSpPr>
        <p:spPr>
          <a:xfrm>
            <a:off x="428625" y="2362200"/>
            <a:ext cx="473463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P8 AUC </a:t>
            </a:r>
            <a:pPr algn="l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38D9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0.6612</a:t>
            </a:r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/ F1 88.23% + S1 R² 0.9093</a:t>
            </a:r>
            <a:endParaRPr lang="en-US" sz="675" dirty="0"/>
          </a:p>
        </p:txBody>
      </p:sp>
      <p:sp>
        <p:nvSpPr>
          <p:cNvPr id="21" name="Text 19"/>
          <p:cNvSpPr/>
          <p:nvPr/>
        </p:nvSpPr>
        <p:spPr>
          <a:xfrm>
            <a:off x="428625" y="2529780"/>
            <a:ext cx="473463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5"/>
              </a:spcBef>
              <a:buNone/>
            </a:pPr>
            <a:r>
              <a:rPr lang="en-US" sz="713" i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“데려왔을 때 성능 유지 확률이 몇 %입니까?”</a:t>
            </a:r>
            <a:endParaRPr lang="en-US" sz="713" dirty="0"/>
          </a:p>
        </p:txBody>
      </p:sp>
      <p:sp>
        <p:nvSpPr>
          <p:cNvPr id="22" name="Text 20"/>
          <p:cNvSpPr/>
          <p:nvPr/>
        </p:nvSpPr>
        <p:spPr>
          <a:xfrm>
            <a:off x="304800" y="3362325"/>
            <a:ext cx="4889450" cy="1190625"/>
          </a:xfrm>
          <a:prstGeom prst="roundRect">
            <a:avLst>
              <a:gd name="adj" fmla="val 5600"/>
            </a:avLst>
          </a:prstGeom>
          <a:solidFill>
            <a:srgbClr val="0E1F1B"/>
          </a:solidFill>
          <a:ln w="9525">
            <a:solidFill>
              <a:srgbClr val="38D9A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28625" y="3457575"/>
            <a:ext cx="155372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C. S6+P6 — 매도 타이밍 감지</a:t>
            </a:r>
            <a:endParaRPr lang="en-US" sz="825" dirty="0"/>
          </a:p>
        </p:txBody>
      </p:sp>
      <p:sp>
        <p:nvSpPr>
          <p:cNvPr id="24" name="Text 22"/>
          <p:cNvSpPr/>
          <p:nvPr/>
        </p:nvSpPr>
        <p:spPr>
          <a:xfrm>
            <a:off x="428625" y="3638550"/>
            <a:ext cx="473463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S6 AUC </a:t>
            </a:r>
            <a:pPr algn="l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38D9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0.8324</a:t>
            </a:r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+ P6 R² </a:t>
            </a:r>
            <a:pPr algn="l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38D9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0.8734</a:t>
            </a:r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/ MAE £3.28M</a:t>
            </a:r>
            <a:endParaRPr lang="en-US" sz="675" dirty="0"/>
          </a:p>
        </p:txBody>
      </p:sp>
      <p:sp>
        <p:nvSpPr>
          <p:cNvPr id="25" name="Text 23"/>
          <p:cNvSpPr/>
          <p:nvPr/>
        </p:nvSpPr>
        <p:spPr>
          <a:xfrm>
            <a:off x="428625" y="3806130"/>
            <a:ext cx="473463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5"/>
              </a:spcBef>
              <a:buNone/>
            </a:pPr>
            <a:r>
              <a:rPr lang="en-US" sz="713" i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“지금 팔아야 할 선수가 누구입니까?”</a:t>
            </a:r>
            <a:endParaRPr lang="en-US" sz="713" dirty="0"/>
          </a:p>
        </p:txBody>
      </p:sp>
      <p:sp>
        <p:nvSpPr>
          <p:cNvPr id="26" name="Text 24"/>
          <p:cNvSpPr/>
          <p:nvPr/>
        </p:nvSpPr>
        <p:spPr>
          <a:xfrm>
            <a:off x="5346650" y="561975"/>
            <a:ext cx="356240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"/>
              </a:spcAft>
              <a:buNone/>
            </a:pPr>
            <a:r>
              <a:rPr lang="en-US" sz="825" b="1" dirty="0">
                <a:solidFill>
                  <a:srgbClr val="FFD4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P7 달성 후 잠금 해제 대기</a:t>
            </a:r>
            <a:endParaRPr lang="en-US" sz="825" dirty="0"/>
          </a:p>
        </p:txBody>
      </p:sp>
      <p:sp>
        <p:nvSpPr>
          <p:cNvPr id="27" name="Text 25"/>
          <p:cNvSpPr/>
          <p:nvPr/>
        </p:nvSpPr>
        <p:spPr>
          <a:xfrm>
            <a:off x="5346650" y="819150"/>
            <a:ext cx="3492550" cy="3733800"/>
          </a:xfrm>
          <a:prstGeom prst="roundRect">
            <a:avLst>
              <a:gd name="adj" fmla="val 1909"/>
            </a:avLst>
          </a:prstGeom>
          <a:solidFill>
            <a:srgbClr val="1C1A0E"/>
          </a:solidFill>
          <a:ln w="19050">
            <a:solidFill>
              <a:srgbClr val="FFD43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5518100" y="1861245"/>
            <a:ext cx="3212643" cy="297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FFD4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P6+P7+P8</a:t>
            </a:r>
            <a:endParaRPr lang="en-US" sz="900" dirty="0"/>
          </a:p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FFD4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“가치 → 성장 → 적응” 풀 체인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518100" y="2234505"/>
            <a:ext cx="321264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</a:t>
            </a:r>
            <a:pPr algn="l" indent="0" marL="0">
              <a:lnSpc>
                <a:spcPts val="1200"/>
              </a:lnSpc>
              <a:buNone/>
            </a:pPr>
            <a:r>
              <a:rPr lang="en-US" sz="750" b="1" i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선수를 30M에 사면</a:t>
            </a:r>
            <a:pPr algn="l" indent="0" marL="0">
              <a:lnSpc>
                <a:spcPts val="1200"/>
              </a:lnSpc>
              <a:buNone/>
            </a:pPr>
            <a:endParaRPr lang="en-US" sz="750" dirty="0"/>
          </a:p>
          <a:p>
            <a:pPr algn="l" indent="0" marL="0">
              <a:lnSpc>
                <a:spcPts val="1200"/>
              </a:lnSpc>
              <a:buNone/>
            </a:pPr>
            <a:r>
              <a:rPr lang="en-US" sz="7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2시즌 후 시장가치 Xm 성장 확률 Y%,</a:t>
            </a:r>
            <a:endParaRPr lang="en-US" sz="750" dirty="0"/>
          </a:p>
          <a:p>
            <a:pPr algn="l" indent="0" marL="0">
              <a:lnSpc>
                <a:spcPts val="1200"/>
              </a:lnSpc>
              <a:buNone/>
            </a:pPr>
            <a:r>
              <a:rPr lang="en-US" sz="7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EPL 적응 확률 Z%”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5518100" y="2767905"/>
            <a:ext cx="3149650" cy="447675"/>
          </a:xfrm>
          <a:prstGeom prst="roundRect">
            <a:avLst>
              <a:gd name="adj" fmla="val 10638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5613350" y="2844105"/>
            <a:ext cx="3018333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P7 현재: R² </a:t>
            </a:r>
            <a:pPr algn="l" indent="0" marL="0">
              <a:lnSpc>
                <a:spcPts val="1013"/>
              </a:lnSpc>
              <a:buNone/>
            </a:pPr>
            <a:r>
              <a:rPr lang="en-US" sz="675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0.5752</a:t>
            </a:r>
            <a:pPr algn="l" indent="0" marL="0">
              <a:lnSpc>
                <a:spcPts val="1013"/>
              </a:lnSpc>
              <a:buNone/>
            </a:pPr>
            <a:r>
              <a:rPr lang="en-US" sz="675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| 목표: R² ≥ </a:t>
            </a:r>
            <a:pPr algn="l" indent="0" marL="0">
              <a:lnSpc>
                <a:spcPts val="1013"/>
              </a:lnSpc>
              <a:buNone/>
            </a:pPr>
            <a:r>
              <a:rPr lang="en-US" sz="675" b="1" dirty="0">
                <a:solidFill>
                  <a:srgbClr val="38D9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0.62</a:t>
            </a:r>
            <a:pPr algn="l" indent="0" marL="0">
              <a:lnSpc>
                <a:spcPts val="1013"/>
              </a:lnSpc>
              <a:buNone/>
            </a:pPr>
            <a:r>
              <a:rPr lang="en-US" sz="675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(갭 0.0448)</a:t>
            </a:r>
            <a:endParaRPr lang="en-US" sz="675" dirty="0"/>
          </a:p>
        </p:txBody>
      </p:sp>
      <p:sp>
        <p:nvSpPr>
          <p:cNvPr id="32" name="Text 30"/>
          <p:cNvSpPr/>
          <p:nvPr/>
        </p:nvSpPr>
        <p:spPr>
          <a:xfrm>
            <a:off x="5613350" y="3010793"/>
            <a:ext cx="3018333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달성 시: +0.10 가산 + 이사회 설득 직결 데이터</a:t>
            </a:r>
            <a:endParaRPr lang="en-US" sz="675" dirty="0"/>
          </a:p>
        </p:txBody>
      </p:sp>
      <p:sp>
        <p:nvSpPr>
          <p:cNvPr id="33" name="Text 31"/>
          <p:cNvSpPr/>
          <p:nvPr/>
        </p:nvSpPr>
        <p:spPr>
          <a:xfrm>
            <a:off x="5518100" y="3291780"/>
            <a:ext cx="1487686" cy="219075"/>
          </a:xfrm>
          <a:prstGeom prst="roundRect">
            <a:avLst>
              <a:gd name="adj" fmla="val 17391"/>
            </a:avLst>
          </a:prstGeom>
          <a:solidFill>
            <a:srgbClr val="1C1A0E"/>
          </a:solidFill>
          <a:ln w="9525">
            <a:solidFill>
              <a:srgbClr val="FFD43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5622875" y="3339405"/>
            <a:ext cx="130369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FFD4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P7 오늘 오후 13시 달성 대기 중</a:t>
            </a:r>
            <a:endParaRPr lang="en-US" sz="675" dirty="0"/>
          </a:p>
        </p:txBody>
      </p:sp>
      <p:sp>
        <p:nvSpPr>
          <p:cNvPr id="35" name="Text 33"/>
          <p:cNvSpPr/>
          <p:nvPr/>
        </p:nvSpPr>
        <p:spPr>
          <a:xfrm>
            <a:off x="304800" y="4743450"/>
            <a:ext cx="184882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영입 분석 체인 완성도: </a:t>
            </a:r>
            <a:pPr algn="l" indent="0" marL="0">
              <a:buNone/>
            </a:pPr>
            <a:r>
              <a:rPr lang="en-US" sz="750" b="1" dirty="0">
                <a:solidFill>
                  <a:srgbClr val="38D9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75%</a:t>
            </a:r>
            <a:pPr algn="l"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(3/4 활성화)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7826573" y="4743450"/>
            <a:ext cx="103287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P7 달성 시 </a:t>
            </a:r>
            <a:pPr algn="l" indent="0" marL="0">
              <a:buNone/>
            </a:pPr>
            <a:r>
              <a:rPr lang="en-US" sz="750" b="1" dirty="0">
                <a:solidFill>
                  <a:srgbClr val="FFD4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100% 완성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304800" y="4933950"/>
            <a:ext cx="8534400" cy="95250"/>
          </a:xfrm>
          <a:prstGeom prst="roundRect">
            <a:avLst>
              <a:gd name="adj" fmla="val 50000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314325" y="4943475"/>
            <a:ext cx="6386513" cy="76200"/>
          </a:xfrm>
          <a:prstGeom prst="roundRect">
            <a:avLst>
              <a:gd name="adj" fmla="val 62500"/>
            </a:avLst>
          </a:prstGeom>
          <a:solidFill>
            <a:srgbClr val="38D9A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800" y="114300"/>
            <a:ext cx="223608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김태현 종합 평가 &amp; 5.0 로드맵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383536" y="171450"/>
            <a:ext cx="250477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4.05 최후통첩 — 오늘 22시 push 성공 시 4.28 즉시 복원 가능</a:t>
            </a:r>
            <a:endParaRPr lang="en-US" sz="675" dirty="0"/>
          </a:p>
        </p:txBody>
      </p:sp>
      <p:sp>
        <p:nvSpPr>
          <p:cNvPr id="4" name="Text 2"/>
          <p:cNvSpPr/>
          <p:nvPr/>
        </p:nvSpPr>
        <p:spPr>
          <a:xfrm>
            <a:off x="542925" y="409575"/>
            <a:ext cx="1333500" cy="1333500"/>
          </a:xfrm>
          <a:prstGeom prst="roundRect">
            <a:avLst>
              <a:gd name="adj" fmla="val 68571"/>
            </a:avLst>
          </a:prstGeom>
          <a:solidFill>
            <a:srgbClr val="0D1117"/>
          </a:solidFill>
          <a:ln w="161925">
            <a:solidFill>
              <a:srgbClr val="FFD43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80616" y="881063"/>
            <a:ext cx="67128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FFD4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4.05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091952" y="1147763"/>
            <a:ext cx="24000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/ 5.0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709613" y="1800225"/>
            <a:ext cx="102012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▼ −0.10 (전일 4.15)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04800" y="1990725"/>
            <a:ext cx="4948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</a:t>
            </a:r>
            <a:endParaRPr lang="en-US" sz="600" dirty="0"/>
          </a:p>
        </p:txBody>
      </p:sp>
      <p:sp>
        <p:nvSpPr>
          <p:cNvPr id="9" name="Text 7"/>
          <p:cNvSpPr/>
          <p:nvPr/>
        </p:nvSpPr>
        <p:spPr>
          <a:xfrm>
            <a:off x="1088678" y="1990725"/>
            <a:ext cx="17275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81%</a:t>
            </a:r>
            <a:endParaRPr lang="en-US" sz="600" dirty="0"/>
          </a:p>
        </p:txBody>
      </p:sp>
      <p:sp>
        <p:nvSpPr>
          <p:cNvPr id="10" name="Text 8"/>
          <p:cNvSpPr/>
          <p:nvPr/>
        </p:nvSpPr>
        <p:spPr>
          <a:xfrm>
            <a:off x="1993255" y="1990725"/>
            <a:ext cx="12372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5.0</a:t>
            </a:r>
            <a:endParaRPr lang="en-US" sz="600" dirty="0"/>
          </a:p>
        </p:txBody>
      </p:sp>
      <p:sp>
        <p:nvSpPr>
          <p:cNvPr id="11" name="Text 9"/>
          <p:cNvSpPr/>
          <p:nvPr/>
        </p:nvSpPr>
        <p:spPr>
          <a:xfrm>
            <a:off x="304800" y="2105025"/>
            <a:ext cx="1809750" cy="57150"/>
          </a:xfrm>
          <a:prstGeom prst="roundRect">
            <a:avLst>
              <a:gd name="adj" fmla="val 50000"/>
            </a:avLst>
          </a:prstGeom>
          <a:solidFill>
            <a:srgbClr val="1E25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04800" y="2105025"/>
            <a:ext cx="1465808" cy="57150"/>
          </a:xfrm>
          <a:prstGeom prst="roundRect">
            <a:avLst>
              <a:gd name="adj" fmla="val 50000"/>
            </a:avLst>
          </a:prstGeom>
          <a:solidFill>
            <a:srgbClr val="FFD4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04800" y="2219325"/>
            <a:ext cx="1809750" cy="457200"/>
          </a:xfrm>
          <a:prstGeom prst="roundRect">
            <a:avLst>
              <a:gd name="adj" fmla="val 10417"/>
            </a:avLst>
          </a:prstGeom>
          <a:solidFill>
            <a:srgbClr val="1C1A0E"/>
          </a:solidFill>
          <a:ln w="9525">
            <a:solidFill>
              <a:srgbClr val="FFD43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93573" y="2276475"/>
            <a:ext cx="163220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00" dirty="0">
                <a:solidFill>
                  <a:srgbClr val="FFD4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경고 발동 중</a:t>
            </a:r>
            <a:endParaRPr lang="en-US" sz="600" dirty="0"/>
          </a:p>
          <a:p>
            <a:pPr algn="ctr" indent="0" marL="0">
              <a:lnSpc>
                <a:spcPts val="900"/>
              </a:lnSpc>
              <a:buNone/>
            </a:pPr>
            <a:r>
              <a:rPr lang="en-US" sz="600" dirty="0">
                <a:solidFill>
                  <a:srgbClr val="FFD4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22시 push 없으면</a:t>
            </a:r>
            <a:endParaRPr lang="en-US" sz="600" dirty="0"/>
          </a:p>
          <a:p>
            <a:pPr algn="ctr" indent="0" marL="0">
              <a:lnSpc>
                <a:spcPts val="900"/>
              </a:lnSpc>
              <a:buNone/>
            </a:pPr>
            <a:r>
              <a:rPr lang="en-US" sz="600" dirty="0">
                <a:solidFill>
                  <a:srgbClr val="FFD4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내일 4.0 이하</a:t>
            </a:r>
            <a:endParaRPr lang="en-US" sz="600" dirty="0"/>
          </a:p>
        </p:txBody>
      </p:sp>
      <p:sp>
        <p:nvSpPr>
          <p:cNvPr id="15" name="Shape 13"/>
          <p:cNvSpPr/>
          <p:nvPr/>
        </p:nvSpPr>
        <p:spPr>
          <a:xfrm>
            <a:off x="304800" y="2900363"/>
            <a:ext cx="1809750" cy="0"/>
          </a:xfrm>
          <a:prstGeom prst="line">
            <a:avLst/>
          </a:prstGeom>
          <a:noFill/>
          <a:ln w="9525">
            <a:solidFill>
              <a:srgbClr val="1E253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4800" y="2762250"/>
            <a:ext cx="60038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P7/P1 15일 연속</a:t>
            </a:r>
            <a:endParaRPr lang="en-US" sz="600" dirty="0"/>
          </a:p>
        </p:txBody>
      </p:sp>
      <p:sp>
        <p:nvSpPr>
          <p:cNvPr id="17" name="Text 15"/>
          <p:cNvSpPr/>
          <p:nvPr/>
        </p:nvSpPr>
        <p:spPr>
          <a:xfrm>
            <a:off x="1862584" y="2762250"/>
            <a:ext cx="25700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−0.07</a:t>
            </a:r>
            <a:endParaRPr lang="en-US" sz="600" dirty="0"/>
          </a:p>
        </p:txBody>
      </p:sp>
      <p:sp>
        <p:nvSpPr>
          <p:cNvPr id="18" name="Shape 16"/>
          <p:cNvSpPr/>
          <p:nvPr/>
        </p:nvSpPr>
        <p:spPr>
          <a:xfrm>
            <a:off x="304800" y="3071813"/>
            <a:ext cx="1809750" cy="0"/>
          </a:xfrm>
          <a:prstGeom prst="line">
            <a:avLst/>
          </a:prstGeom>
          <a:noFill/>
          <a:ln w="9525">
            <a:solidFill>
              <a:srgbClr val="1E253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04800" y="2933700"/>
            <a:ext cx="57716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S3 FW 파일 7일</a:t>
            </a:r>
            <a:endParaRPr lang="en-US" sz="600" dirty="0"/>
          </a:p>
        </p:txBody>
      </p:sp>
      <p:sp>
        <p:nvSpPr>
          <p:cNvPr id="20" name="Text 18"/>
          <p:cNvSpPr/>
          <p:nvPr/>
        </p:nvSpPr>
        <p:spPr>
          <a:xfrm>
            <a:off x="1862584" y="2933700"/>
            <a:ext cx="25700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−0.02</a:t>
            </a:r>
            <a:endParaRPr lang="en-US" sz="600" dirty="0"/>
          </a:p>
        </p:txBody>
      </p:sp>
      <p:sp>
        <p:nvSpPr>
          <p:cNvPr id="21" name="Shape 19"/>
          <p:cNvSpPr/>
          <p:nvPr/>
        </p:nvSpPr>
        <p:spPr>
          <a:xfrm>
            <a:off x="304800" y="3243263"/>
            <a:ext cx="1809750" cy="0"/>
          </a:xfrm>
          <a:prstGeom prst="line">
            <a:avLst/>
          </a:prstGeom>
          <a:noFill/>
          <a:ln w="9525">
            <a:solidFill>
              <a:srgbClr val="1E253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04800" y="3105150"/>
            <a:ext cx="62786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demo_script 7일</a:t>
            </a:r>
            <a:endParaRPr lang="en-US" sz="600" dirty="0"/>
          </a:p>
        </p:txBody>
      </p:sp>
      <p:sp>
        <p:nvSpPr>
          <p:cNvPr id="23" name="Text 21"/>
          <p:cNvSpPr/>
          <p:nvPr/>
        </p:nvSpPr>
        <p:spPr>
          <a:xfrm>
            <a:off x="1862584" y="3105150"/>
            <a:ext cx="25700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−0.01</a:t>
            </a:r>
            <a:endParaRPr lang="en-US" sz="600" dirty="0"/>
          </a:p>
        </p:txBody>
      </p:sp>
      <p:sp>
        <p:nvSpPr>
          <p:cNvPr id="24" name="Text 22"/>
          <p:cNvSpPr/>
          <p:nvPr/>
        </p:nvSpPr>
        <p:spPr>
          <a:xfrm>
            <a:off x="304800" y="3305175"/>
            <a:ext cx="1809750" cy="219075"/>
          </a:xfrm>
          <a:prstGeom prst="roundRect">
            <a:avLst>
              <a:gd name="adj" fmla="val 17391"/>
            </a:avLst>
          </a:prstGeom>
          <a:solidFill>
            <a:srgbClr val="0E1F1B"/>
          </a:solidFill>
          <a:ln w="9525">
            <a:solidFill>
              <a:srgbClr val="38D9A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374142" y="3352800"/>
            <a:ext cx="167106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75" b="1" dirty="0">
                <a:solidFill>
                  <a:srgbClr val="38D9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▲ 오늘 달성 +0.23 → 4.28</a:t>
            </a:r>
            <a:endParaRPr lang="en-US" sz="675" dirty="0"/>
          </a:p>
        </p:txBody>
      </p:sp>
      <p:sp>
        <p:nvSpPr>
          <p:cNvPr id="26" name="Text 24"/>
          <p:cNvSpPr/>
          <p:nvPr/>
        </p:nvSpPr>
        <p:spPr>
          <a:xfrm>
            <a:off x="2286000" y="409575"/>
            <a:ext cx="456628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5.0 로드맵 — 8단계</a:t>
            </a:r>
            <a:endParaRPr lang="en-US" sz="825" dirty="0"/>
          </a:p>
        </p:txBody>
      </p:sp>
      <p:sp>
        <p:nvSpPr>
          <p:cNvPr id="27" name="Text 25"/>
          <p:cNvSpPr/>
          <p:nvPr/>
        </p:nvSpPr>
        <p:spPr>
          <a:xfrm>
            <a:off x="2400300" y="2374702"/>
            <a:ext cx="247650" cy="247650"/>
          </a:xfrm>
          <a:prstGeom prst="roundRect">
            <a:avLst>
              <a:gd name="adj" fmla="val 369231"/>
            </a:avLst>
          </a:prstGeom>
          <a:solidFill>
            <a:srgbClr val="1E0D0D"/>
          </a:solidFill>
          <a:ln w="19050">
            <a:solidFill>
              <a:srgbClr val="FF6B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2500164" y="2450902"/>
            <a:ext cx="4888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0"/>
              </a:lnSpc>
              <a:buNone/>
            </a:pPr>
            <a:r>
              <a:rPr lang="en-US" sz="750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▸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2394793" y="2650927"/>
            <a:ext cx="26368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4.05</a:t>
            </a:r>
            <a:endParaRPr lang="en-US" sz="825" dirty="0"/>
          </a:p>
        </p:txBody>
      </p:sp>
      <p:sp>
        <p:nvSpPr>
          <p:cNvPr id="30" name="Text 28"/>
          <p:cNvSpPr/>
          <p:nvPr/>
        </p:nvSpPr>
        <p:spPr>
          <a:xfrm>
            <a:off x="2377180" y="2803327"/>
            <a:ext cx="29374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82"/>
              </a:lnSpc>
              <a:buNone/>
            </a:pPr>
            <a:r>
              <a:rPr lang="en-US" sz="525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화요일</a:t>
            </a:r>
            <a:endParaRPr lang="en-US" sz="525" dirty="0"/>
          </a:p>
          <a:p>
            <a:pPr algn="ctr" indent="0" marL="0">
              <a:lnSpc>
                <a:spcPts val="682"/>
              </a:lnSpc>
              <a:buNone/>
            </a:pPr>
            <a:r>
              <a:rPr lang="en-US" sz="525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경고 집행</a:t>
            </a:r>
            <a:endParaRPr lang="en-US" sz="525" dirty="0"/>
          </a:p>
        </p:txBody>
      </p:sp>
      <p:sp>
        <p:nvSpPr>
          <p:cNvPr id="31" name="Text 29"/>
          <p:cNvSpPr/>
          <p:nvPr/>
        </p:nvSpPr>
        <p:spPr>
          <a:xfrm>
            <a:off x="2762250" y="2594670"/>
            <a:ext cx="95250" cy="9525"/>
          </a:xfrm>
          <a:prstGeom prst="rect">
            <a:avLst/>
          </a:prstGeom>
          <a:solidFill>
            <a:srgbClr val="3036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2971800" y="2317552"/>
            <a:ext cx="247650" cy="247650"/>
          </a:xfrm>
          <a:prstGeom prst="roundRect">
            <a:avLst>
              <a:gd name="adj" fmla="val 369231"/>
            </a:avLst>
          </a:prstGeom>
          <a:solidFill>
            <a:srgbClr val="0D1117"/>
          </a:solidFill>
          <a:ln w="19050">
            <a:solidFill>
              <a:srgbClr val="FFD43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3062436" y="2393752"/>
            <a:ext cx="6770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0"/>
              </a:lnSpc>
              <a:buNone/>
            </a:pPr>
            <a:r>
              <a:rPr lang="en-US" sz="750" b="1" dirty="0">
                <a:solidFill>
                  <a:srgbClr val="FFD4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2966293" y="2593777"/>
            <a:ext cx="26368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FFD4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4.08</a:t>
            </a:r>
            <a:endParaRPr lang="en-US" sz="825" dirty="0"/>
          </a:p>
        </p:txBody>
      </p:sp>
      <p:sp>
        <p:nvSpPr>
          <p:cNvPr id="35" name="Text 33"/>
          <p:cNvSpPr/>
          <p:nvPr/>
        </p:nvSpPr>
        <p:spPr>
          <a:xfrm>
            <a:off x="2969568" y="2746177"/>
            <a:ext cx="25700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38D9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+0.03</a:t>
            </a:r>
            <a:endParaRPr lang="en-US" sz="600" dirty="0"/>
          </a:p>
        </p:txBody>
      </p:sp>
      <p:sp>
        <p:nvSpPr>
          <p:cNvPr id="36" name="Text 34"/>
          <p:cNvSpPr/>
          <p:nvPr/>
        </p:nvSpPr>
        <p:spPr>
          <a:xfrm>
            <a:off x="2912854" y="2860477"/>
            <a:ext cx="36539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82"/>
              </a:lnSpc>
              <a:buNone/>
            </a:pPr>
            <a:r>
              <a:rPr lang="en-US" sz="525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S3 FW</a:t>
            </a:r>
            <a:endParaRPr lang="en-US" sz="525" dirty="0"/>
          </a:p>
          <a:p>
            <a:pPr algn="ctr" indent="0" marL="0">
              <a:lnSpc>
                <a:spcPts val="682"/>
              </a:lnSpc>
              <a:buNone/>
            </a:pPr>
            <a:r>
              <a:rPr lang="en-US" sz="525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파일 (11시)</a:t>
            </a:r>
            <a:endParaRPr lang="en-US" sz="525" dirty="0"/>
          </a:p>
        </p:txBody>
      </p:sp>
      <p:sp>
        <p:nvSpPr>
          <p:cNvPr id="37" name="Text 35"/>
          <p:cNvSpPr/>
          <p:nvPr/>
        </p:nvSpPr>
        <p:spPr>
          <a:xfrm>
            <a:off x="3333750" y="2594670"/>
            <a:ext cx="95250" cy="9525"/>
          </a:xfrm>
          <a:prstGeom prst="rect">
            <a:avLst/>
          </a:prstGeom>
          <a:solidFill>
            <a:srgbClr val="3036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3543300" y="2317552"/>
            <a:ext cx="247650" cy="247650"/>
          </a:xfrm>
          <a:prstGeom prst="roundRect">
            <a:avLst>
              <a:gd name="adj" fmla="val 369231"/>
            </a:avLst>
          </a:prstGeom>
          <a:solidFill>
            <a:srgbClr val="0D1117"/>
          </a:solidFill>
          <a:ln w="19050">
            <a:solidFill>
              <a:srgbClr val="FFD43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3633936" y="2393752"/>
            <a:ext cx="6770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0"/>
              </a:lnSpc>
              <a:buNone/>
            </a:pPr>
            <a:r>
              <a:rPr lang="en-US" sz="750" b="1" dirty="0">
                <a:solidFill>
                  <a:srgbClr val="FFD4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3537793" y="2593777"/>
            <a:ext cx="26368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FFD4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4.10</a:t>
            </a:r>
            <a:endParaRPr lang="en-US" sz="825" dirty="0"/>
          </a:p>
        </p:txBody>
      </p:sp>
      <p:sp>
        <p:nvSpPr>
          <p:cNvPr id="41" name="Text 39"/>
          <p:cNvSpPr/>
          <p:nvPr/>
        </p:nvSpPr>
        <p:spPr>
          <a:xfrm>
            <a:off x="3541068" y="2746177"/>
            <a:ext cx="25700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38D9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+0.02</a:t>
            </a:r>
            <a:endParaRPr lang="en-US" sz="600" dirty="0"/>
          </a:p>
        </p:txBody>
      </p:sp>
      <p:sp>
        <p:nvSpPr>
          <p:cNvPr id="42" name="Text 40"/>
          <p:cNvSpPr/>
          <p:nvPr/>
        </p:nvSpPr>
        <p:spPr>
          <a:xfrm>
            <a:off x="3458850" y="2860477"/>
            <a:ext cx="41640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82"/>
              </a:lnSpc>
              <a:buNone/>
            </a:pPr>
            <a:r>
              <a:rPr lang="en-US" sz="525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demo_script</a:t>
            </a:r>
            <a:endParaRPr lang="en-US" sz="525" dirty="0"/>
          </a:p>
          <a:p>
            <a:pPr algn="ctr" indent="0" marL="0">
              <a:lnSpc>
                <a:spcPts val="682"/>
              </a:lnSpc>
              <a:buNone/>
            </a:pPr>
            <a:r>
              <a:rPr lang="en-US" sz="525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v2.0 (11시)</a:t>
            </a:r>
            <a:endParaRPr lang="en-US" sz="525" dirty="0"/>
          </a:p>
        </p:txBody>
      </p:sp>
      <p:sp>
        <p:nvSpPr>
          <p:cNvPr id="43" name="Text 41"/>
          <p:cNvSpPr/>
          <p:nvPr/>
        </p:nvSpPr>
        <p:spPr>
          <a:xfrm>
            <a:off x="3905250" y="2594670"/>
            <a:ext cx="95250" cy="9525"/>
          </a:xfrm>
          <a:prstGeom prst="rect">
            <a:avLst/>
          </a:prstGeom>
          <a:solidFill>
            <a:srgbClr val="3036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4114800" y="2317552"/>
            <a:ext cx="247650" cy="247650"/>
          </a:xfrm>
          <a:prstGeom prst="roundRect">
            <a:avLst>
              <a:gd name="adj" fmla="val 369231"/>
            </a:avLst>
          </a:prstGeom>
          <a:solidFill>
            <a:srgbClr val="0D1117"/>
          </a:solidFill>
          <a:ln w="19050">
            <a:solidFill>
              <a:srgbClr val="FFD43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4205436" y="2393752"/>
            <a:ext cx="6770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0"/>
              </a:lnSpc>
              <a:buNone/>
            </a:pPr>
            <a:r>
              <a:rPr lang="en-US" sz="750" b="1" dirty="0">
                <a:solidFill>
                  <a:srgbClr val="FFD4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4109293" y="2593777"/>
            <a:ext cx="26368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FFD4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4.20</a:t>
            </a:r>
            <a:endParaRPr lang="en-US" sz="825" dirty="0"/>
          </a:p>
        </p:txBody>
      </p:sp>
      <p:sp>
        <p:nvSpPr>
          <p:cNvPr id="47" name="Text 45"/>
          <p:cNvSpPr/>
          <p:nvPr/>
        </p:nvSpPr>
        <p:spPr>
          <a:xfrm>
            <a:off x="4112568" y="2746177"/>
            <a:ext cx="25700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38D9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+0.10</a:t>
            </a:r>
            <a:endParaRPr lang="en-US" sz="600" dirty="0"/>
          </a:p>
        </p:txBody>
      </p:sp>
      <p:sp>
        <p:nvSpPr>
          <p:cNvPr id="48" name="Text 46"/>
          <p:cNvSpPr/>
          <p:nvPr/>
        </p:nvSpPr>
        <p:spPr>
          <a:xfrm>
            <a:off x="4028984" y="2860477"/>
            <a:ext cx="41913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82"/>
              </a:lnSpc>
              <a:buNone/>
            </a:pPr>
            <a:r>
              <a:rPr lang="en-US" sz="525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P7 R²</a:t>
            </a:r>
            <a:endParaRPr lang="en-US" sz="525" dirty="0"/>
          </a:p>
          <a:p>
            <a:pPr algn="ctr" indent="0" marL="0">
              <a:lnSpc>
                <a:spcPts val="682"/>
              </a:lnSpc>
              <a:buNone/>
            </a:pPr>
            <a:r>
              <a:rPr lang="en-US" sz="525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≥0.62 (오후)</a:t>
            </a:r>
            <a:endParaRPr lang="en-US" sz="525" dirty="0"/>
          </a:p>
        </p:txBody>
      </p:sp>
      <p:sp>
        <p:nvSpPr>
          <p:cNvPr id="49" name="Text 47"/>
          <p:cNvSpPr/>
          <p:nvPr/>
        </p:nvSpPr>
        <p:spPr>
          <a:xfrm>
            <a:off x="4476750" y="2594670"/>
            <a:ext cx="95250" cy="9525"/>
          </a:xfrm>
          <a:prstGeom prst="rect">
            <a:avLst/>
          </a:prstGeom>
          <a:solidFill>
            <a:srgbClr val="3036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4686300" y="2317552"/>
            <a:ext cx="247650" cy="247650"/>
          </a:xfrm>
          <a:prstGeom prst="roundRect">
            <a:avLst>
              <a:gd name="adj" fmla="val 369231"/>
            </a:avLst>
          </a:prstGeom>
          <a:solidFill>
            <a:srgbClr val="0D1117"/>
          </a:solidFill>
          <a:ln w="19050">
            <a:solidFill>
              <a:srgbClr val="FFD43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4776936" y="2393752"/>
            <a:ext cx="6770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0"/>
              </a:lnSpc>
              <a:buNone/>
            </a:pPr>
            <a:r>
              <a:rPr lang="en-US" sz="750" b="1" dirty="0">
                <a:solidFill>
                  <a:srgbClr val="FFD4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4680793" y="2593777"/>
            <a:ext cx="26368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FFD4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4.28</a:t>
            </a:r>
            <a:endParaRPr lang="en-US" sz="825" dirty="0"/>
          </a:p>
        </p:txBody>
      </p:sp>
      <p:sp>
        <p:nvSpPr>
          <p:cNvPr id="53" name="Text 51"/>
          <p:cNvSpPr/>
          <p:nvPr/>
        </p:nvSpPr>
        <p:spPr>
          <a:xfrm>
            <a:off x="4684068" y="2746177"/>
            <a:ext cx="25700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38D9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+0.08</a:t>
            </a:r>
            <a:endParaRPr lang="en-US" sz="600" dirty="0"/>
          </a:p>
        </p:txBody>
      </p:sp>
      <p:sp>
        <p:nvSpPr>
          <p:cNvPr id="54" name="Text 52"/>
          <p:cNvSpPr/>
          <p:nvPr/>
        </p:nvSpPr>
        <p:spPr>
          <a:xfrm>
            <a:off x="4600635" y="2860477"/>
            <a:ext cx="41898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82"/>
              </a:lnSpc>
              <a:buNone/>
            </a:pPr>
            <a:r>
              <a:rPr lang="en-US" sz="525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P1 Acc</a:t>
            </a:r>
            <a:endParaRPr lang="en-US" sz="525" dirty="0"/>
          </a:p>
          <a:p>
            <a:pPr algn="ctr" indent="0" marL="0">
              <a:lnSpc>
                <a:spcPts val="682"/>
              </a:lnSpc>
              <a:buNone/>
            </a:pPr>
            <a:r>
              <a:rPr lang="en-US" sz="525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≥57% (저녁)</a:t>
            </a:r>
            <a:endParaRPr lang="en-US" sz="525" dirty="0"/>
          </a:p>
        </p:txBody>
      </p:sp>
      <p:sp>
        <p:nvSpPr>
          <p:cNvPr id="55" name="Text 53"/>
          <p:cNvSpPr/>
          <p:nvPr/>
        </p:nvSpPr>
        <p:spPr>
          <a:xfrm>
            <a:off x="5048250" y="2594670"/>
            <a:ext cx="95250" cy="9525"/>
          </a:xfrm>
          <a:prstGeom prst="rect">
            <a:avLst/>
          </a:prstGeom>
          <a:solidFill>
            <a:srgbClr val="3036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Text 54"/>
          <p:cNvSpPr/>
          <p:nvPr/>
        </p:nvSpPr>
        <p:spPr>
          <a:xfrm>
            <a:off x="5257800" y="2317552"/>
            <a:ext cx="247650" cy="247650"/>
          </a:xfrm>
          <a:prstGeom prst="roundRect">
            <a:avLst>
              <a:gd name="adj" fmla="val 369231"/>
            </a:avLst>
          </a:prstGeom>
          <a:solidFill>
            <a:srgbClr val="0D1117"/>
          </a:solidFill>
          <a:ln w="19050">
            <a:solidFill>
              <a:srgbClr val="FFD43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Text 55"/>
          <p:cNvSpPr/>
          <p:nvPr/>
        </p:nvSpPr>
        <p:spPr>
          <a:xfrm>
            <a:off x="5348436" y="2393752"/>
            <a:ext cx="6770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0"/>
              </a:lnSpc>
              <a:buNone/>
            </a:pPr>
            <a:r>
              <a:rPr lang="en-US" sz="750" b="1" dirty="0">
                <a:solidFill>
                  <a:srgbClr val="FFD4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5252293" y="2593777"/>
            <a:ext cx="26368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FFD4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4.34</a:t>
            </a:r>
            <a:endParaRPr lang="en-US" sz="825" dirty="0"/>
          </a:p>
        </p:txBody>
      </p:sp>
      <p:sp>
        <p:nvSpPr>
          <p:cNvPr id="59" name="Text 57"/>
          <p:cNvSpPr/>
          <p:nvPr/>
        </p:nvSpPr>
        <p:spPr>
          <a:xfrm>
            <a:off x="5255568" y="2746177"/>
            <a:ext cx="25700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38D9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+0.06</a:t>
            </a:r>
            <a:endParaRPr lang="en-US" sz="600" dirty="0"/>
          </a:p>
        </p:txBody>
      </p:sp>
      <p:sp>
        <p:nvSpPr>
          <p:cNvPr id="60" name="Text 58"/>
          <p:cNvSpPr/>
          <p:nvPr/>
        </p:nvSpPr>
        <p:spPr>
          <a:xfrm>
            <a:off x="5222991" y="2860477"/>
            <a:ext cx="31712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82"/>
              </a:lnSpc>
              <a:buNone/>
            </a:pPr>
            <a:r>
              <a:rPr lang="en-US" sz="525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S3 FW Sil</a:t>
            </a:r>
            <a:endParaRPr lang="en-US" sz="525" dirty="0"/>
          </a:p>
          <a:p>
            <a:pPr algn="ctr" indent="0" marL="0">
              <a:lnSpc>
                <a:spcPts val="682"/>
              </a:lnSpc>
              <a:buNone/>
            </a:pPr>
            <a:r>
              <a:rPr lang="en-US" sz="525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≥0.25</a:t>
            </a:r>
            <a:endParaRPr lang="en-US" sz="525" dirty="0"/>
          </a:p>
        </p:txBody>
      </p:sp>
      <p:sp>
        <p:nvSpPr>
          <p:cNvPr id="61" name="Text 59"/>
          <p:cNvSpPr/>
          <p:nvPr/>
        </p:nvSpPr>
        <p:spPr>
          <a:xfrm>
            <a:off x="5619750" y="2594670"/>
            <a:ext cx="95250" cy="9525"/>
          </a:xfrm>
          <a:prstGeom prst="rect">
            <a:avLst/>
          </a:prstGeom>
          <a:solidFill>
            <a:srgbClr val="3036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" name="Text 60"/>
          <p:cNvSpPr/>
          <p:nvPr/>
        </p:nvSpPr>
        <p:spPr>
          <a:xfrm>
            <a:off x="5829300" y="2317552"/>
            <a:ext cx="247650" cy="247650"/>
          </a:xfrm>
          <a:prstGeom prst="roundRect">
            <a:avLst>
              <a:gd name="adj" fmla="val 369231"/>
            </a:avLst>
          </a:prstGeom>
          <a:solidFill>
            <a:srgbClr val="0D1117"/>
          </a:solidFill>
          <a:ln w="19050">
            <a:solidFill>
              <a:srgbClr val="FFD43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3" name="Text 61"/>
          <p:cNvSpPr/>
          <p:nvPr/>
        </p:nvSpPr>
        <p:spPr>
          <a:xfrm>
            <a:off x="5919936" y="2393752"/>
            <a:ext cx="6770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0"/>
              </a:lnSpc>
              <a:buNone/>
            </a:pPr>
            <a:r>
              <a:rPr lang="en-US" sz="750" b="1" dirty="0">
                <a:solidFill>
                  <a:srgbClr val="FFD4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</a:t>
            </a:r>
            <a:endParaRPr lang="en-US" sz="750" dirty="0"/>
          </a:p>
        </p:txBody>
      </p:sp>
      <p:sp>
        <p:nvSpPr>
          <p:cNvPr id="64" name="Text 62"/>
          <p:cNvSpPr/>
          <p:nvPr/>
        </p:nvSpPr>
        <p:spPr>
          <a:xfrm>
            <a:off x="5823793" y="2593777"/>
            <a:ext cx="26368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FFD4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4.42</a:t>
            </a:r>
            <a:endParaRPr lang="en-US" sz="825" dirty="0"/>
          </a:p>
        </p:txBody>
      </p:sp>
      <p:sp>
        <p:nvSpPr>
          <p:cNvPr id="65" name="Text 63"/>
          <p:cNvSpPr/>
          <p:nvPr/>
        </p:nvSpPr>
        <p:spPr>
          <a:xfrm>
            <a:off x="5827068" y="2746177"/>
            <a:ext cx="25700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38D9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+0.08</a:t>
            </a:r>
            <a:endParaRPr lang="en-US" sz="600" dirty="0"/>
          </a:p>
        </p:txBody>
      </p:sp>
      <p:sp>
        <p:nvSpPr>
          <p:cNvPr id="66" name="Text 64"/>
          <p:cNvSpPr/>
          <p:nvPr/>
        </p:nvSpPr>
        <p:spPr>
          <a:xfrm>
            <a:off x="5783104" y="2860477"/>
            <a:ext cx="34004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82"/>
              </a:lnSpc>
              <a:buNone/>
            </a:pPr>
            <a:r>
              <a:rPr lang="en-US" sz="525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</a:t>
            </a:r>
            <a:endParaRPr lang="en-US" sz="525" dirty="0"/>
          </a:p>
          <a:p>
            <a:pPr algn="ctr" indent="0" marL="0">
              <a:lnSpc>
                <a:spcPts val="682"/>
              </a:lnSpc>
              <a:buNone/>
            </a:pPr>
            <a:r>
              <a:rPr lang="en-US" sz="525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발표 성공</a:t>
            </a:r>
            <a:endParaRPr lang="en-US" sz="525" dirty="0"/>
          </a:p>
        </p:txBody>
      </p:sp>
      <p:sp>
        <p:nvSpPr>
          <p:cNvPr id="67" name="Text 65"/>
          <p:cNvSpPr/>
          <p:nvPr/>
        </p:nvSpPr>
        <p:spPr>
          <a:xfrm>
            <a:off x="6191250" y="2594670"/>
            <a:ext cx="95250" cy="9525"/>
          </a:xfrm>
          <a:prstGeom prst="rect">
            <a:avLst/>
          </a:prstGeom>
          <a:solidFill>
            <a:srgbClr val="3036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8" name="Text 66"/>
          <p:cNvSpPr/>
          <p:nvPr/>
        </p:nvSpPr>
        <p:spPr>
          <a:xfrm>
            <a:off x="6400800" y="2317552"/>
            <a:ext cx="247650" cy="247650"/>
          </a:xfrm>
          <a:prstGeom prst="roundRect">
            <a:avLst>
              <a:gd name="adj" fmla="val 369231"/>
            </a:avLst>
          </a:prstGeom>
          <a:solidFill>
            <a:srgbClr val="0E1F1B"/>
          </a:solidFill>
          <a:ln w="19050">
            <a:solidFill>
              <a:srgbClr val="38D9A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9" name="Text 67"/>
          <p:cNvSpPr/>
          <p:nvPr/>
        </p:nvSpPr>
        <p:spPr>
          <a:xfrm>
            <a:off x="6481911" y="2393752"/>
            <a:ext cx="8713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0"/>
              </a:lnSpc>
              <a:buNone/>
            </a:pPr>
            <a:r>
              <a:rPr lang="en-US" sz="750" b="1" dirty="0">
                <a:solidFill>
                  <a:srgbClr val="38D9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★</a:t>
            </a:r>
            <a:endParaRPr lang="en-US" sz="750" dirty="0"/>
          </a:p>
        </p:txBody>
      </p:sp>
      <p:sp>
        <p:nvSpPr>
          <p:cNvPr id="70" name="Text 68"/>
          <p:cNvSpPr/>
          <p:nvPr/>
        </p:nvSpPr>
        <p:spPr>
          <a:xfrm>
            <a:off x="6395293" y="2593777"/>
            <a:ext cx="26368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38D9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5.00</a:t>
            </a:r>
            <a:endParaRPr lang="en-US" sz="825" dirty="0"/>
          </a:p>
        </p:txBody>
      </p:sp>
      <p:sp>
        <p:nvSpPr>
          <p:cNvPr id="71" name="Text 69"/>
          <p:cNvSpPr/>
          <p:nvPr/>
        </p:nvSpPr>
        <p:spPr>
          <a:xfrm>
            <a:off x="6398568" y="2746177"/>
            <a:ext cx="25700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38D9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+0.58</a:t>
            </a:r>
            <a:endParaRPr lang="en-US" sz="600" dirty="0"/>
          </a:p>
        </p:txBody>
      </p:sp>
      <p:sp>
        <p:nvSpPr>
          <p:cNvPr id="72" name="Text 70"/>
          <p:cNvSpPr/>
          <p:nvPr/>
        </p:nvSpPr>
        <p:spPr>
          <a:xfrm>
            <a:off x="6377680" y="2860477"/>
            <a:ext cx="29374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82"/>
              </a:lnSpc>
              <a:buNone/>
            </a:pPr>
            <a:r>
              <a:rPr lang="en-US" sz="525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영입 회의</a:t>
            </a:r>
            <a:endParaRPr lang="en-US" sz="525" dirty="0"/>
          </a:p>
          <a:p>
            <a:pPr algn="ctr" indent="0" marL="0">
              <a:lnSpc>
                <a:spcPts val="682"/>
              </a:lnSpc>
              <a:buNone/>
            </a:pPr>
            <a:r>
              <a:rPr lang="en-US" sz="525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시연 성공</a:t>
            </a:r>
            <a:endParaRPr lang="en-US" sz="525" dirty="0"/>
          </a:p>
        </p:txBody>
      </p:sp>
      <p:sp>
        <p:nvSpPr>
          <p:cNvPr id="73" name="Text 71"/>
          <p:cNvSpPr/>
          <p:nvPr/>
        </p:nvSpPr>
        <p:spPr>
          <a:xfrm>
            <a:off x="6934200" y="409575"/>
            <a:ext cx="19431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58A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Streamlit 대시보드</a:t>
            </a:r>
            <a:endParaRPr lang="en-US" sz="825" dirty="0"/>
          </a:p>
        </p:txBody>
      </p:sp>
      <p:sp>
        <p:nvSpPr>
          <p:cNvPr id="74" name="Text 72"/>
          <p:cNvSpPr/>
          <p:nvPr/>
        </p:nvSpPr>
        <p:spPr>
          <a:xfrm>
            <a:off x="6934200" y="628650"/>
            <a:ext cx="914400" cy="438150"/>
          </a:xfrm>
          <a:prstGeom prst="roundRect">
            <a:avLst>
              <a:gd name="adj" fmla="val 10870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5" name="Text 73"/>
          <p:cNvSpPr/>
          <p:nvPr/>
        </p:nvSpPr>
        <p:spPr>
          <a:xfrm>
            <a:off x="7012496" y="695325"/>
            <a:ext cx="75780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38D9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</a:t>
            </a:r>
            <a:endParaRPr lang="en-US" sz="1350" dirty="0"/>
          </a:p>
        </p:txBody>
      </p:sp>
      <p:sp>
        <p:nvSpPr>
          <p:cNvPr id="76" name="Text 74"/>
          <p:cNvSpPr/>
          <p:nvPr/>
        </p:nvSpPr>
        <p:spPr>
          <a:xfrm>
            <a:off x="7012496" y="895350"/>
            <a:ext cx="75780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총 페이지</a:t>
            </a:r>
            <a:endParaRPr lang="en-US" sz="600" dirty="0"/>
          </a:p>
        </p:txBody>
      </p:sp>
      <p:sp>
        <p:nvSpPr>
          <p:cNvPr id="77" name="Text 75"/>
          <p:cNvSpPr/>
          <p:nvPr/>
        </p:nvSpPr>
        <p:spPr>
          <a:xfrm>
            <a:off x="7924800" y="628650"/>
            <a:ext cx="914400" cy="438150"/>
          </a:xfrm>
          <a:prstGeom prst="roundRect">
            <a:avLst>
              <a:gd name="adj" fmla="val 10870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8" name="Text 76"/>
          <p:cNvSpPr/>
          <p:nvPr/>
        </p:nvSpPr>
        <p:spPr>
          <a:xfrm>
            <a:off x="8003096" y="695325"/>
            <a:ext cx="75780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38D9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</a:t>
            </a:r>
            <a:endParaRPr lang="en-US" sz="1350" dirty="0"/>
          </a:p>
        </p:txBody>
      </p:sp>
      <p:sp>
        <p:nvSpPr>
          <p:cNvPr id="79" name="Text 77"/>
          <p:cNvSpPr/>
          <p:nvPr/>
        </p:nvSpPr>
        <p:spPr>
          <a:xfrm>
            <a:off x="8003096" y="895350"/>
            <a:ext cx="75780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즉시 활용</a:t>
            </a:r>
            <a:endParaRPr lang="en-US" sz="600" dirty="0"/>
          </a:p>
        </p:txBody>
      </p:sp>
      <p:sp>
        <p:nvSpPr>
          <p:cNvPr id="80" name="Text 78"/>
          <p:cNvSpPr/>
          <p:nvPr/>
        </p:nvSpPr>
        <p:spPr>
          <a:xfrm>
            <a:off x="6934200" y="1143000"/>
            <a:ext cx="1905000" cy="3192959"/>
          </a:xfrm>
          <a:prstGeom prst="roundRect">
            <a:avLst>
              <a:gd name="adj" fmla="val 2500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1" name="Text 79"/>
          <p:cNvSpPr/>
          <p:nvPr/>
        </p:nvSpPr>
        <p:spPr>
          <a:xfrm>
            <a:off x="7038975" y="1228725"/>
            <a:ext cx="169545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900"/>
              </a:lnSpc>
              <a:buSzPct val="100000"/>
              <a:buChar char="•"/>
            </a:pPr>
            <a:r>
              <a:rPr lang="en-US" sz="563" b="1" dirty="0">
                <a:solidFill>
                  <a:srgbClr val="38D9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OK</a:t>
            </a:r>
            <a:pPr algn="l" indent="0" marL="0">
              <a:lnSpc>
                <a:spcPts val="900"/>
              </a:lnSpc>
              <a:buNone/>
            </a:pPr>
            <a:r>
              <a:rPr lang="en-US" sz="563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홈</a:t>
            </a:r>
            <a:endParaRPr lang="en-US" sz="563" dirty="0"/>
          </a:p>
          <a:p>
            <a:pPr algn="l" marL="342900" indent="-342900">
              <a:lnSpc>
                <a:spcPts val="900"/>
              </a:lnSpc>
              <a:buSzPct val="100000"/>
              <a:buChar char="•"/>
            </a:pPr>
            <a:r>
              <a:rPr lang="en-US" sz="563" b="1" dirty="0">
                <a:solidFill>
                  <a:srgbClr val="38D9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OK</a:t>
            </a:r>
            <a:pPr algn="l" indent="0" marL="0">
              <a:lnSpc>
                <a:spcPts val="900"/>
              </a:lnSpc>
              <a:buNone/>
            </a:pPr>
            <a:r>
              <a:rPr lang="en-US" sz="563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선수 즉시 분석</a:t>
            </a:r>
            <a:endParaRPr lang="en-US" sz="563" dirty="0"/>
          </a:p>
          <a:p>
            <a:pPr algn="l" marL="342900" indent="-342900">
              <a:lnSpc>
                <a:spcPts val="900"/>
              </a:lnSpc>
              <a:buSzPct val="100000"/>
              <a:buChar char="•"/>
            </a:pPr>
            <a:r>
              <a:rPr lang="en-US" sz="563" b="1" dirty="0">
                <a:solidFill>
                  <a:srgbClr val="38D9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OK</a:t>
            </a:r>
            <a:pPr algn="l" indent="0" marL="0">
              <a:lnSpc>
                <a:spcPts val="900"/>
              </a:lnSpc>
              <a:buNone/>
            </a:pPr>
            <a:r>
              <a:rPr lang="en-US" sz="563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쇼트리스트</a:t>
            </a:r>
            <a:endParaRPr lang="en-US" sz="563" dirty="0"/>
          </a:p>
          <a:p>
            <a:pPr algn="l" marL="342900" indent="-342900">
              <a:lnSpc>
                <a:spcPts val="900"/>
              </a:lnSpc>
              <a:buSzPct val="100000"/>
              <a:buChar char="•"/>
            </a:pPr>
            <a:r>
              <a:rPr lang="en-US" sz="563" b="1" dirty="0">
                <a:solidFill>
                  <a:srgbClr val="38D9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OK</a:t>
            </a:r>
            <a:pPr algn="l" indent="0" marL="0">
              <a:lnSpc>
                <a:spcPts val="900"/>
              </a:lnSpc>
              <a:buNone/>
            </a:pPr>
            <a:r>
              <a:rPr lang="en-US" sz="563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종합 인텔리전스</a:t>
            </a:r>
            <a:endParaRPr lang="en-US" sz="563" dirty="0"/>
          </a:p>
          <a:p>
            <a:pPr algn="l" marL="342900" indent="-342900">
              <a:lnSpc>
                <a:spcPts val="900"/>
              </a:lnSpc>
              <a:buSzPct val="100000"/>
              <a:buChar char="•"/>
            </a:pPr>
            <a:r>
              <a:rPr lang="en-US" sz="563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스카우트 개요</a:t>
            </a:r>
            <a:endParaRPr lang="en-US" sz="563" dirty="0"/>
          </a:p>
          <a:p>
            <a:pPr algn="l" marL="342900" indent="-342900">
              <a:lnSpc>
                <a:spcPts val="900"/>
              </a:lnSpc>
              <a:buSzPct val="100000"/>
              <a:buChar char="•"/>
            </a:pPr>
            <a:r>
              <a:rPr lang="en-US" sz="563" b="1" dirty="0">
                <a:solidFill>
                  <a:srgbClr val="38D9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OK</a:t>
            </a:r>
            <a:pPr algn="l" indent="0" marL="0">
              <a:lnSpc>
                <a:spcPts val="900"/>
              </a:lnSpc>
              <a:buNone/>
            </a:pPr>
            <a:r>
              <a:rPr lang="en-US" sz="563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선수 분석</a:t>
            </a:r>
            <a:endParaRPr lang="en-US" sz="563" dirty="0"/>
          </a:p>
          <a:p>
            <a:pPr algn="l" marL="342900" indent="-342900">
              <a:lnSpc>
                <a:spcPts val="900"/>
              </a:lnSpc>
              <a:buSzPct val="100000"/>
              <a:buChar char="•"/>
            </a:pPr>
            <a:r>
              <a:rPr lang="en-US" sz="563" b="1" dirty="0">
                <a:solidFill>
                  <a:srgbClr val="38D9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OK</a:t>
            </a:r>
            <a:pPr algn="l" indent="0" marL="0">
              <a:lnSpc>
                <a:spcPts val="900"/>
              </a:lnSpc>
              <a:buNone/>
            </a:pPr>
            <a:r>
              <a:rPr lang="en-US" sz="563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이적 인텔리전스</a:t>
            </a:r>
            <a:endParaRPr lang="en-US" sz="563" dirty="0"/>
          </a:p>
          <a:p>
            <a:pPr algn="l" marL="342900" indent="-342900">
              <a:lnSpc>
                <a:spcPts val="900"/>
              </a:lnSpc>
              <a:buSzPct val="100000"/>
              <a:buChar char="•"/>
            </a:pPr>
            <a:r>
              <a:rPr lang="en-US" sz="563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강등권 탐색기</a:t>
            </a:r>
            <a:endParaRPr lang="en-US" sz="563" dirty="0"/>
          </a:p>
          <a:p>
            <a:pPr algn="l" marL="342900" indent="-342900">
              <a:lnSpc>
                <a:spcPts val="900"/>
              </a:lnSpc>
              <a:buSzPct val="100000"/>
              <a:buChar char="•"/>
            </a:pPr>
            <a:r>
              <a:rPr lang="en-US" sz="563" b="1" dirty="0">
                <a:solidFill>
                  <a:srgbClr val="38D9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OK</a:t>
            </a:r>
            <a:pPr algn="l" indent="0" marL="0">
              <a:lnSpc>
                <a:spcPts val="900"/>
              </a:lnSpc>
              <a:buNone/>
            </a:pPr>
            <a:r>
              <a:rPr lang="en-US" sz="563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S2 저평가 탐색</a:t>
            </a:r>
            <a:endParaRPr lang="en-US" sz="563" dirty="0"/>
          </a:p>
          <a:p>
            <a:pPr algn="l" marL="342900" indent="-342900">
              <a:lnSpc>
                <a:spcPts val="900"/>
              </a:lnSpc>
              <a:buSzPct val="100000"/>
              <a:buChar char="•"/>
            </a:pPr>
            <a:r>
              <a:rPr lang="en-US" sz="563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 프로파일</a:t>
            </a:r>
            <a:endParaRPr lang="en-US" sz="563" dirty="0"/>
          </a:p>
          <a:p>
            <a:pPr algn="l" marL="342900" indent="-342900">
              <a:lnSpc>
                <a:spcPts val="900"/>
              </a:lnSpc>
              <a:buSzPct val="100000"/>
              <a:buChar char="•"/>
            </a:pPr>
            <a:r>
              <a:rPr lang="en-US" sz="563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선수 통계 순위</a:t>
            </a:r>
            <a:endParaRPr lang="en-US" sz="563" dirty="0"/>
          </a:p>
          <a:p>
            <a:pPr algn="l" marL="342900" indent="-342900">
              <a:lnSpc>
                <a:spcPts val="900"/>
              </a:lnSpc>
              <a:buSzPct val="100000"/>
              <a:buChar char="•"/>
            </a:pPr>
            <a:r>
              <a:rPr lang="en-US" sz="563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시즌 개요</a:t>
            </a:r>
            <a:endParaRPr lang="en-US" sz="563" dirty="0"/>
          </a:p>
          <a:p>
            <a:pPr algn="l" marL="342900" indent="-342900">
              <a:lnSpc>
                <a:spcPts val="900"/>
              </a:lnSpc>
              <a:buSzPct val="100000"/>
              <a:buChar char="•"/>
            </a:pPr>
            <a:r>
              <a:rPr lang="en-US" sz="563" b="1" dirty="0">
                <a:solidFill>
                  <a:srgbClr val="38D9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OK</a:t>
            </a:r>
            <a:pPr algn="l" indent="0" marL="0">
              <a:lnSpc>
                <a:spcPts val="900"/>
              </a:lnSpc>
              <a:buNone/>
            </a:pPr>
            <a:r>
              <a:rPr lang="en-US" sz="563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선수 비교</a:t>
            </a:r>
            <a:endParaRPr lang="en-US" sz="563" dirty="0"/>
          </a:p>
          <a:p>
            <a:pPr algn="l" marL="342900" indent="-342900">
              <a:lnSpc>
                <a:spcPts val="900"/>
              </a:lnSpc>
              <a:buSzPct val="100000"/>
              <a:buChar char="•"/>
            </a:pPr>
            <a:r>
              <a:rPr lang="en-US" sz="563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역대 기록</a:t>
            </a:r>
            <a:endParaRPr lang="en-US" sz="563" dirty="0"/>
          </a:p>
          <a:p>
            <a:pPr algn="l" marL="342900" indent="-342900">
              <a:lnSpc>
                <a:spcPts val="900"/>
              </a:lnSpc>
              <a:buSzPct val="100000"/>
              <a:buChar char="•"/>
            </a:pPr>
            <a:r>
              <a:rPr lang="en-US" sz="563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모델 설명(SHAP)</a:t>
            </a:r>
            <a:endParaRPr lang="en-US" sz="563" dirty="0"/>
          </a:p>
          <a:p>
            <a:pPr algn="l" marL="342900" indent="-342900">
              <a:lnSpc>
                <a:spcPts val="900"/>
              </a:lnSpc>
              <a:buSzPct val="100000"/>
              <a:buChar char="•"/>
            </a:pPr>
            <a:r>
              <a:rPr lang="en-US" sz="563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선수 유형 탐색기</a:t>
            </a:r>
            <a:endParaRPr lang="en-US" sz="563" dirty="0"/>
          </a:p>
        </p:txBody>
      </p:sp>
      <p:sp>
        <p:nvSpPr>
          <p:cNvPr id="82" name="Text 80"/>
          <p:cNvSpPr/>
          <p:nvPr/>
        </p:nvSpPr>
        <p:spPr>
          <a:xfrm>
            <a:off x="6934200" y="4412159"/>
            <a:ext cx="1905000" cy="300930"/>
          </a:xfrm>
          <a:prstGeom prst="roundRect">
            <a:avLst>
              <a:gd name="adj" fmla="val 15826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3" name="Text 81"/>
          <p:cNvSpPr/>
          <p:nvPr/>
        </p:nvSpPr>
        <p:spPr>
          <a:xfrm>
            <a:off x="7019925" y="4469309"/>
            <a:ext cx="176822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5"/>
              </a:lnSpc>
              <a:buNone/>
            </a:pPr>
            <a:r>
              <a:rPr lang="en-US" sz="525" dirty="0">
                <a:solidFill>
                  <a:srgbClr val="58A6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https://epl-scouting-report-dashboard-project-ffyb8msh6uafxyyg8txsm8.streamlit.app</a:t>
            </a:r>
            <a:endParaRPr lang="en-US" sz="525" dirty="0"/>
          </a:p>
        </p:txBody>
      </p:sp>
      <p:sp>
        <p:nvSpPr>
          <p:cNvPr id="84" name="Text 82"/>
          <p:cNvSpPr/>
          <p:nvPr/>
        </p:nvSpPr>
        <p:spPr>
          <a:xfrm>
            <a:off x="0" y="4713089"/>
            <a:ext cx="9144000" cy="430411"/>
          </a:xfrm>
          <a:prstGeom prst="rect">
            <a:avLst/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5" name="Shape 83"/>
          <p:cNvSpPr/>
          <p:nvPr/>
        </p:nvSpPr>
        <p:spPr>
          <a:xfrm>
            <a:off x="0" y="4722614"/>
            <a:ext cx="9144000" cy="0"/>
          </a:xfrm>
          <a:prstGeom prst="line">
            <a:avLst/>
          </a:prstGeom>
          <a:noFill/>
          <a:ln w="19050">
            <a:solidFill>
              <a:srgbClr val="FF6B6B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304800" y="4808339"/>
            <a:ext cx="8705088" cy="258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638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</a:t>
            </a:r>
            <a:pPr algn="l" indent="0" marL="0">
              <a:lnSpc>
                <a:spcPts val="1020"/>
              </a:lnSpc>
              <a:buNone/>
            </a:pPr>
            <a:r>
              <a:rPr lang="en-US" sz="638" b="1" i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4.05. 15일입니다. 경고를 넘어 최후통첩입니다.</a:t>
            </a:r>
            <a:pPr algn="l" indent="0" marL="0">
              <a:lnSpc>
                <a:spcPts val="1020"/>
              </a:lnSpc>
              <a:buNone/>
            </a:pPr>
            <a:r>
              <a:rPr lang="en-US" sz="638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P6+P7+P8 체인은 완성 직전입니다. P7 하나만 0.62를 달성하면 됩니다. 오늘 오후에 로컬 PC를 켜고 train_v5_1.py를 실행하십시오. </a:t>
            </a:r>
            <a:pPr algn="l" indent="0" marL="0">
              <a:lnSpc>
                <a:spcPts val="1020"/>
              </a:lnSpc>
              <a:buNone/>
            </a:pPr>
            <a:r>
              <a:rPr lang="en-US" sz="638" b="1" i="1" dirty="0">
                <a:solidFill>
                  <a:srgbClr val="38D9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저녁 22시 이전에 push가 있으면 내일 아침에 4.28까지 복원 가능합니다.</a:t>
            </a:r>
            <a:pPr algn="l" indent="0" marL="0">
              <a:lnSpc>
                <a:spcPts val="1020"/>
              </a:lnSpc>
              <a:buNone/>
            </a:pPr>
            <a:r>
              <a:rPr lang="en-US" sz="638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오늘이 진짜 마지막입니다. — 김태현”</a:t>
            </a:r>
            <a:endParaRPr lang="en-US" sz="638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2026-05-26T00:47:42Z</dcterms:created>
  <dcterms:modified xsi:type="dcterms:W3CDTF">2026-05-26T00:47:42Z</dcterms:modified>
</cp:coreProperties>
</file>