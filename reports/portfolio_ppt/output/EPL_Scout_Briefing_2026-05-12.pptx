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3048000" cy="38100"/>
          </a:xfrm>
          <a:prstGeom prst="rect">
            <a:avLst/>
          </a:prstGeom>
          <a:solidFill>
            <a:srgbClr val="E945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048000" y="0"/>
            <a:ext cx="3048000" cy="38100"/>
          </a:xfrm>
          <a:prstGeom prst="rect">
            <a:avLst/>
          </a:prstGeom>
          <a:solidFill>
            <a:srgbClr val="F5A62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0" y="0"/>
            <a:ext cx="3048000" cy="38100"/>
          </a:xfrm>
          <a:prstGeom prst="rect">
            <a:avLst/>
          </a:prstGeom>
          <a:solidFill>
            <a:srgbClr val="00E67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50750" cy="5143500"/>
          </a:xfrm>
          <a:prstGeom prst="rect">
            <a:avLst/>
          </a:prstGeom>
          <a:solidFill>
            <a:srgbClr val="E945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53901" y="165050"/>
            <a:ext cx="381000" cy="381000"/>
          </a:xfrm>
          <a:prstGeom prst="roundRect">
            <a:avLst>
              <a:gd name="adj" fmla="val 16667"/>
            </a:avLst>
          </a:prstGeom>
          <a:solidFill>
            <a:srgbClr val="E94560"/>
          </a:solidFill>
          <a:ln w="19050">
            <a:solidFill>
              <a:srgbClr val="F5A62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71232" y="264914"/>
            <a:ext cx="146188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15"/>
              </a:lnSpc>
              <a:buNone/>
            </a:pPr>
            <a:r>
              <a:rPr lang="en-US" sz="5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EPL</a:t>
            </a:r>
            <a:endParaRPr lang="en-US" sz="550" dirty="0"/>
          </a:p>
          <a:p>
            <a:pPr algn="ctr" indent="0" marL="0">
              <a:lnSpc>
                <a:spcPts val="715"/>
              </a:lnSpc>
              <a:buNone/>
            </a:pPr>
            <a:r>
              <a:rPr lang="en-US" sz="5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SI</a:t>
            </a:r>
            <a:endParaRPr lang="en-US" sz="550" dirty="0"/>
          </a:p>
        </p:txBody>
      </p:sp>
      <p:sp>
        <p:nvSpPr>
          <p:cNvPr id="8" name="Text 6"/>
          <p:cNvSpPr/>
          <p:nvPr/>
        </p:nvSpPr>
        <p:spPr>
          <a:xfrm>
            <a:off x="736402" y="222200"/>
            <a:ext cx="89018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제20회 정기 미팅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36402" y="365075"/>
            <a:ext cx="89018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화요일 정기 미팅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7012930" y="177701"/>
            <a:ext cx="1877169" cy="244376"/>
          </a:xfrm>
          <a:prstGeom prst="roundRect">
            <a:avLst>
              <a:gd name="adj" fmla="val 20788"/>
            </a:avLst>
          </a:prstGeom>
          <a:solidFill>
            <a:srgbClr val="0F3460"/>
          </a:solidFill>
          <a:ln w="9525">
            <a:solidFill>
              <a:srgbClr val="1A4A8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149405" y="237976"/>
            <a:ext cx="163630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8A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2026-05-12  ·  Daily Briefing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62000" y="736550"/>
            <a:ext cx="686567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EPL SCOUT INTELLIGENCE  ·  DAILY BRIEFING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762000" y="968276"/>
            <a:ext cx="6865671" cy="4576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4"/>
              </a:lnSpc>
              <a:spcAft>
                <a:spcPts val="600"/>
              </a:spcAft>
              <a:buNone/>
            </a:pPr>
            <a:r>
              <a:rPr lang="en-US" sz="34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EPL 스카우트 </a:t>
            </a:r>
            <a:pPr algn="l" indent="0" marL="0">
              <a:lnSpc>
                <a:spcPts val="3604"/>
              </a:lnSpc>
              <a:spcAft>
                <a:spcPts val="600"/>
              </a:spcAft>
              <a:buNone/>
            </a:pPr>
            <a:r>
              <a:rPr lang="en-US" sz="340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인텔리전스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762000" y="1502122"/>
            <a:ext cx="558701" cy="31700"/>
          </a:xfrm>
          <a:prstGeom prst="roundRect">
            <a:avLst>
              <a:gd name="adj" fmla="val 80126"/>
            </a:avLst>
          </a:prstGeom>
          <a:solidFill>
            <a:srgbClr val="E945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62000" y="1660773"/>
            <a:ext cx="686567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2026년 05월 12일 (화) — 데일리 브리핑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62000" y="1971824"/>
            <a:ext cx="6865671" cy="161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5"/>
              </a:lnSpc>
              <a:spcAft>
                <a:spcPts val="300"/>
              </a:spcAft>
              <a:buNone/>
            </a:pPr>
            <a:r>
              <a:rPr lang="en-US" sz="8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제20회 정기 미팅  |  화요일 정기 미팅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762000" y="2171700"/>
            <a:ext cx="6865671" cy="161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5"/>
              </a:lnSpc>
              <a:spcAft>
                <a:spcPts val="300"/>
              </a:spcAft>
              <a:buNone/>
            </a:pPr>
            <a:r>
              <a:rPr lang="en-US" sz="8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김태현 스카우트  ×  Marcus Webb (Analytics Agent)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62000" y="2498527"/>
            <a:ext cx="2365177" cy="490538"/>
          </a:xfrm>
          <a:prstGeom prst="rect">
            <a:avLst/>
          </a:prstGeom>
          <a:solidFill>
            <a:srgbClr val="0F34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781050" y="2498527"/>
            <a:ext cx="0" cy="490538"/>
          </a:xfrm>
          <a:prstGeom prst="line">
            <a:avLst/>
          </a:prstGeom>
          <a:noFill/>
          <a:ln w="38100">
            <a:solidFill>
              <a:srgbClr val="E945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52500" y="2587377"/>
            <a:ext cx="2062722" cy="3128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2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스크립트 실행이 아닌 코드 직접 작성으로</a:t>
            </a:r>
            <a:endParaRPr lang="en-US" sz="850" dirty="0"/>
          </a:p>
          <a:p>
            <a:pPr algn="l" indent="0" marL="0">
              <a:lnSpc>
                <a:spcPts val="1232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P7 · P1 오늘 돌파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7785199" y="736550"/>
            <a:ext cx="1015901" cy="1015901"/>
          </a:xfrm>
          <a:prstGeom prst="roundRect">
            <a:avLst>
              <a:gd name="adj" fmla="val 90009"/>
            </a:avLst>
          </a:prstGeom>
          <a:solidFill>
            <a:srgbClr val="1A1500"/>
          </a:solidFill>
          <a:ln w="76200">
            <a:solidFill>
              <a:srgbClr val="F5A62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7989540" y="1000125"/>
            <a:ext cx="607219" cy="241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9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4.85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8191290" y="1266676"/>
            <a:ext cx="20357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/ 5.0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8125255" y="1384102"/>
            <a:ext cx="33564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종합 평가</a:t>
            </a:r>
            <a:endParaRPr lang="en-US" sz="600" dirty="0"/>
          </a:p>
        </p:txBody>
      </p:sp>
      <p:sp>
        <p:nvSpPr>
          <p:cNvPr id="25" name="Text 23"/>
          <p:cNvSpPr/>
          <p:nvPr/>
        </p:nvSpPr>
        <p:spPr>
          <a:xfrm>
            <a:off x="7758857" y="1828651"/>
            <a:ext cx="1068437" cy="228600"/>
          </a:xfrm>
          <a:prstGeom prst="roundRect">
            <a:avLst>
              <a:gd name="adj" fmla="val 55555"/>
            </a:avLst>
          </a:prstGeom>
          <a:solidFill>
            <a:srgbClr val="0A2A0A"/>
          </a:solidFill>
          <a:ln w="9525">
            <a:solidFill>
              <a:srgbClr val="00E67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7874474" y="1876276"/>
            <a:ext cx="83720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E67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↑ +0.03 P2 복구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7848969" y="2133451"/>
            <a:ext cx="88836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전일 4.82 → 오늘 4.85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0" y="4803874"/>
            <a:ext cx="9144000" cy="339626"/>
          </a:xfrm>
          <a:prstGeom prst="rect">
            <a:avLst/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0" y="4813399"/>
            <a:ext cx="9144000" cy="0"/>
          </a:xfrm>
          <a:prstGeom prst="line">
            <a:avLst/>
          </a:prstGeom>
          <a:noFill/>
          <a:ln w="19050">
            <a:solidFill>
              <a:srgbClr val="00E67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2713" y="4914156"/>
            <a:ext cx="5522047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8"/>
              </a:lnSpc>
              <a:buNone/>
            </a:pPr>
            <a:r>
              <a:rPr lang="en-US" sz="750" dirty="0">
                <a:solidFill>
                  <a:srgbClr val="C9D1D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아침 P2 JSON truncation </a:t>
            </a:r>
            <a:pPr algn="l" indent="0" marL="0">
              <a:lnSpc>
                <a:spcPts val="1088"/>
              </a:lnSpc>
              <a:buNone/>
            </a:pPr>
            <a:r>
              <a:rPr lang="en-US" sz="750" b="1" dirty="0">
                <a:solidFill>
                  <a:srgbClr val="00E67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직접 복구 완료</a:t>
            </a:r>
            <a:pPr algn="l" indent="0" marL="0">
              <a:lnSpc>
                <a:spcPts val="1088"/>
              </a:lnSpc>
              <a:buNone/>
            </a:pPr>
            <a:r>
              <a:rPr lang="en-US" sz="750" dirty="0">
                <a:solidFill>
                  <a:srgbClr val="C9D1D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— 영입 회의 즉시 활용 페이지 </a:t>
            </a:r>
            <a:pPr algn="l" indent="0" marL="0">
              <a:lnSpc>
                <a:spcPts val="1088"/>
              </a:lnSpc>
              <a:buNone/>
            </a:pPr>
            <a:r>
              <a:rPr lang="en-US" sz="750" b="1" dirty="0">
                <a:solidFill>
                  <a:srgbClr val="00E67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 → 9개</a:t>
            </a:r>
            <a:pPr algn="l" indent="0" marL="0">
              <a:lnSpc>
                <a:spcPts val="1088"/>
              </a:lnSpc>
              <a:buNone/>
            </a:pPr>
            <a:r>
              <a:rPr lang="en-US" sz="750" dirty="0">
                <a:solidFill>
                  <a:srgbClr val="C9D1D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달성. 포트폴리오 시연 준비 개시 수준.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3048000" cy="38100"/>
          </a:xfrm>
          <a:prstGeom prst="rect">
            <a:avLst/>
          </a:prstGeom>
          <a:solidFill>
            <a:srgbClr val="E945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048000" y="0"/>
            <a:ext cx="3048000" cy="38100"/>
          </a:xfrm>
          <a:prstGeom prst="rect">
            <a:avLst/>
          </a:prstGeom>
          <a:solidFill>
            <a:srgbClr val="F5A62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0" y="0"/>
            <a:ext cx="3048000" cy="38100"/>
          </a:xfrm>
          <a:prstGeom prst="rect">
            <a:avLst/>
          </a:prstGeom>
          <a:solidFill>
            <a:srgbClr val="00D4A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04800" y="114300"/>
            <a:ext cx="1833649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12개 모델 성능 현황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943600" y="209550"/>
            <a:ext cx="295351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2026-05-12 · </a:t>
            </a:r>
            <a:pPr algn="l" indent="0" marL="0">
              <a:buNone/>
            </a:pPr>
            <a:r>
              <a:rPr lang="en-US" sz="750" dirty="0">
                <a:solidFill>
                  <a:srgbClr val="00E67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P2 JSON 오늘 아침 직접 복구</a:t>
            </a:r>
            <a:pPr algn="l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· P1·P7 5일 연속 미달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304800" y="393650"/>
            <a:ext cx="2076450" cy="463748"/>
          </a:xfrm>
          <a:prstGeom prst="roundRect">
            <a:avLst>
              <a:gd name="adj" fmla="val 13693"/>
            </a:avLst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304800" y="407938"/>
            <a:ext cx="2076450" cy="0"/>
          </a:xfrm>
          <a:prstGeom prst="line">
            <a:avLst/>
          </a:prstGeom>
          <a:noFill/>
          <a:ln w="28575">
            <a:solidFill>
              <a:srgbClr val="00D4A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57450" y="393650"/>
            <a:ext cx="2076450" cy="463748"/>
          </a:xfrm>
          <a:prstGeom prst="roundRect">
            <a:avLst>
              <a:gd name="adj" fmla="val 13693"/>
            </a:avLst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2457450" y="407938"/>
            <a:ext cx="2076450" cy="0"/>
          </a:xfrm>
          <a:prstGeom prst="line">
            <a:avLst/>
          </a:prstGeom>
          <a:noFill/>
          <a:ln w="28575">
            <a:solidFill>
              <a:srgbClr val="2ECC7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10100" y="393650"/>
            <a:ext cx="2076450" cy="463748"/>
          </a:xfrm>
          <a:prstGeom prst="roundRect">
            <a:avLst>
              <a:gd name="adj" fmla="val 13693"/>
            </a:avLst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4610100" y="407938"/>
            <a:ext cx="2076450" cy="0"/>
          </a:xfrm>
          <a:prstGeom prst="line">
            <a:avLst/>
          </a:prstGeom>
          <a:noFill/>
          <a:ln w="28575">
            <a:solidFill>
              <a:srgbClr val="F5A62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62750" y="393650"/>
            <a:ext cx="2076450" cy="463748"/>
          </a:xfrm>
          <a:prstGeom prst="roundRect">
            <a:avLst>
              <a:gd name="adj" fmla="val 13693"/>
            </a:avLst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6762750" y="407938"/>
            <a:ext cx="2076450" cy="0"/>
          </a:xfrm>
          <a:prstGeom prst="line">
            <a:avLst/>
          </a:prstGeom>
          <a:noFill/>
          <a:ln w="28575">
            <a:solidFill>
              <a:srgbClr val="E945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0" y="4775895"/>
            <a:ext cx="9144000" cy="367605"/>
          </a:xfrm>
          <a:prstGeom prst="rect">
            <a:avLst/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0" y="4780657"/>
            <a:ext cx="9144000" cy="0"/>
          </a:xfrm>
          <a:prstGeom prst="line">
            <a:avLst/>
          </a:prstGeom>
          <a:noFill/>
          <a:ln w="9525">
            <a:solidFill>
              <a:srgbClr val="1E253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4800" y="4848820"/>
            <a:ext cx="4050756" cy="2312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buNone/>
            </a:pPr>
            <a:r>
              <a:rPr lang="en-US" sz="65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P7 비고:</a:t>
            </a:r>
            <a:pPr algn="l" indent="0" marL="0">
              <a:lnSpc>
                <a:spcPts val="910"/>
              </a:lnSpc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v2(0.54)→v3(0.6089)→v5(0.586). val R²=0.6395 — 포지션 분리 코드 미삽입이 원인. 알고리즘 문제 없음.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4428530" y="4848820"/>
            <a:ext cx="2373922" cy="2312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buNone/>
            </a:pPr>
            <a:r>
              <a:rPr lang="en-US" sz="65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P1 비고:</a:t>
            </a:r>
            <a:pPr algn="l" indent="0" marL="0">
              <a:lnSpc>
                <a:spcPts val="910"/>
              </a:lnSpc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49개 피처 사용 중, ELO trend · RobustScaler 미적용 상태.</a:t>
            </a:r>
            <a:endParaRPr lang="en-US" sz="650" dirty="0"/>
          </a:p>
        </p:txBody>
      </p:sp>
      <p:sp>
        <p:nvSpPr>
          <p:cNvPr id="19" name="Text 17"/>
          <p:cNvSpPr/>
          <p:nvPr/>
        </p:nvSpPr>
        <p:spPr>
          <a:xfrm>
            <a:off x="6908304" y="4848820"/>
            <a:ext cx="1969514" cy="2312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buNone/>
            </a:pPr>
            <a:r>
              <a:rPr lang="en-US" sz="650" b="1" dirty="0">
                <a:solidFill>
                  <a:srgbClr val="00E67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P2:</a:t>
            </a:r>
            <a:pPr algn="l" indent="0" marL="0">
              <a:lnSpc>
                <a:spcPts val="910"/>
              </a:lnSpc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오늘 아침 직접 복구 완료 — 대시보드 파싱 오류 해결.</a:t>
            </a:r>
            <a:endParaRPr lang="en-US" sz="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3048000" cy="38100"/>
          </a:xfrm>
          <a:prstGeom prst="rect">
            <a:avLst/>
          </a:prstGeom>
          <a:solidFill>
            <a:srgbClr val="E945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048000" y="0"/>
            <a:ext cx="3048000" cy="38100"/>
          </a:xfrm>
          <a:prstGeom prst="rect">
            <a:avLst/>
          </a:prstGeom>
          <a:solidFill>
            <a:srgbClr val="F5A62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0" y="0"/>
            <a:ext cx="3048000" cy="38100"/>
          </a:xfrm>
          <a:prstGeom prst="rect">
            <a:avLst/>
          </a:prstGeom>
          <a:solidFill>
            <a:srgbClr val="00D4A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04800" y="114300"/>
            <a:ext cx="4618202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어제(05-11) 달성·미달 + 오늘 아침 직접 수정 결과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604272" y="209550"/>
            <a:ext cx="329962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어제 3개 항목 전부 미달 — 오늘 아침 P2 직접 복구로 활용 페이지 9개 확보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304800" y="419100"/>
            <a:ext cx="2777133" cy="3352800"/>
          </a:xfrm>
          <a:prstGeom prst="roundRect">
            <a:avLst>
              <a:gd name="adj" fmla="val 3201"/>
            </a:avLst>
          </a:prstGeom>
          <a:solidFill>
            <a:srgbClr val="2A0A0A"/>
          </a:solidFill>
          <a:ln w="19050">
            <a:solidFill>
              <a:srgbClr val="E9456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56630" y="565100"/>
            <a:ext cx="154825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섹션 A — 어제(05-11) 미달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63451" y="815727"/>
            <a:ext cx="250902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3개 항목 전부 미달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63451" y="1041053"/>
            <a:ext cx="2459831" cy="720923"/>
          </a:xfrm>
          <a:prstGeom prst="roundRect">
            <a:avLst>
              <a:gd name="adj" fmla="val 7047"/>
            </a:avLst>
          </a:prstGeom>
          <a:solidFill>
            <a:srgbClr val="000000">
              <a:alpha val="2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64952" y="1123504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1E0000"/>
          </a:solidFill>
          <a:ln w="9525">
            <a:solidFill>
              <a:srgbClr val="E9456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56952" y="1117253"/>
            <a:ext cx="134711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5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P7 v5.1 포지션 분리 구현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856952" y="1428304"/>
            <a:ext cx="1347115" cy="2574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5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success=true이나 </a:t>
            </a:r>
            <a:pPr algn="l" indent="0" marL="0">
              <a:lnSpc>
                <a:spcPts val="1015"/>
              </a:lnSpc>
              <a:buNone/>
            </a:pPr>
            <a:r>
              <a:rPr lang="en-US" sz="70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코드 미반영</a:t>
            </a:r>
            <a:pPr algn="l" indent="0" marL="0">
              <a:lnSpc>
                <a:spcPts val="1015"/>
              </a:lnSpc>
              <a:buNone/>
            </a:pPr>
            <a:endParaRPr lang="en-US" sz="700" dirty="0"/>
          </a:p>
          <a:p>
            <a:pPr algn="l" indent="0" marL="0">
              <a:lnSpc>
                <a:spcPts val="1015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R²=0.586 동일 (5일 연속)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463451" y="1876127"/>
            <a:ext cx="2459831" cy="578048"/>
          </a:xfrm>
          <a:prstGeom prst="roundRect">
            <a:avLst>
              <a:gd name="adj" fmla="val 8788"/>
            </a:avLst>
          </a:prstGeom>
          <a:solidFill>
            <a:srgbClr val="000000">
              <a:alpha val="2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64952" y="1958578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1E0000"/>
          </a:solidFill>
          <a:ln w="9525">
            <a:solidFill>
              <a:srgbClr val="E9456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856952" y="1952327"/>
            <a:ext cx="134711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5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P1 피처 추가 및 재학습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856952" y="2120503"/>
            <a:ext cx="1347115" cy="2574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5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success=true이나 </a:t>
            </a:r>
            <a:pPr algn="l" indent="0" marL="0">
              <a:lnSpc>
                <a:spcPts val="1015"/>
              </a:lnSpc>
              <a:buNone/>
            </a:pPr>
            <a:r>
              <a:rPr lang="en-US" sz="70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코드 미반영</a:t>
            </a:r>
            <a:pPr algn="l" indent="0" marL="0">
              <a:lnSpc>
                <a:spcPts val="1015"/>
              </a:lnSpc>
              <a:buNone/>
            </a:pPr>
            <a:endParaRPr lang="en-US" sz="700" dirty="0"/>
          </a:p>
          <a:p>
            <a:pPr algn="l" indent="0" marL="0">
              <a:lnSpc>
                <a:spcPts val="1015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Acc=54.79% 동일 (5일 연속)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463451" y="2568327"/>
            <a:ext cx="2459831" cy="849660"/>
          </a:xfrm>
          <a:prstGeom prst="roundRect">
            <a:avLst>
              <a:gd name="adj" fmla="val 5979"/>
            </a:avLst>
          </a:prstGeom>
          <a:solidFill>
            <a:srgbClr val="000000">
              <a:alpha val="2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64952" y="2650778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1E0000"/>
          </a:solidFill>
          <a:ln w="9525">
            <a:solidFill>
              <a:srgbClr val="E9456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856952" y="2644527"/>
            <a:ext cx="146051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5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P2 JSON encoder 오류 수정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856952" y="2955578"/>
            <a:ext cx="1460513" cy="3862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5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success=false — </a:t>
            </a:r>
            <a:pPr algn="l" indent="0" marL="0">
              <a:lnSpc>
                <a:spcPts val="1015"/>
              </a:lnSpc>
              <a:buNone/>
            </a:pPr>
            <a:r>
              <a:rPr lang="en-US" sz="70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JSON encoder 오류</a:t>
            </a:r>
            <a:pPr algn="l" indent="0" marL="0">
              <a:lnSpc>
                <a:spcPts val="1015"/>
              </a:lnSpc>
              <a:buNone/>
            </a:pPr>
            <a:endParaRPr lang="en-US" sz="700" dirty="0"/>
          </a:p>
          <a:p>
            <a:pPr algn="l" indent="0" marL="0">
              <a:lnSpc>
                <a:spcPts val="1015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파일 미생성 상태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3183434" y="419100"/>
            <a:ext cx="2777133" cy="3352800"/>
          </a:xfrm>
          <a:prstGeom prst="roundRect">
            <a:avLst>
              <a:gd name="adj" fmla="val 3201"/>
            </a:avLst>
          </a:prstGeom>
          <a:solidFill>
            <a:srgbClr val="0A2A0A"/>
          </a:solidFill>
          <a:ln w="19050">
            <a:solidFill>
              <a:srgbClr val="00E67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3535263" y="565100"/>
            <a:ext cx="134119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E67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섹션 B — 오늘 아침 완료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342084" y="815727"/>
            <a:ext cx="250902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미팅 중 직접 처리 완료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3342084" y="1041053"/>
            <a:ext cx="2459831" cy="978396"/>
          </a:xfrm>
          <a:prstGeom prst="roundRect">
            <a:avLst>
              <a:gd name="adj" fmla="val 5192"/>
            </a:avLst>
          </a:prstGeom>
          <a:solidFill>
            <a:srgbClr val="000000">
              <a:alpha val="2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3443585" y="1123504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001E00"/>
          </a:solidFill>
          <a:ln w="9525">
            <a:solidFill>
              <a:srgbClr val="00E67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3735586" y="1117253"/>
            <a:ext cx="154461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5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P2 JSON truncation 직접 복구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735586" y="1428304"/>
            <a:ext cx="1544613" cy="5149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5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json.load() 파싱 성공
</a:t>
            </a:r>
            <a:pPr algn="l" indent="0" marL="0">
              <a:lnSpc>
                <a:spcPts val="1015"/>
              </a:lnSpc>
              <a:buNone/>
            </a:pPr>
            <a:r>
              <a:rPr lang="en-US" sz="700" b="1" dirty="0">
                <a:solidFill>
                  <a:srgbClr val="00E67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R²=0.8877 · MAE=0.96골</a:t>
            </a:r>
            <a:pPr algn="l" indent="0" marL="0">
              <a:lnSpc>
                <a:spcPts val="1015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정상 확인</a:t>
            </a:r>
            <a:endParaRPr lang="en-US" sz="700" dirty="0"/>
          </a:p>
          <a:p>
            <a:pPr algn="l" indent="0" marL="0">
              <a:lnSpc>
                <a:spcPts val="1015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대시보드 P2 파싱 오류 해결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3342084" y="2819698"/>
            <a:ext cx="2459831" cy="806202"/>
          </a:xfrm>
          <a:prstGeom prst="roundRect">
            <a:avLst>
              <a:gd name="adj" fmla="val 7876"/>
            </a:avLst>
          </a:prstGeom>
          <a:solidFill>
            <a:srgbClr val="00E676">
              <a:alpha val="7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3469035" y="2921198"/>
            <a:ext cx="225004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00E67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영입 회의 즉시 활용 페이지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062067" y="419100"/>
            <a:ext cx="2777133" cy="3352800"/>
          </a:xfrm>
          <a:prstGeom prst="roundRect">
            <a:avLst>
              <a:gd name="adj" fmla="val 3201"/>
            </a:avLst>
          </a:prstGeom>
          <a:solidFill>
            <a:srgbClr val="0F2040"/>
          </a:solidFill>
          <a:ln w="19050">
            <a:solidFill>
              <a:srgbClr val="1A4A8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6422082" y="565100"/>
            <a:ext cx="106415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8A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섹션 C — 근본 원인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220718" y="815727"/>
            <a:ext cx="250902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5일 연속 실패 원인 분석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6220718" y="1041053"/>
            <a:ext cx="250902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원인 1: 구조 문제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220718" y="1199704"/>
            <a:ext cx="2509028" cy="2574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5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GitHub Actions 워크플로가 기존 스크립트를 </a:t>
            </a:r>
            <a:pPr algn="l" indent="0" marL="0">
              <a:lnSpc>
                <a:spcPts val="1015"/>
              </a:lnSpc>
              <a:buNone/>
            </a:pPr>
            <a:r>
              <a:rPr lang="en-US" sz="700" b="1" dirty="0">
                <a:solidFill>
                  <a:srgbClr val="C0C8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재실행하는 구조</a:t>
            </a:r>
            <a:pPr algn="l" indent="0" marL="0">
              <a:lnSpc>
                <a:spcPts val="1015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— 코드 수정 없이 실행하면 결과 동일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6220718" y="1609427"/>
            <a:ext cx="250902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원인 2: 판단 기준 문제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220718" y="1768078"/>
            <a:ext cx="2509028" cy="2574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5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dev_result.json의 success:true 판단이 </a:t>
            </a:r>
            <a:pPr algn="l" indent="0" marL="0">
              <a:lnSpc>
                <a:spcPts val="1015"/>
              </a:lnSpc>
              <a:buNone/>
            </a:pPr>
            <a:r>
              <a:rPr lang="en-US" sz="700" b="1" dirty="0">
                <a:solidFill>
                  <a:srgbClr val="C0C8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"스크립트 종료 코드 0"</a:t>
            </a:r>
            <a:pPr algn="l" indent="0" marL="0">
              <a:lnSpc>
                <a:spcPts val="1015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— 목표 지표 달성 여부와 무관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6220718" y="3087291"/>
            <a:ext cx="2459831" cy="538609"/>
          </a:xfrm>
          <a:prstGeom prst="rect">
            <a:avLst/>
          </a:prstGeom>
          <a:solidFill>
            <a:srgbClr val="000000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Shape 37"/>
          <p:cNvSpPr/>
          <p:nvPr/>
        </p:nvSpPr>
        <p:spPr>
          <a:xfrm>
            <a:off x="6235005" y="3087291"/>
            <a:ext cx="0" cy="538609"/>
          </a:xfrm>
          <a:prstGeom prst="line">
            <a:avLst/>
          </a:prstGeom>
          <a:noFill/>
          <a:ln w="28575">
            <a:solidFill>
              <a:srgbClr val="F5A62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50794" y="3163491"/>
            <a:ext cx="2272820" cy="3862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5"/>
              </a:lnSpc>
              <a:buNone/>
            </a:pPr>
            <a:r>
              <a:rPr lang="en-US" sz="700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전략: train_v5_1.py · train_pipeline.py 파일에</a:t>
            </a:r>
            <a:endParaRPr lang="en-US" sz="700" dirty="0"/>
          </a:p>
          <a:p>
            <a:pPr algn="l" indent="0" marL="0">
              <a:lnSpc>
                <a:spcPts val="1015"/>
              </a:lnSpc>
              <a:buNone/>
            </a:pPr>
            <a:r>
              <a:rPr lang="en-US" sz="700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코드 블록 직접 작성 (스크립트 실행 ≠ 코드 작성)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0" y="4799409"/>
            <a:ext cx="9144000" cy="344091"/>
          </a:xfrm>
          <a:prstGeom prst="rect">
            <a:avLst/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Shape 40"/>
          <p:cNvSpPr/>
          <p:nvPr/>
        </p:nvSpPr>
        <p:spPr>
          <a:xfrm>
            <a:off x="0" y="4808934"/>
            <a:ext cx="9144000" cy="0"/>
          </a:xfrm>
          <a:prstGeom prst="line">
            <a:avLst/>
          </a:prstGeom>
          <a:noFill/>
          <a:ln w="19050">
            <a:solidFill>
              <a:srgbClr val="F5A62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04800" y="4907310"/>
            <a:ext cx="5439466" cy="14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8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핵심:</a:t>
            </a:r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C0C8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P7 val R²=0.6395 — 실제 코드 반영 시 목표 달성 가능. 오늘은 </a:t>
            </a:r>
            <a:pPr algn="l" indent="0" marL="0">
              <a:lnSpc>
                <a:spcPts val="1160"/>
              </a:lnSpc>
              <a:buNone/>
            </a:pPr>
            <a:r>
              <a:rPr lang="en-US" sz="800" b="1" dirty="0">
                <a:solidFill>
                  <a:srgbClr val="00E67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코드 파일 직접 수정 + 커밋</a:t>
            </a:r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C0C8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으로만 마감 처리.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3048000" cy="38100"/>
          </a:xfrm>
          <a:prstGeom prst="rect">
            <a:avLst/>
          </a:prstGeom>
          <a:solidFill>
            <a:srgbClr val="E945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048000" y="0"/>
            <a:ext cx="3048000" cy="38100"/>
          </a:xfrm>
          <a:prstGeom prst="rect">
            <a:avLst/>
          </a:prstGeom>
          <a:solidFill>
            <a:srgbClr val="F5A62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0" y="0"/>
            <a:ext cx="3048000" cy="38100"/>
          </a:xfrm>
          <a:prstGeom prst="rect">
            <a:avLst/>
          </a:prstGeom>
          <a:solidFill>
            <a:srgbClr val="00D4A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04800" y="114300"/>
            <a:ext cx="3708437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액션아이템 Top 3 — 코드 직접 작성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858470" y="209550"/>
            <a:ext cx="304034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스크립트 실행이 아닌 파일에 코드 블록 직접 작성 — P7·P1 오늘 돌파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304800" y="419100"/>
            <a:ext cx="2777133" cy="4038600"/>
          </a:xfrm>
          <a:prstGeom prst="roundRect">
            <a:avLst>
              <a:gd name="adj" fmla="val 3658"/>
            </a:avLst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304800" y="438150"/>
            <a:ext cx="2777133" cy="0"/>
          </a:xfrm>
          <a:prstGeom prst="line">
            <a:avLst/>
          </a:prstGeom>
          <a:noFill/>
          <a:ln w="38100">
            <a:solidFill>
              <a:srgbClr val="F5A62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4401" y="853678"/>
            <a:ext cx="254789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58A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Marcus Webb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44401" y="1021854"/>
            <a:ext cx="2547890" cy="349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P7 v5.1 포지션 분리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모델 직접 구현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44401" y="1434405"/>
            <a:ext cx="2497931" cy="393502"/>
          </a:xfrm>
          <a:prstGeom prst="roundRect">
            <a:avLst>
              <a:gd name="adj" fmla="val 12910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33251" y="1497806"/>
            <a:ext cx="236663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현재: test R² 0.586 / val 0.6395
</a:t>
            </a:r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목표까지 −0.034 미달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444401" y="2030909"/>
            <a:ext cx="2497931" cy="88850"/>
          </a:xfrm>
          <a:prstGeom prst="roundRect">
            <a:avLst>
              <a:gd name="adj" fmla="val 57175"/>
            </a:avLst>
          </a:prstGeom>
          <a:solidFill>
            <a:srgbClr val="1E25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44401" y="2030909"/>
            <a:ext cx="2360414" cy="88850"/>
          </a:xfrm>
          <a:prstGeom prst="roundRect">
            <a:avLst>
              <a:gd name="adj" fmla="val 57175"/>
            </a:avLst>
          </a:prstGeom>
          <a:solidFill>
            <a:srgbClr val="F5A62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44401" y="2183160"/>
            <a:ext cx="2497931" cy="1614636"/>
          </a:xfrm>
          <a:prstGeom prst="roundRect">
            <a:avLst>
              <a:gd name="adj" fmla="val 3146"/>
            </a:avLst>
          </a:prstGeom>
          <a:solidFill>
            <a:srgbClr val="0D1117"/>
          </a:solidFill>
          <a:ln w="9525">
            <a:solidFill>
              <a:srgbClr val="1E253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42776" y="2256086"/>
            <a:ext cx="234720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650" b="1" dirty="0">
                <a:solidFill>
                  <a:srgbClr val="58A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코드 (train_v5_1.py)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542776" y="2408486"/>
            <a:ext cx="2301180" cy="6697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975"/>
              </a:lnSpc>
              <a:spcAft>
                <a:spcPts val="100"/>
              </a:spcAft>
              <a:buSzPct val="100000"/>
              <a:buChar char="•"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으로 FW / MID 데이터 분리</a:t>
            </a:r>
            <a:endParaRPr lang="en-US" sz="650" dirty="0"/>
          </a:p>
          <a:p>
            <a:pPr algn="l" marL="342900" indent="-342900">
              <a:lnSpc>
                <a:spcPts val="975"/>
              </a:lnSpc>
              <a:spcAft>
                <a:spcPts val="100"/>
              </a:spcAft>
              <a:buSzPct val="100000"/>
              <a:buChar char="•"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각 포지션별 독립 XGBoost 학습</a:t>
            </a:r>
            <a:endParaRPr lang="en-US" sz="650" dirty="0"/>
          </a:p>
          <a:p>
            <a:pPr algn="l" marL="342900" indent="-342900">
              <a:lnSpc>
                <a:spcPts val="975"/>
              </a:lnSpc>
              <a:spcAft>
                <a:spcPts val="100"/>
              </a:spcAft>
              <a:buSzPct val="100000"/>
              <a:buChar char="•"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피처 추가</a:t>
            </a:r>
            <a:endParaRPr lang="en-US" sz="650" dirty="0"/>
          </a:p>
          <a:p>
            <a:pPr algn="l" marL="342900" indent="-342900">
              <a:lnSpc>
                <a:spcPts val="975"/>
              </a:lnSpc>
              <a:spcAft>
                <a:spcPts val="100"/>
              </a:spcAft>
              <a:buSzPct val="100000"/>
              <a:buChar char="•"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포지션별 예측 결합 후 stacking</a:t>
            </a:r>
            <a:endParaRPr lang="en-US" sz="650" dirty="0"/>
          </a:p>
          <a:p>
            <a:pPr algn="l" marL="342900" indent="-342900">
              <a:lnSpc>
                <a:spcPts val="975"/>
              </a:lnSpc>
              <a:spcAft>
                <a:spcPts val="100"/>
              </a:spcAft>
              <a:buSzPct val="100000"/>
              <a:buChar char="•"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results_summary.json version:v5.1 업데이트 커밋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444401" y="3861197"/>
            <a:ext cx="2497931" cy="244376"/>
          </a:xfrm>
          <a:prstGeom prst="roundRect">
            <a:avLst>
              <a:gd name="adj" fmla="val 20788"/>
            </a:avLst>
          </a:prstGeom>
          <a:solidFill>
            <a:srgbClr val="0D1A24"/>
          </a:solidFill>
          <a:ln w="9525">
            <a:solidFill>
              <a:srgbClr val="1A4A8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42776" y="3921472"/>
            <a:ext cx="234720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58A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목표: test R² ≥ 0.62 / val-test 갭 ≤ 0.07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3183434" y="419100"/>
            <a:ext cx="2777133" cy="4038600"/>
          </a:xfrm>
          <a:prstGeom prst="roundRect">
            <a:avLst>
              <a:gd name="adj" fmla="val 3658"/>
            </a:avLst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3183434" y="438150"/>
            <a:ext cx="2777133" cy="0"/>
          </a:xfrm>
          <a:prstGeom prst="line">
            <a:avLst/>
          </a:prstGeom>
          <a:noFill/>
          <a:ln w="38100">
            <a:solidFill>
              <a:srgbClr val="C0C0C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23034" y="853678"/>
            <a:ext cx="254789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58A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Marcus Webb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3323034" y="1021854"/>
            <a:ext cx="2547890" cy="349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P1 피처 추가 및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재학습 (코드 직접 수정)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323034" y="1434405"/>
            <a:ext cx="2497931" cy="393502"/>
          </a:xfrm>
          <a:prstGeom prst="roundRect">
            <a:avLst>
              <a:gd name="adj" fmla="val 12910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3411885" y="1497806"/>
            <a:ext cx="236663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현재: Acc 54.79% / F1 40.65%
</a:t>
            </a:r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목표까지 −2.21%p 미달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323034" y="2030909"/>
            <a:ext cx="2497931" cy="88850"/>
          </a:xfrm>
          <a:prstGeom prst="roundRect">
            <a:avLst>
              <a:gd name="adj" fmla="val 57175"/>
            </a:avLst>
          </a:prstGeom>
          <a:solidFill>
            <a:srgbClr val="1E25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3323034" y="2030909"/>
            <a:ext cx="2400449" cy="88850"/>
          </a:xfrm>
          <a:prstGeom prst="roundRect">
            <a:avLst>
              <a:gd name="adj" fmla="val 57175"/>
            </a:avLst>
          </a:prstGeom>
          <a:solidFill>
            <a:srgbClr val="C0C0C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3323034" y="2183160"/>
            <a:ext cx="2497931" cy="1614636"/>
          </a:xfrm>
          <a:prstGeom prst="roundRect">
            <a:avLst>
              <a:gd name="adj" fmla="val 3146"/>
            </a:avLst>
          </a:prstGeom>
          <a:solidFill>
            <a:srgbClr val="0D1117"/>
          </a:solidFill>
          <a:ln w="9525">
            <a:solidFill>
              <a:srgbClr val="1E253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3421410" y="2256086"/>
            <a:ext cx="234720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650" b="1" dirty="0">
                <a:solidFill>
                  <a:srgbClr val="58A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코드 (train_pipeline.py)</a:t>
            </a:r>
            <a:endParaRPr lang="en-US" sz="650" dirty="0"/>
          </a:p>
        </p:txBody>
      </p:sp>
      <p:sp>
        <p:nvSpPr>
          <p:cNvPr id="30" name="Text 28"/>
          <p:cNvSpPr/>
          <p:nvPr/>
        </p:nvSpPr>
        <p:spPr>
          <a:xfrm>
            <a:off x="3421410" y="2408486"/>
            <a:ext cx="2301180" cy="6697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975"/>
              </a:lnSpc>
              <a:spcAft>
                <a:spcPts val="100"/>
              </a:spcAft>
              <a:buSzPct val="100000"/>
              <a:buChar char="•"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추가</a:t>
            </a:r>
            <a:endParaRPr lang="en-US" sz="650" dirty="0"/>
          </a:p>
          <a:p>
            <a:pPr algn="l" marL="342900" indent="-342900">
              <a:lnSpc>
                <a:spcPts val="975"/>
              </a:lnSpc>
              <a:spcAft>
                <a:spcPts val="100"/>
              </a:spcAft>
              <a:buSzPct val="100000"/>
              <a:buChar char="•"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추가</a:t>
            </a:r>
            <a:endParaRPr lang="en-US" sz="650" dirty="0"/>
          </a:p>
          <a:p>
            <a:pPr algn="l" marL="342900" indent="-342900">
              <a:lnSpc>
                <a:spcPts val="975"/>
              </a:lnSpc>
              <a:spcAft>
                <a:spcPts val="100"/>
              </a:spcAft>
              <a:buSzPct val="100000"/>
              <a:buChar char="•"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StandardScaler → </a:t>
            </a:r>
            <a:pPr algn="l" indent="0" marL="0">
              <a:lnSpc>
                <a:spcPts val="975"/>
              </a:lnSpc>
              <a:spcAft>
                <a:spcPts val="100"/>
              </a:spcAft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교체</a:t>
            </a:r>
            <a:endParaRPr lang="en-US" sz="650" dirty="0"/>
          </a:p>
          <a:p>
            <a:pPr algn="l" marL="342900" indent="-342900">
              <a:lnSpc>
                <a:spcPts val="975"/>
              </a:lnSpc>
              <a:spcAft>
                <a:spcPts val="100"/>
              </a:spcAft>
              <a:buSzPct val="100000"/>
              <a:buChar char="•"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/ </a:t>
            </a:r>
            <a:pPr algn="l" indent="0" marL="0">
              <a:lnSpc>
                <a:spcPts val="975"/>
              </a:lnSpc>
              <a:spcAft>
                <a:spcPts val="100"/>
              </a:spcAft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/</a:t>
            </a:r>
            <a:endParaRPr lang="en-US" sz="650" dirty="0"/>
          </a:p>
          <a:p>
            <a:pPr algn="l" marL="342900" indent="-342900">
              <a:lnSpc>
                <a:spcPts val="975"/>
              </a:lnSpc>
              <a:spcAft>
                <a:spcPts val="100"/>
              </a:spcAft>
              <a:buSzPct val="100000"/>
              <a:buChar char="•"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수정 완료 후 학습 실행 및 커밋</a:t>
            </a:r>
            <a:endParaRPr lang="en-US" sz="650" dirty="0"/>
          </a:p>
        </p:txBody>
      </p:sp>
      <p:sp>
        <p:nvSpPr>
          <p:cNvPr id="31" name="Text 29"/>
          <p:cNvSpPr/>
          <p:nvPr/>
        </p:nvSpPr>
        <p:spPr>
          <a:xfrm>
            <a:off x="3323034" y="3861197"/>
            <a:ext cx="2497931" cy="244376"/>
          </a:xfrm>
          <a:prstGeom prst="roundRect">
            <a:avLst>
              <a:gd name="adj" fmla="val 20788"/>
            </a:avLst>
          </a:prstGeom>
          <a:solidFill>
            <a:srgbClr val="0D1A24"/>
          </a:solidFill>
          <a:ln w="9525">
            <a:solidFill>
              <a:srgbClr val="1A4A8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3421410" y="3921472"/>
            <a:ext cx="234720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58A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목표: XGBoost test Acc ≥ 57%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6062067" y="419100"/>
            <a:ext cx="2777133" cy="4038600"/>
          </a:xfrm>
          <a:prstGeom prst="roundRect">
            <a:avLst>
              <a:gd name="adj" fmla="val 3658"/>
            </a:avLst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Shape 32"/>
          <p:cNvSpPr/>
          <p:nvPr/>
        </p:nvSpPr>
        <p:spPr>
          <a:xfrm>
            <a:off x="6062067" y="438150"/>
            <a:ext cx="2777133" cy="0"/>
          </a:xfrm>
          <a:prstGeom prst="line">
            <a:avLst/>
          </a:prstGeom>
          <a:noFill/>
          <a:ln w="38100">
            <a:solidFill>
              <a:srgbClr val="CD7F3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01668" y="853678"/>
            <a:ext cx="254789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58A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Marcus Webb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6201668" y="1021854"/>
            <a:ext cx="2547890" cy="349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dev_result.json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성공 판단 로직 강화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201668" y="1434405"/>
            <a:ext cx="2497931" cy="393502"/>
          </a:xfrm>
          <a:prstGeom prst="roundRect">
            <a:avLst>
              <a:gd name="adj" fmla="val 12910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6290518" y="1497806"/>
            <a:ext cx="236663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현재: 종료코드 0 = success:true
</a:t>
            </a:r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목표 지표 달성 여부와 무관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6201668" y="1891308"/>
            <a:ext cx="2497931" cy="1801713"/>
          </a:xfrm>
          <a:prstGeom prst="roundRect">
            <a:avLst>
              <a:gd name="adj" fmla="val 2820"/>
            </a:avLst>
          </a:prstGeom>
          <a:solidFill>
            <a:srgbClr val="0D1117"/>
          </a:solidFill>
          <a:ln w="9525">
            <a:solidFill>
              <a:srgbClr val="1E253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6300043" y="1964234"/>
            <a:ext cx="234720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650" b="1" dirty="0">
                <a:solidFill>
                  <a:srgbClr val="58A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변경 (GitHub Actions + 생성 로직)</a:t>
            </a:r>
            <a:endParaRPr lang="en-US" sz="650" dirty="0"/>
          </a:p>
        </p:txBody>
      </p:sp>
      <p:sp>
        <p:nvSpPr>
          <p:cNvPr id="41" name="Text 39"/>
          <p:cNvSpPr/>
          <p:nvPr/>
        </p:nvSpPr>
        <p:spPr>
          <a:xfrm>
            <a:off x="6300043" y="2116634"/>
            <a:ext cx="2301180" cy="6697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975"/>
              </a:lnSpc>
              <a:spcAft>
                <a:spcPts val="100"/>
              </a:spcAft>
              <a:buSzPct val="100000"/>
              <a:buChar char="•"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results_summary.json 목표 지표 임계값 체크 추가</a:t>
            </a:r>
            <a:endParaRPr lang="en-US" sz="650" dirty="0"/>
          </a:p>
          <a:p>
            <a:pPr algn="l" marL="342900" indent="-342900">
              <a:lnSpc>
                <a:spcPts val="975"/>
              </a:lnSpc>
              <a:spcAft>
                <a:spcPts val="100"/>
              </a:spcAft>
              <a:buSzPct val="100000"/>
              <a:buChar char="•"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P7: R² ≥ 0.60 달성 시에만</a:t>
            </a:r>
            <a:endParaRPr lang="en-US" sz="650" dirty="0"/>
          </a:p>
          <a:p>
            <a:pPr algn="l" marL="342900" indent="-342900">
              <a:lnSpc>
                <a:spcPts val="975"/>
              </a:lnSpc>
              <a:spcAft>
                <a:spcPts val="100"/>
              </a:spcAft>
              <a:buSzPct val="100000"/>
              <a:buChar char="•"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P1: Acc ≥ 0.57 달성 시에만</a:t>
            </a:r>
            <a:endParaRPr lang="en-US" sz="650" dirty="0"/>
          </a:p>
          <a:p>
            <a:pPr algn="l" marL="342900" indent="-342900">
              <a:lnSpc>
                <a:spcPts val="975"/>
              </a:lnSpc>
              <a:spcAft>
                <a:spcPts val="100"/>
              </a:spcAft>
              <a:buSzPct val="100000"/>
              <a:buChar char="•"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 실제 지표값 기록 형식으로 개선</a:t>
            </a:r>
            <a:endParaRPr lang="en-US" sz="650" dirty="0"/>
          </a:p>
          <a:p>
            <a:pPr algn="l" marL="342900" indent="-342900">
              <a:lnSpc>
                <a:spcPts val="975"/>
              </a:lnSpc>
              <a:spcAft>
                <a:spcPts val="100"/>
              </a:spcAft>
              <a:buSzPct val="100000"/>
              <a:buChar char="•"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허위 양성 방지 — 진짜 달성 여부 반영</a:t>
            </a:r>
            <a:endParaRPr lang="en-US" sz="650" dirty="0"/>
          </a:p>
        </p:txBody>
      </p:sp>
      <p:sp>
        <p:nvSpPr>
          <p:cNvPr id="42" name="Text 40"/>
          <p:cNvSpPr/>
          <p:nvPr/>
        </p:nvSpPr>
        <p:spPr>
          <a:xfrm>
            <a:off x="6201668" y="3756422"/>
            <a:ext cx="2497931" cy="349151"/>
          </a:xfrm>
          <a:prstGeom prst="roundRect">
            <a:avLst>
              <a:gd name="adj" fmla="val 14550"/>
            </a:avLst>
          </a:prstGeom>
          <a:solidFill>
            <a:srgbClr val="0D1A24"/>
          </a:solidFill>
          <a:ln w="9525">
            <a:solidFill>
              <a:srgbClr val="1A4A8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6300043" y="3816697"/>
            <a:ext cx="23472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58A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목표: 수치 임계값 달성 여부가 반영된 dev_result.json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0" y="4543276"/>
            <a:ext cx="9144000" cy="600224"/>
          </a:xfrm>
          <a:prstGeom prst="rect">
            <a:avLst/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Shape 43"/>
          <p:cNvSpPr/>
          <p:nvPr/>
        </p:nvSpPr>
        <p:spPr>
          <a:xfrm>
            <a:off x="0" y="4548039"/>
            <a:ext cx="9144000" cy="0"/>
          </a:xfrm>
          <a:prstGeom prst="line">
            <a:avLst/>
          </a:prstGeom>
          <a:noFill/>
          <a:ln w="9525">
            <a:solidFill>
              <a:srgbClr val="1E253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04800" y="4781401"/>
            <a:ext cx="65063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예상 점수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1069628" y="4616202"/>
            <a:ext cx="1885206" cy="463897"/>
          </a:xfrm>
          <a:prstGeom prst="roundRect">
            <a:avLst>
              <a:gd name="adj" fmla="val 10951"/>
            </a:avLst>
          </a:prstGeom>
          <a:solidFill>
            <a:srgbClr val="1A1400"/>
          </a:solidFill>
          <a:ln w="9525">
            <a:solidFill>
              <a:srgbClr val="F5A62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1125160" y="4670078"/>
            <a:ext cx="177414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3개 완전 달성</a:t>
            </a:r>
            <a:endParaRPr lang="en-US" sz="650" dirty="0"/>
          </a:p>
        </p:txBody>
      </p:sp>
      <p:sp>
        <p:nvSpPr>
          <p:cNvPr id="49" name="Text 47"/>
          <p:cNvSpPr/>
          <p:nvPr/>
        </p:nvSpPr>
        <p:spPr>
          <a:xfrm>
            <a:off x="1125160" y="4784378"/>
            <a:ext cx="17741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5.0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1125160" y="4927253"/>
            <a:ext cx="1774141" cy="98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80"/>
              </a:lnSpc>
              <a:buNone/>
            </a:pPr>
            <a:r>
              <a:rPr lang="en-US" sz="6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P7+P1+로직 강화</a:t>
            </a:r>
            <a:endParaRPr lang="en-US" sz="600" dirty="0"/>
          </a:p>
        </p:txBody>
      </p:sp>
      <p:sp>
        <p:nvSpPr>
          <p:cNvPr id="51" name="Text 49"/>
          <p:cNvSpPr/>
          <p:nvPr/>
        </p:nvSpPr>
        <p:spPr>
          <a:xfrm>
            <a:off x="3031034" y="4616202"/>
            <a:ext cx="1885355" cy="463897"/>
          </a:xfrm>
          <a:prstGeom prst="roundRect">
            <a:avLst>
              <a:gd name="adj" fmla="val 10951"/>
            </a:avLst>
          </a:prstGeom>
          <a:solidFill>
            <a:srgbClr val="0D1525"/>
          </a:solidFill>
          <a:ln w="9525">
            <a:solidFill>
              <a:srgbClr val="1E253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3086564" y="4670078"/>
            <a:ext cx="177429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P7+P1 달성</a:t>
            </a:r>
            <a:endParaRPr lang="en-US" sz="650" dirty="0"/>
          </a:p>
        </p:txBody>
      </p:sp>
      <p:sp>
        <p:nvSpPr>
          <p:cNvPr id="53" name="Text 51"/>
          <p:cNvSpPr/>
          <p:nvPr/>
        </p:nvSpPr>
        <p:spPr>
          <a:xfrm>
            <a:off x="3086564" y="4784378"/>
            <a:ext cx="177429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4.97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3086564" y="4927253"/>
            <a:ext cx="1774293" cy="98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80"/>
              </a:lnSpc>
              <a:buNone/>
            </a:pPr>
            <a:r>
              <a:rPr lang="en-US" sz="6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로직 미완</a:t>
            </a:r>
            <a:endParaRPr lang="en-US" sz="600" dirty="0"/>
          </a:p>
        </p:txBody>
      </p:sp>
      <p:sp>
        <p:nvSpPr>
          <p:cNvPr id="55" name="Text 53"/>
          <p:cNvSpPr/>
          <p:nvPr/>
        </p:nvSpPr>
        <p:spPr>
          <a:xfrm>
            <a:off x="4992588" y="4616202"/>
            <a:ext cx="1885206" cy="463897"/>
          </a:xfrm>
          <a:prstGeom prst="roundRect">
            <a:avLst>
              <a:gd name="adj" fmla="val 10951"/>
            </a:avLst>
          </a:prstGeom>
          <a:solidFill>
            <a:srgbClr val="0D1525"/>
          </a:solidFill>
          <a:ln w="9525">
            <a:solidFill>
              <a:srgbClr val="1E253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5048121" y="4670078"/>
            <a:ext cx="177414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P7만 달성</a:t>
            </a:r>
            <a:endParaRPr lang="en-US" sz="650" dirty="0"/>
          </a:p>
        </p:txBody>
      </p:sp>
      <p:sp>
        <p:nvSpPr>
          <p:cNvPr id="57" name="Text 55"/>
          <p:cNvSpPr/>
          <p:nvPr/>
        </p:nvSpPr>
        <p:spPr>
          <a:xfrm>
            <a:off x="5048121" y="4784378"/>
            <a:ext cx="17741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4.92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5048121" y="4927253"/>
            <a:ext cx="1774141" cy="98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80"/>
              </a:lnSpc>
              <a:buNone/>
            </a:pPr>
            <a:r>
              <a:rPr lang="en-US" sz="6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P1 미완</a:t>
            </a:r>
            <a:endParaRPr lang="en-US" sz="600" dirty="0"/>
          </a:p>
        </p:txBody>
      </p:sp>
      <p:sp>
        <p:nvSpPr>
          <p:cNvPr id="59" name="Text 57"/>
          <p:cNvSpPr/>
          <p:nvPr/>
        </p:nvSpPr>
        <p:spPr>
          <a:xfrm>
            <a:off x="6953994" y="4616202"/>
            <a:ext cx="1885206" cy="463897"/>
          </a:xfrm>
          <a:prstGeom prst="roundRect">
            <a:avLst>
              <a:gd name="adj" fmla="val 10951"/>
            </a:avLst>
          </a:prstGeom>
          <a:solidFill>
            <a:srgbClr val="0D1525"/>
          </a:solidFill>
          <a:ln w="9525">
            <a:solidFill>
              <a:srgbClr val="1E253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Text 58"/>
          <p:cNvSpPr/>
          <p:nvPr/>
        </p:nvSpPr>
        <p:spPr>
          <a:xfrm>
            <a:off x="7009526" y="4670078"/>
            <a:ext cx="177414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현재 유지</a:t>
            </a:r>
            <a:endParaRPr lang="en-US" sz="650" dirty="0"/>
          </a:p>
        </p:txBody>
      </p:sp>
      <p:sp>
        <p:nvSpPr>
          <p:cNvPr id="61" name="Text 59"/>
          <p:cNvSpPr/>
          <p:nvPr/>
        </p:nvSpPr>
        <p:spPr>
          <a:xfrm>
            <a:off x="7009526" y="4784378"/>
            <a:ext cx="17741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4.85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7009526" y="4927253"/>
            <a:ext cx="1774141" cy="98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80"/>
              </a:lnSpc>
              <a:buNone/>
            </a:pPr>
            <a:r>
              <a:rPr lang="en-US" sz="6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아침 P2 복구 반영</a:t>
            </a:r>
            <a:endParaRPr lang="en-US" sz="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3048000" cy="38100"/>
          </a:xfrm>
          <a:prstGeom prst="rect">
            <a:avLst/>
          </a:prstGeom>
          <a:solidFill>
            <a:srgbClr val="E945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048000" y="0"/>
            <a:ext cx="3048000" cy="38100"/>
          </a:xfrm>
          <a:prstGeom prst="rect">
            <a:avLst/>
          </a:prstGeom>
          <a:solidFill>
            <a:srgbClr val="F5A62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0" y="0"/>
            <a:ext cx="3048000" cy="38100"/>
          </a:xfrm>
          <a:prstGeom prst="rect">
            <a:avLst/>
          </a:prstGeom>
          <a:solidFill>
            <a:srgbClr val="00D4A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04800" y="114300"/>
            <a:ext cx="2340373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김태현 스카우트 종합 평가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35947" y="209550"/>
            <a:ext cx="347131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4.82 → 4.85 (P2 복구 +0.03)  |  P7·P1 달성 시 4.97, 포트폴리오 시연 시 5.0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685800" y="558701"/>
            <a:ext cx="1371600" cy="1371600"/>
          </a:xfrm>
          <a:prstGeom prst="roundRect">
            <a:avLst>
              <a:gd name="adj" fmla="val 66667"/>
            </a:avLst>
          </a:prstGeom>
          <a:solidFill>
            <a:srgbClr val="16213E"/>
          </a:solidFill>
          <a:ln w="76200">
            <a:solidFill>
              <a:srgbClr val="F5A62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43235" y="2019151"/>
            <a:ext cx="1456581" cy="228600"/>
          </a:xfrm>
          <a:prstGeom prst="roundRect">
            <a:avLst>
              <a:gd name="adj" fmla="val 50000"/>
            </a:avLst>
          </a:prstGeom>
          <a:solidFill>
            <a:srgbClr val="0A2A0A"/>
          </a:solidFill>
          <a:ln w="9525">
            <a:solidFill>
              <a:srgbClr val="00E67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67874" y="2066776"/>
            <a:ext cx="120730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E67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↑ +0.03   P2 복구 반영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787911" y="2336602"/>
            <a:ext cx="116737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전일 4.82 → 오늘 아침 4.85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304800" y="2549277"/>
            <a:ext cx="29146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달성률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04800" y="2771477"/>
            <a:ext cx="2133600" cy="101501"/>
          </a:xfrm>
          <a:prstGeom prst="roundRect">
            <a:avLst>
              <a:gd name="adj" fmla="val 200195"/>
            </a:avLst>
          </a:prstGeom>
          <a:solidFill>
            <a:srgbClr val="16213E"/>
          </a:solidFill>
          <a:ln w="9525">
            <a:solidFill>
              <a:srgbClr val="2A32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14325" y="2781002"/>
            <a:ext cx="2051000" cy="82451"/>
          </a:xfrm>
          <a:prstGeom prst="roundRect">
            <a:avLst>
              <a:gd name="adj" fmla="val 246449"/>
            </a:avLst>
          </a:prstGeom>
          <a:solidFill>
            <a:srgbClr val="F5A62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950095" y="2961829"/>
            <a:ext cx="49807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97.0% 달성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2539901" y="457200"/>
            <a:ext cx="310896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58A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5.0 달성 로드맵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539901" y="764828"/>
            <a:ext cx="806202" cy="447377"/>
          </a:xfrm>
          <a:prstGeom prst="roundRect">
            <a:avLst>
              <a:gd name="adj" fmla="val 14194"/>
            </a:avLst>
          </a:prstGeom>
          <a:solidFill>
            <a:srgbClr val="1A1500"/>
          </a:solidFill>
          <a:ln w="19050">
            <a:solidFill>
              <a:srgbClr val="F5A62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2654801" y="847279"/>
            <a:ext cx="576402" cy="165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4.85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654801" y="1024979"/>
            <a:ext cx="57640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현재 (오늘 시작)</a:t>
            </a:r>
            <a:endParaRPr lang="en-US" sz="600" dirty="0"/>
          </a:p>
        </p:txBody>
      </p:sp>
      <p:sp>
        <p:nvSpPr>
          <p:cNvPr id="19" name="Text 17"/>
          <p:cNvSpPr/>
          <p:nvPr/>
        </p:nvSpPr>
        <p:spPr>
          <a:xfrm>
            <a:off x="3355976" y="733425"/>
            <a:ext cx="157360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500" dirty="0">
                <a:solidFill>
                  <a:srgbClr val="58A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355976" y="923925"/>
            <a:ext cx="1573607" cy="121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60"/>
              </a:lnSpc>
              <a:buNone/>
            </a:pPr>
            <a:r>
              <a:rPr lang="en-US" sz="800" b="1" dirty="0">
                <a:solidFill>
                  <a:srgbClr val="00E67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+0.07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355976" y="1045815"/>
            <a:ext cx="1573607" cy="197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80"/>
              </a:lnSpc>
              <a:buNone/>
            </a:pPr>
            <a:r>
              <a:rPr lang="en-US" sz="6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P7 v5.1</a:t>
            </a:r>
            <a:endParaRPr lang="en-US" sz="600" dirty="0"/>
          </a:p>
          <a:p>
            <a:pPr algn="ctr" indent="0" marL="0">
              <a:lnSpc>
                <a:spcPts val="780"/>
              </a:lnSpc>
              <a:buNone/>
            </a:pPr>
            <a:r>
              <a:rPr lang="en-US" sz="6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R² ≥ 0.62</a:t>
            </a:r>
            <a:endParaRPr lang="en-US" sz="600" dirty="0"/>
          </a:p>
        </p:txBody>
      </p:sp>
      <p:sp>
        <p:nvSpPr>
          <p:cNvPr id="22" name="Text 20"/>
          <p:cNvSpPr/>
          <p:nvPr/>
        </p:nvSpPr>
        <p:spPr>
          <a:xfrm>
            <a:off x="4939457" y="764828"/>
            <a:ext cx="648444" cy="447377"/>
          </a:xfrm>
          <a:prstGeom prst="roundRect">
            <a:avLst>
              <a:gd name="adj" fmla="val 14194"/>
            </a:avLst>
          </a:prstGeom>
          <a:solidFill>
            <a:srgbClr val="16213E"/>
          </a:solidFill>
          <a:ln w="19050">
            <a:solidFill>
              <a:srgbClr val="F5A62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055934" y="847279"/>
            <a:ext cx="415489" cy="165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4.92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055934" y="1024979"/>
            <a:ext cx="41548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종일</a:t>
            </a:r>
            <a:endParaRPr lang="en-US" sz="600" dirty="0"/>
          </a:p>
        </p:txBody>
      </p:sp>
      <p:sp>
        <p:nvSpPr>
          <p:cNvPr id="25" name="Text 23"/>
          <p:cNvSpPr/>
          <p:nvPr/>
        </p:nvSpPr>
        <p:spPr>
          <a:xfrm>
            <a:off x="3251002" y="1294507"/>
            <a:ext cx="2383637" cy="13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↓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251002" y="1490960"/>
            <a:ext cx="764381" cy="447377"/>
          </a:xfrm>
          <a:prstGeom prst="roundRect">
            <a:avLst>
              <a:gd name="adj" fmla="val 14194"/>
            </a:avLst>
          </a:prstGeom>
          <a:solidFill>
            <a:srgbClr val="16213E"/>
          </a:solidFill>
          <a:ln w="19050">
            <a:solidFill>
              <a:srgbClr val="F5A62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3366320" y="1573411"/>
            <a:ext cx="533745" cy="165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4.92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366320" y="1751112"/>
            <a:ext cx="53374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1 완료 후</a:t>
            </a:r>
            <a:endParaRPr lang="en-US" sz="600" dirty="0"/>
          </a:p>
        </p:txBody>
      </p:sp>
      <p:sp>
        <p:nvSpPr>
          <p:cNvPr id="29" name="Text 27"/>
          <p:cNvSpPr/>
          <p:nvPr/>
        </p:nvSpPr>
        <p:spPr>
          <a:xfrm>
            <a:off x="4031949" y="1459557"/>
            <a:ext cx="89094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500" dirty="0">
                <a:solidFill>
                  <a:srgbClr val="58A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4031949" y="1650057"/>
            <a:ext cx="890942" cy="121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60"/>
              </a:lnSpc>
              <a:buNone/>
            </a:pPr>
            <a:r>
              <a:rPr lang="en-US" sz="800" b="1" dirty="0">
                <a:solidFill>
                  <a:srgbClr val="00E67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+0.05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031949" y="1771948"/>
            <a:ext cx="890942" cy="197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80"/>
              </a:lnSpc>
              <a:buNone/>
            </a:pPr>
            <a:r>
              <a:rPr lang="en-US" sz="6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P1 Acc</a:t>
            </a:r>
            <a:endParaRPr lang="en-US" sz="600" dirty="0"/>
          </a:p>
          <a:p>
            <a:pPr algn="ctr" indent="0" marL="0">
              <a:lnSpc>
                <a:spcPts val="780"/>
              </a:lnSpc>
              <a:buNone/>
            </a:pPr>
            <a:r>
              <a:rPr lang="en-US" sz="6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≥ 57%</a:t>
            </a:r>
            <a:endParaRPr lang="en-US" sz="600" dirty="0"/>
          </a:p>
        </p:txBody>
      </p:sp>
      <p:sp>
        <p:nvSpPr>
          <p:cNvPr id="32" name="Text 30"/>
          <p:cNvSpPr/>
          <p:nvPr/>
        </p:nvSpPr>
        <p:spPr>
          <a:xfrm>
            <a:off x="4939457" y="1490960"/>
            <a:ext cx="648444" cy="447377"/>
          </a:xfrm>
          <a:prstGeom prst="roundRect">
            <a:avLst>
              <a:gd name="adj" fmla="val 14194"/>
            </a:avLst>
          </a:prstGeom>
          <a:solidFill>
            <a:srgbClr val="16213E"/>
          </a:solidFill>
          <a:ln w="19050">
            <a:solidFill>
              <a:srgbClr val="F5A62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5055934" y="1573411"/>
            <a:ext cx="415489" cy="165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4.97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055934" y="1751112"/>
            <a:ext cx="41548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오늘~내일</a:t>
            </a:r>
            <a:endParaRPr lang="en-US" sz="600" dirty="0"/>
          </a:p>
        </p:txBody>
      </p:sp>
      <p:sp>
        <p:nvSpPr>
          <p:cNvPr id="35" name="Text 33"/>
          <p:cNvSpPr/>
          <p:nvPr/>
        </p:nvSpPr>
        <p:spPr>
          <a:xfrm>
            <a:off x="3251002" y="2020639"/>
            <a:ext cx="2383637" cy="13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↓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251002" y="2217093"/>
            <a:ext cx="764381" cy="447377"/>
          </a:xfrm>
          <a:prstGeom prst="roundRect">
            <a:avLst>
              <a:gd name="adj" fmla="val 14194"/>
            </a:avLst>
          </a:prstGeom>
          <a:solidFill>
            <a:srgbClr val="16213E"/>
          </a:solidFill>
          <a:ln w="19050">
            <a:solidFill>
              <a:srgbClr val="F5A62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3366320" y="2299543"/>
            <a:ext cx="533745" cy="165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4.97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3366320" y="2477244"/>
            <a:ext cx="53374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2 완료 후</a:t>
            </a:r>
            <a:endParaRPr lang="en-US" sz="600" dirty="0"/>
          </a:p>
        </p:txBody>
      </p:sp>
      <p:sp>
        <p:nvSpPr>
          <p:cNvPr id="39" name="Text 37"/>
          <p:cNvSpPr/>
          <p:nvPr/>
        </p:nvSpPr>
        <p:spPr>
          <a:xfrm>
            <a:off x="4031813" y="2185690"/>
            <a:ext cx="90475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500" dirty="0">
                <a:solidFill>
                  <a:srgbClr val="58A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4031813" y="2376190"/>
            <a:ext cx="904756" cy="121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60"/>
              </a:lnSpc>
              <a:buNone/>
            </a:pPr>
            <a:r>
              <a:rPr lang="en-US" sz="800" b="1" dirty="0">
                <a:solidFill>
                  <a:srgbClr val="00E67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+0.03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031813" y="2498080"/>
            <a:ext cx="904756" cy="197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80"/>
              </a:lnSpc>
              <a:buNone/>
            </a:pPr>
            <a:r>
              <a:rPr lang="en-US" sz="6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</a:t>
            </a:r>
            <a:endParaRPr lang="en-US" sz="600" dirty="0"/>
          </a:p>
          <a:p>
            <a:pPr algn="ctr" indent="0" marL="0">
              <a:lnSpc>
                <a:spcPts val="780"/>
              </a:lnSpc>
              <a:buNone/>
            </a:pPr>
            <a:r>
              <a:rPr lang="en-US" sz="6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시연 완성</a:t>
            </a:r>
            <a:endParaRPr lang="en-US" sz="600" dirty="0"/>
          </a:p>
        </p:txBody>
      </p:sp>
      <p:sp>
        <p:nvSpPr>
          <p:cNvPr id="42" name="Text 40"/>
          <p:cNvSpPr/>
          <p:nvPr/>
        </p:nvSpPr>
        <p:spPr>
          <a:xfrm>
            <a:off x="4953000" y="2217093"/>
            <a:ext cx="634901" cy="447377"/>
          </a:xfrm>
          <a:prstGeom prst="roundRect">
            <a:avLst>
              <a:gd name="adj" fmla="val 14194"/>
            </a:avLst>
          </a:prstGeom>
          <a:solidFill>
            <a:srgbClr val="001500"/>
          </a:solidFill>
          <a:ln w="19050">
            <a:solidFill>
              <a:srgbClr val="00E67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5069613" y="2299543"/>
            <a:ext cx="401675" cy="165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00E67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5.0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5069613" y="2477244"/>
            <a:ext cx="40167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이번 주 내</a:t>
            </a:r>
            <a:endParaRPr lang="en-US" sz="600" dirty="0"/>
          </a:p>
        </p:txBody>
      </p:sp>
      <p:sp>
        <p:nvSpPr>
          <p:cNvPr id="45" name="Text 43"/>
          <p:cNvSpPr/>
          <p:nvPr/>
        </p:nvSpPr>
        <p:spPr>
          <a:xfrm>
            <a:off x="2539901" y="2810321"/>
            <a:ext cx="3048000" cy="590699"/>
          </a:xfrm>
          <a:prstGeom prst="rect">
            <a:avLst/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Shape 44"/>
          <p:cNvSpPr/>
          <p:nvPr/>
        </p:nvSpPr>
        <p:spPr>
          <a:xfrm>
            <a:off x="2558951" y="2810321"/>
            <a:ext cx="0" cy="590699"/>
          </a:xfrm>
          <a:prstGeom prst="line">
            <a:avLst/>
          </a:prstGeom>
          <a:noFill/>
          <a:ln w="38100">
            <a:solidFill>
              <a:srgbClr val="E9456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692301" y="2899172"/>
            <a:ext cx="2836926" cy="412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5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"오늘 아침 P2 JSON이 직접 복구됐습니다. 활용 가능 페이지 9개. </a:t>
            </a:r>
            <a:pPr algn="l" indent="0" marL="0">
              <a:lnSpc>
                <a:spcPts val="1085"/>
              </a:lnSpc>
              <a:buNone/>
            </a:pPr>
            <a:r>
              <a:rPr lang="en-US" sz="700" b="1" i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P7과 P1은 5일 연속 미달입니다.</a:t>
            </a:r>
            <a:pPr algn="l" indent="0" marL="0">
              <a:lnSpc>
                <a:spcPts val="1085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오늘은 코드 작성으로 접근해야 합니다."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6248400" y="457200"/>
            <a:ext cx="264261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800" b="1" dirty="0">
                <a:solidFill>
                  <a:srgbClr val="00E67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누적 달성 — 영입 회의 즉시 활용 9개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6248400" y="653951"/>
            <a:ext cx="2590800" cy="2971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pPr algn="l" indent="0" marL="0">
              <a:buNone/>
            </a:pPr>
            <a:r>
              <a:rPr lang="en-US" sz="600" b="1" dirty="0">
                <a:solidFill>
                  <a:srgbClr val="00D4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최우수</a:t>
            </a:r>
            <a:endParaRPr lang="en-US" sz="1200" dirty="0"/>
          </a:p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pPr algn="l" indent="0" marL="0">
              <a:buNone/>
            </a:pPr>
            <a:r>
              <a:rPr lang="en-US" sz="600" b="1" dirty="0">
                <a:solidFill>
                  <a:srgbClr val="00D4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최우수</a:t>
            </a:r>
            <a:endParaRPr lang="en-US" sz="1200" dirty="0"/>
          </a:p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pPr algn="l" indent="0" marL="0">
              <a:buNone/>
            </a:pPr>
            <a:r>
              <a:rPr lang="en-US" sz="600" b="1" dirty="0">
                <a:solidFill>
                  <a:srgbClr val="00D4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최우수</a:t>
            </a:r>
            <a:endParaRPr lang="en-US" sz="1200" dirty="0"/>
          </a:p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pPr algn="l" indent="0" marL="0">
              <a:buNone/>
            </a:pPr>
            <a:r>
              <a:rPr lang="en-US" sz="600" b="1" dirty="0">
                <a:solidFill>
                  <a:srgbClr val="00E67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복구</a:t>
            </a:r>
            <a:endParaRPr lang="en-US" sz="1200" dirty="0"/>
          </a:p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pPr algn="l" indent="0" marL="0">
              <a:buNone/>
            </a:pPr>
            <a:r>
              <a:rPr lang="en-US" sz="600" b="1" dirty="0">
                <a:solidFill>
                  <a:srgbClr val="2ECC7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우수</a:t>
            </a:r>
            <a:endParaRPr lang="en-US" sz="1200" dirty="0"/>
          </a:p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pPr algn="l" indent="0" marL="0">
              <a:buNone/>
            </a:pPr>
            <a:r>
              <a:rPr lang="en-US" sz="600" b="1" dirty="0">
                <a:solidFill>
                  <a:srgbClr val="2ECC7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우수</a:t>
            </a:r>
            <a:endParaRPr lang="en-US" sz="1200" dirty="0"/>
          </a:p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pPr algn="l" indent="0" marL="0">
              <a:buNone/>
            </a:pPr>
            <a:r>
              <a:rPr lang="en-US" sz="600" b="1" dirty="0">
                <a:solidFill>
                  <a:srgbClr val="2ECC7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우수</a:t>
            </a:r>
            <a:endParaRPr lang="en-US" sz="1200" dirty="0"/>
          </a:p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pPr algn="l" indent="0" marL="0">
              <a:buNone/>
            </a:pPr>
            <a:r>
              <a:rPr lang="en-US" sz="6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양호</a:t>
            </a:r>
            <a:endParaRPr lang="en-US" sz="1200" dirty="0"/>
          </a:p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pPr algn="l" indent="0" marL="0">
              <a:buNone/>
            </a:pPr>
            <a:r>
              <a:rPr lang="en-US" sz="6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구축 완료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6248400" y="704701"/>
            <a:ext cx="152400" cy="152400"/>
          </a:xfrm>
          <a:prstGeom prst="roundRect">
            <a:avLst>
              <a:gd name="adj" fmla="val 600000"/>
            </a:avLst>
          </a:prstGeom>
          <a:solidFill>
            <a:srgbClr val="001800"/>
          </a:solidFill>
          <a:ln w="9525">
            <a:solidFill>
              <a:srgbClr val="00D4A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6464201" y="692051"/>
            <a:ext cx="200169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P3 강등권 예측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6464201" y="838051"/>
            <a:ext cx="200169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650" b="1" dirty="0">
                <a:solidFill>
                  <a:srgbClr val="58A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AUC 100%</a:t>
            </a:r>
            <a:pPr algn="l" indent="0" marL="0">
              <a:spcBef>
                <a:spcPts val="100"/>
              </a:spcBef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/ Acc 100%</a:t>
            </a:r>
            <a:endParaRPr lang="en-US" sz="650" dirty="0"/>
          </a:p>
        </p:txBody>
      </p:sp>
      <p:sp>
        <p:nvSpPr>
          <p:cNvPr id="53" name="Text 51"/>
          <p:cNvSpPr/>
          <p:nvPr/>
        </p:nvSpPr>
        <p:spPr>
          <a:xfrm>
            <a:off x="6248400" y="1031677"/>
            <a:ext cx="152400" cy="152400"/>
          </a:xfrm>
          <a:prstGeom prst="roundRect">
            <a:avLst>
              <a:gd name="adj" fmla="val 600000"/>
            </a:avLst>
          </a:prstGeom>
          <a:solidFill>
            <a:srgbClr val="001800"/>
          </a:solidFill>
          <a:ln w="9525">
            <a:solidFill>
              <a:srgbClr val="00D4A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6464201" y="1019026"/>
            <a:ext cx="200169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P4 MVP 스코어링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6464201" y="1165027"/>
            <a:ext cx="200169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650" b="1" dirty="0">
                <a:solidFill>
                  <a:srgbClr val="58A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Spearman 0.9987</a:t>
            </a:r>
            <a:pPr algn="l" indent="0" marL="0">
              <a:spcBef>
                <a:spcPts val="100"/>
              </a:spcBef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/ NDCG@10 0.9993</a:t>
            </a:r>
            <a:endParaRPr lang="en-US" sz="650" dirty="0"/>
          </a:p>
        </p:txBody>
      </p:sp>
      <p:sp>
        <p:nvSpPr>
          <p:cNvPr id="56" name="Text 54"/>
          <p:cNvSpPr/>
          <p:nvPr/>
        </p:nvSpPr>
        <p:spPr>
          <a:xfrm>
            <a:off x="6248400" y="1358652"/>
            <a:ext cx="152400" cy="152400"/>
          </a:xfrm>
          <a:prstGeom prst="roundRect">
            <a:avLst>
              <a:gd name="adj" fmla="val 600000"/>
            </a:avLst>
          </a:prstGeom>
          <a:solidFill>
            <a:srgbClr val="001800"/>
          </a:solidFill>
          <a:ln w="9525">
            <a:solidFill>
              <a:srgbClr val="00D4A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6464201" y="1346002"/>
            <a:ext cx="200169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S1 선수 종합 레이팅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6464201" y="1492002"/>
            <a:ext cx="200169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650" b="1" dirty="0">
                <a:solidFill>
                  <a:srgbClr val="58A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R² 0.9093</a:t>
            </a:r>
            <a:pPr algn="l" indent="0" marL="0">
              <a:spcBef>
                <a:spcPts val="100"/>
              </a:spcBef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/ MAE 4.66</a:t>
            </a:r>
            <a:endParaRPr lang="en-US" sz="650" dirty="0"/>
          </a:p>
        </p:txBody>
      </p:sp>
      <p:sp>
        <p:nvSpPr>
          <p:cNvPr id="59" name="Text 57"/>
          <p:cNvSpPr/>
          <p:nvPr/>
        </p:nvSpPr>
        <p:spPr>
          <a:xfrm>
            <a:off x="6248400" y="1685627"/>
            <a:ext cx="152400" cy="152400"/>
          </a:xfrm>
          <a:prstGeom prst="roundRect">
            <a:avLst>
              <a:gd name="adj" fmla="val 600000"/>
            </a:avLst>
          </a:prstGeom>
          <a:solidFill>
            <a:srgbClr val="001200"/>
          </a:solidFill>
          <a:ln w="9525">
            <a:solidFill>
              <a:srgbClr val="2ECC7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Text 58"/>
          <p:cNvSpPr/>
          <p:nvPr/>
        </p:nvSpPr>
        <p:spPr>
          <a:xfrm>
            <a:off x="6464201" y="1672977"/>
            <a:ext cx="18968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P2 시즌 득점 예측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6464201" y="1818977"/>
            <a:ext cx="18968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650" b="1" dirty="0">
                <a:solidFill>
                  <a:srgbClr val="58A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R² 0.8877</a:t>
            </a:r>
            <a:pPr algn="l" indent="0" marL="0">
              <a:spcBef>
                <a:spcPts val="100"/>
              </a:spcBef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/ MAE 0.96골</a:t>
            </a:r>
            <a:endParaRPr lang="en-US" sz="650" dirty="0"/>
          </a:p>
        </p:txBody>
      </p:sp>
      <p:sp>
        <p:nvSpPr>
          <p:cNvPr id="62" name="Text 60"/>
          <p:cNvSpPr/>
          <p:nvPr/>
        </p:nvSpPr>
        <p:spPr>
          <a:xfrm>
            <a:off x="6248400" y="2031653"/>
            <a:ext cx="152400" cy="152400"/>
          </a:xfrm>
          <a:prstGeom prst="roundRect">
            <a:avLst>
              <a:gd name="adj" fmla="val 600000"/>
            </a:avLst>
          </a:prstGeom>
          <a:solidFill>
            <a:srgbClr val="001200"/>
          </a:solidFill>
          <a:ln w="9525">
            <a:solidFill>
              <a:srgbClr val="2ECC7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Text 61"/>
          <p:cNvSpPr/>
          <p:nvPr/>
        </p:nvSpPr>
        <p:spPr>
          <a:xfrm>
            <a:off x="6464201" y="2019002"/>
            <a:ext cx="207942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P6 시장가치 예측</a:t>
            </a: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6464201" y="2165003"/>
            <a:ext cx="207942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650" b="1" dirty="0">
                <a:solidFill>
                  <a:srgbClr val="58A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R² 0.8734</a:t>
            </a:r>
            <a:pPr algn="l" indent="0" marL="0">
              <a:spcBef>
                <a:spcPts val="100"/>
              </a:spcBef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/ MAE £3.28M</a:t>
            </a:r>
            <a:endParaRPr lang="en-US" sz="650" dirty="0"/>
          </a:p>
        </p:txBody>
      </p:sp>
      <p:sp>
        <p:nvSpPr>
          <p:cNvPr id="65" name="Text 63"/>
          <p:cNvSpPr/>
          <p:nvPr/>
        </p:nvSpPr>
        <p:spPr>
          <a:xfrm>
            <a:off x="6248400" y="2358628"/>
            <a:ext cx="152400" cy="152400"/>
          </a:xfrm>
          <a:prstGeom prst="roundRect">
            <a:avLst>
              <a:gd name="adj" fmla="val 600000"/>
            </a:avLst>
          </a:prstGeom>
          <a:solidFill>
            <a:srgbClr val="001200"/>
          </a:solidFill>
          <a:ln w="9525">
            <a:solidFill>
              <a:srgbClr val="2ECC7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6" name="Text 64"/>
          <p:cNvSpPr/>
          <p:nvPr/>
        </p:nvSpPr>
        <p:spPr>
          <a:xfrm>
            <a:off x="6464201" y="2345978"/>
            <a:ext cx="207942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S2 포지션별 시장가치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6464201" y="2491978"/>
            <a:ext cx="207942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650" b="1" dirty="0">
                <a:solidFill>
                  <a:srgbClr val="58A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R² 0.8812</a:t>
            </a:r>
            <a:pPr algn="l" indent="0" marL="0">
              <a:spcBef>
                <a:spcPts val="100"/>
              </a:spcBef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/ MAE £3.23M</a:t>
            </a:r>
            <a:endParaRPr lang="en-US" sz="650" dirty="0"/>
          </a:p>
        </p:txBody>
      </p:sp>
      <p:sp>
        <p:nvSpPr>
          <p:cNvPr id="68" name="Text 66"/>
          <p:cNvSpPr/>
          <p:nvPr/>
        </p:nvSpPr>
        <p:spPr>
          <a:xfrm>
            <a:off x="6248400" y="2685604"/>
            <a:ext cx="152400" cy="152400"/>
          </a:xfrm>
          <a:prstGeom prst="roundRect">
            <a:avLst>
              <a:gd name="adj" fmla="val 600000"/>
            </a:avLst>
          </a:prstGeom>
          <a:solidFill>
            <a:srgbClr val="001200"/>
          </a:solidFill>
          <a:ln w="9525">
            <a:solidFill>
              <a:srgbClr val="2ECC7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9" name="Text 67"/>
          <p:cNvSpPr/>
          <p:nvPr/>
        </p:nvSpPr>
        <p:spPr>
          <a:xfrm>
            <a:off x="6464201" y="2672953"/>
            <a:ext cx="207942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P8 이적 적응 예측</a:t>
            </a:r>
            <a:endParaRPr lang="en-US" sz="750" dirty="0"/>
          </a:p>
        </p:txBody>
      </p:sp>
      <p:sp>
        <p:nvSpPr>
          <p:cNvPr id="70" name="Text 68"/>
          <p:cNvSpPr/>
          <p:nvPr/>
        </p:nvSpPr>
        <p:spPr>
          <a:xfrm>
            <a:off x="6464201" y="2818954"/>
            <a:ext cx="207942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650" b="1" dirty="0">
                <a:solidFill>
                  <a:srgbClr val="58A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AUC 0.6612</a:t>
            </a:r>
            <a:pPr algn="l" indent="0" marL="0">
              <a:spcBef>
                <a:spcPts val="100"/>
              </a:spcBef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/ F1 88.23%</a:t>
            </a:r>
            <a:endParaRPr lang="en-US" sz="650" dirty="0"/>
          </a:p>
        </p:txBody>
      </p:sp>
      <p:sp>
        <p:nvSpPr>
          <p:cNvPr id="71" name="Text 69"/>
          <p:cNvSpPr/>
          <p:nvPr/>
        </p:nvSpPr>
        <p:spPr>
          <a:xfrm>
            <a:off x="6248400" y="3012579"/>
            <a:ext cx="152400" cy="152400"/>
          </a:xfrm>
          <a:prstGeom prst="roundRect">
            <a:avLst>
              <a:gd name="adj" fmla="val 600000"/>
            </a:avLst>
          </a:prstGeom>
          <a:solidFill>
            <a:srgbClr val="001200"/>
          </a:solidFill>
          <a:ln w="9525">
            <a:solidFill>
              <a:srgbClr val="2ECC7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2" name="Text 70"/>
          <p:cNvSpPr/>
          <p:nvPr/>
        </p:nvSpPr>
        <p:spPr>
          <a:xfrm>
            <a:off x="6464201" y="2999929"/>
            <a:ext cx="207942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S3 유사선수 탐색</a:t>
            </a:r>
            <a:endParaRPr lang="en-US" sz="750" dirty="0"/>
          </a:p>
        </p:txBody>
      </p:sp>
      <p:sp>
        <p:nvSpPr>
          <p:cNvPr id="73" name="Text 71"/>
          <p:cNvSpPr/>
          <p:nvPr/>
        </p:nvSpPr>
        <p:spPr>
          <a:xfrm>
            <a:off x="6464201" y="3145929"/>
            <a:ext cx="207942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GK Sil </a:t>
            </a:r>
            <a:pPr algn="l" indent="0" marL="0">
              <a:spcBef>
                <a:spcPts val="100"/>
              </a:spcBef>
              <a:buNone/>
            </a:pPr>
            <a:r>
              <a:rPr lang="en-US" sz="650" b="1" dirty="0">
                <a:solidFill>
                  <a:srgbClr val="58A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0.4873</a:t>
            </a:r>
            <a:pPr algn="l" indent="0" marL="0">
              <a:spcBef>
                <a:spcPts val="100"/>
              </a:spcBef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/ DEF 0.3637</a:t>
            </a:r>
            <a:endParaRPr lang="en-US" sz="650" dirty="0"/>
          </a:p>
        </p:txBody>
      </p:sp>
      <p:sp>
        <p:nvSpPr>
          <p:cNvPr id="74" name="Text 72"/>
          <p:cNvSpPr/>
          <p:nvPr/>
        </p:nvSpPr>
        <p:spPr>
          <a:xfrm>
            <a:off x="6248400" y="3339554"/>
            <a:ext cx="152400" cy="152400"/>
          </a:xfrm>
          <a:prstGeom prst="roundRect">
            <a:avLst>
              <a:gd name="adj" fmla="val 600000"/>
            </a:avLst>
          </a:prstGeom>
          <a:solidFill>
            <a:srgbClr val="001200"/>
          </a:solidFill>
          <a:ln w="9525">
            <a:solidFill>
              <a:srgbClr val="2ECC7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5" name="Text 73"/>
          <p:cNvSpPr/>
          <p:nvPr/>
        </p:nvSpPr>
        <p:spPr>
          <a:xfrm>
            <a:off x="6464201" y="3326904"/>
            <a:ext cx="18968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대시보드 16페이지</a:t>
            </a:r>
            <a:endParaRPr lang="en-US" sz="750" dirty="0"/>
          </a:p>
        </p:txBody>
      </p:sp>
      <p:sp>
        <p:nvSpPr>
          <p:cNvPr id="76" name="Text 74"/>
          <p:cNvSpPr/>
          <p:nvPr/>
        </p:nvSpPr>
        <p:spPr>
          <a:xfrm>
            <a:off x="6464201" y="3472904"/>
            <a:ext cx="18968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650" b="1" dirty="0">
                <a:solidFill>
                  <a:srgbClr val="58A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9개 즉시 활용</a:t>
            </a:r>
            <a:pPr algn="l" indent="0" marL="0">
              <a:spcBef>
                <a:spcPts val="100"/>
              </a:spcBef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— Streamlit Cloud</a:t>
            </a:r>
            <a:endParaRPr lang="en-US" sz="650" dirty="0"/>
          </a:p>
        </p:txBody>
      </p:sp>
      <p:sp>
        <p:nvSpPr>
          <p:cNvPr id="77" name="Text 75"/>
          <p:cNvSpPr/>
          <p:nvPr/>
        </p:nvSpPr>
        <p:spPr>
          <a:xfrm>
            <a:off x="0" y="4822924"/>
            <a:ext cx="9144000" cy="320576"/>
          </a:xfrm>
          <a:prstGeom prst="rect">
            <a:avLst/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8" name="Shape 76"/>
          <p:cNvSpPr/>
          <p:nvPr/>
        </p:nvSpPr>
        <p:spPr>
          <a:xfrm>
            <a:off x="0" y="4827687"/>
            <a:ext cx="9144000" cy="0"/>
          </a:xfrm>
          <a:prstGeom prst="line">
            <a:avLst/>
          </a:prstGeom>
          <a:noFill/>
          <a:ln w="9525">
            <a:solidFill>
              <a:srgbClr val="1E253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04800" y="4921300"/>
            <a:ext cx="211843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P7 코드 작성 완료만 해도</a:t>
            </a:r>
            <a:pPr algn="l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→ </a:t>
            </a:r>
            <a:pPr algn="l" indent="0" marL="0">
              <a:buNone/>
            </a:pPr>
            <a:r>
              <a:rPr lang="en-US" sz="800" b="1" dirty="0">
                <a:solidFill>
                  <a:srgbClr val="00E67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4.92 달성</a:t>
            </a:r>
            <a:endParaRPr lang="en-US" sz="800" dirty="0"/>
          </a:p>
        </p:txBody>
      </p:sp>
      <p:sp>
        <p:nvSpPr>
          <p:cNvPr id="80" name="Text 78"/>
          <p:cNvSpPr/>
          <p:nvPr/>
        </p:nvSpPr>
        <p:spPr>
          <a:xfrm>
            <a:off x="4711154" y="4921300"/>
            <a:ext cx="421060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목표 구단: 브렌트포드·노팅엄 수준 — 예산 30~50M £ 가정 포트폴리오 시연 이번 주 착수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3048000" cy="38100"/>
          </a:xfrm>
          <a:prstGeom prst="rect">
            <a:avLst/>
          </a:prstGeom>
          <a:solidFill>
            <a:srgbClr val="E945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048000" y="0"/>
            <a:ext cx="3048000" cy="38100"/>
          </a:xfrm>
          <a:prstGeom prst="rect">
            <a:avLst/>
          </a:prstGeom>
          <a:solidFill>
            <a:srgbClr val="F5A62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0" y="0"/>
            <a:ext cx="3048000" cy="38100"/>
          </a:xfrm>
          <a:prstGeom prst="rect">
            <a:avLst/>
          </a:prstGeom>
          <a:solidFill>
            <a:srgbClr val="00D4A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04800" y="114300"/>
            <a:ext cx="2321397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Streamlit 대시보드 현황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679430" y="209550"/>
            <a:ext cx="322296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16페이지 구축 완료 — 영입 회의 즉시 활용 </a:t>
            </a:r>
            <a:pPr algn="l" indent="0" marL="0">
              <a:buNone/>
            </a:pPr>
            <a:r>
              <a:rPr lang="en-US" sz="750" dirty="0">
                <a:solidFill>
                  <a:srgbClr val="00E67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9개</a:t>
            </a:r>
            <a:pPr algn="l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(오늘 P2 복구 후 8→9개)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304800" y="406301"/>
            <a:ext cx="2057400" cy="793552"/>
          </a:xfrm>
          <a:prstGeom prst="roundRect">
            <a:avLst>
              <a:gd name="adj" fmla="val 9602"/>
            </a:avLst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304800" y="425351"/>
            <a:ext cx="2057400" cy="0"/>
          </a:xfrm>
          <a:prstGeom prst="line">
            <a:avLst/>
          </a:prstGeom>
          <a:noFill/>
          <a:ln w="38100">
            <a:solidFill>
              <a:srgbClr val="58A6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63701" y="406301"/>
            <a:ext cx="2057549" cy="793552"/>
          </a:xfrm>
          <a:prstGeom prst="roundRect">
            <a:avLst>
              <a:gd name="adj" fmla="val 9602"/>
            </a:avLst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2463701" y="425351"/>
            <a:ext cx="2057549" cy="0"/>
          </a:xfrm>
          <a:prstGeom prst="line">
            <a:avLst/>
          </a:prstGeom>
          <a:noFill/>
          <a:ln w="38100">
            <a:solidFill>
              <a:srgbClr val="00E67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22750" y="406301"/>
            <a:ext cx="2057400" cy="793552"/>
          </a:xfrm>
          <a:prstGeom prst="roundRect">
            <a:avLst>
              <a:gd name="adj" fmla="val 9602"/>
            </a:avLst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4622750" y="425351"/>
            <a:ext cx="2057400" cy="0"/>
          </a:xfrm>
          <a:prstGeom prst="line">
            <a:avLst/>
          </a:prstGeom>
          <a:noFill/>
          <a:ln w="38100">
            <a:solidFill>
              <a:srgbClr val="F5A62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81651" y="406301"/>
            <a:ext cx="2057549" cy="793552"/>
          </a:xfrm>
          <a:prstGeom prst="roundRect">
            <a:avLst>
              <a:gd name="adj" fmla="val 9602"/>
            </a:avLst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6781651" y="425351"/>
            <a:ext cx="2057549" cy="0"/>
          </a:xfrm>
          <a:prstGeom prst="line">
            <a:avLst/>
          </a:prstGeom>
          <a:noFill/>
          <a:ln w="38100">
            <a:solidFill>
              <a:srgbClr val="8B949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8201" y="1457176"/>
            <a:ext cx="178780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S1 선수 종합 레이팅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009751" y="1471464"/>
            <a:ext cx="458602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58A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R²=0.9093</a:t>
            </a:r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, MAE=4.66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7632650" y="1457176"/>
            <a:ext cx="116601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E67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즉시 활용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368201" y="1676251"/>
            <a:ext cx="178780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P4 MVP 스코어링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009751" y="1690539"/>
            <a:ext cx="458602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58A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Spearman=0.9987</a:t>
            </a:r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, NDCG@10=0.9993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632650" y="1676251"/>
            <a:ext cx="116601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E67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즉시 활용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368201" y="1895326"/>
            <a:ext cx="178780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P6 시장가치 예측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009751" y="1909614"/>
            <a:ext cx="458602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58A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R²=0.8734</a:t>
            </a:r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, MAE=£3.28M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7632650" y="1895326"/>
            <a:ext cx="116601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E67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즉시 활용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368201" y="2114401"/>
            <a:ext cx="178780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S2 저평가 탐색기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009751" y="2128689"/>
            <a:ext cx="458602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58A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R²=0.8812</a:t>
            </a:r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, MAE=£3.23M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7632650" y="2114401"/>
            <a:ext cx="116601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E67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즉시 활용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368201" y="2333476"/>
            <a:ext cx="178780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P8 이적 적응 예측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009751" y="2347764"/>
            <a:ext cx="458602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58A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AUC=0.6612</a:t>
            </a:r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, F1=88.23%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7632650" y="2333476"/>
            <a:ext cx="116601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E67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즉시 활용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368201" y="2552551"/>
            <a:ext cx="178780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P3 강등권 탐색기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009751" y="2566839"/>
            <a:ext cx="458602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58A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AUC=100%</a:t>
            </a:r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, Acc=100%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7632650" y="2552551"/>
            <a:ext cx="116601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E67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즉시 활용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368201" y="2771626"/>
            <a:ext cx="178780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P2 득점 예측</a:t>
            </a:r>
            <a:pPr algn="l" indent="0" marL="0">
              <a:buNone/>
            </a:pPr>
            <a:r>
              <a:rPr lang="en-US" sz="600" b="1" dirty="0">
                <a:solidFill>
                  <a:srgbClr val="00E67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JSON 복구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3009751" y="2776389"/>
            <a:ext cx="458602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58A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R²=0.8877</a:t>
            </a:r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, MAE=0.96골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7632650" y="2771626"/>
            <a:ext cx="116601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E67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즉시 활용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368201" y="2990701"/>
            <a:ext cx="178780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S3 유사선수 탐색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3009751" y="3004989"/>
            <a:ext cx="458602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Sil(GK)=</a:t>
            </a:r>
            <a:pPr algn="l" indent="0" marL="0">
              <a:buNone/>
            </a:pPr>
            <a:r>
              <a:rPr lang="en-US" sz="700" b="1" dirty="0">
                <a:solidFill>
                  <a:srgbClr val="58A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0.4873</a:t>
            </a:r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, DEF=0.3637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7632650" y="2990701"/>
            <a:ext cx="116601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2ECC7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실용적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368201" y="3209776"/>
            <a:ext cx="178780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S6 하락세 감지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3009751" y="3224064"/>
            <a:ext cx="458602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58A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AUC=0.8324</a:t>
            </a:r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, F1=61.74%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7632650" y="3209776"/>
            <a:ext cx="116601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참고 활용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368201" y="3428851"/>
            <a:ext cx="178780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P1 경기 결과 예측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3009751" y="3433614"/>
            <a:ext cx="458602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Acc=54.79% (목표 57% 미달)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7632650" y="3428851"/>
            <a:ext cx="116601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✗ 비활성화 검토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368201" y="3647926"/>
            <a:ext cx="178780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P7 성장 곡선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3009751" y="3652689"/>
            <a:ext cx="458602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R²=0.586 (목표 0.62 미달)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7632650" y="3647926"/>
            <a:ext cx="116601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⚠ 조건부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0" y="4243685"/>
            <a:ext cx="9144000" cy="899815"/>
          </a:xfrm>
          <a:prstGeom prst="rect">
            <a:avLst/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Shape 47"/>
          <p:cNvSpPr/>
          <p:nvPr/>
        </p:nvSpPr>
        <p:spPr>
          <a:xfrm>
            <a:off x="0" y="4248448"/>
            <a:ext cx="9144000" cy="0"/>
          </a:xfrm>
          <a:prstGeom prst="line">
            <a:avLst/>
          </a:prstGeom>
          <a:noFill/>
          <a:ln w="9525">
            <a:solidFill>
              <a:srgbClr val="1A4A8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04800" y="4342061"/>
            <a:ext cx="325393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S2 저평가 탐색 하이라이트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304800" y="4503986"/>
            <a:ext cx="3253933" cy="275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5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Oliver Arblaster (Sheffield Utd, MF, 20) — 실제 £45만 / 예측 </a:t>
            </a:r>
            <a:pPr algn="l" indent="0" marL="0">
              <a:lnSpc>
                <a:spcPts val="1085"/>
              </a:lnSpc>
              <a:buNone/>
            </a:pPr>
            <a:r>
              <a:rPr lang="en-US" sz="700" b="1" dirty="0">
                <a:solidFill>
                  <a:srgbClr val="00E67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£248만 (5.5배 저평가)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304800" y="4779318"/>
            <a:ext cx="3253933" cy="275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5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Jakub Stolarczyk (Leicester, GK, 24) — 실제 £100만 / 예측 </a:t>
            </a:r>
            <a:pPr algn="l" indent="0" marL="0">
              <a:lnSpc>
                <a:spcPts val="1085"/>
              </a:lnSpc>
              <a:buNone/>
            </a:pPr>
            <a:r>
              <a:rPr lang="en-US" sz="700" b="1" dirty="0">
                <a:solidFill>
                  <a:srgbClr val="00E67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£425만 (4.3배 저평가)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3753594" y="4342061"/>
            <a:ext cx="0" cy="437257"/>
          </a:xfrm>
          <a:prstGeom prst="line">
            <a:avLst/>
          </a:prstGeom>
          <a:noFill/>
          <a:ln w="9525">
            <a:solidFill>
              <a:srgbClr val="1E253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910757" y="4342061"/>
            <a:ext cx="325393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 시연 스토리라인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3910757" y="4503986"/>
            <a:ext cx="3253933" cy="1376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5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S1 선수 역량 확인 → S2 저평가 탐색 → P8 이적 적응 예측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3910757" y="4641652"/>
            <a:ext cx="3253933" cy="1376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5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목표 구단: 브렌트포드·노팅엄 포레스트 수준 — 예산 30~50M £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7325100" y="4342061"/>
            <a:ext cx="151410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300"/>
              </a:spcAft>
              <a:buNone/>
            </a:pPr>
            <a:r>
              <a:rPr lang="en-US" sz="700" b="1" dirty="0">
                <a:solidFill>
                  <a:srgbClr val="58A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STREAMLIT CLOUD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7325100" y="4484936"/>
            <a:ext cx="15141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75"/>
              </a:lnSpc>
              <a:buNone/>
            </a:pPr>
            <a:r>
              <a:rPr lang="en-US" sz="650" b="1" dirty="0">
                <a:solidFill>
                  <a:srgbClr val="E945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</a:t>
            </a:r>
            <a:pPr algn="r" indent="0" marL="0">
              <a:lnSpc>
                <a:spcPts val="975"/>
              </a:lnSpc>
              <a:buNone/>
            </a:pPr>
            <a:r>
              <a:rPr lang="en-US" sz="6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epl-scouting-report-</a:t>
            </a:r>
            <a:endParaRPr lang="en-US" sz="650" dirty="0"/>
          </a:p>
          <a:p>
            <a:pPr algn="r" indent="0" marL="0">
              <a:lnSpc>
                <a:spcPts val="975"/>
              </a:lnSpc>
              <a:buNone/>
            </a:pPr>
            <a:r>
              <a:rPr lang="en-US" sz="6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dashboard-project-ffyb8msh6uaf</a:t>
            </a:r>
            <a:endParaRPr lang="en-US" sz="650" dirty="0"/>
          </a:p>
          <a:p>
            <a:pPr algn="r" indent="0" marL="0">
              <a:lnSpc>
                <a:spcPts val="975"/>
              </a:lnSpc>
              <a:buNone/>
            </a:pPr>
            <a:r>
              <a:rPr lang="en-US" sz="6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xyg8txsm8.streamlit.app</a:t>
            </a:r>
            <a:endParaRPr lang="en-US" sz="650" dirty="0"/>
          </a:p>
        </p:txBody>
      </p:sp>
      <p:sp>
        <p:nvSpPr>
          <p:cNvPr id="59" name="Text 57"/>
          <p:cNvSpPr/>
          <p:nvPr/>
        </p:nvSpPr>
        <p:spPr>
          <a:xfrm>
            <a:off x="7325100" y="4881711"/>
            <a:ext cx="15141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Bef>
                <a:spcPts val="200"/>
              </a:spcBef>
              <a:buNone/>
            </a:pPr>
            <a:r>
              <a:rPr lang="en-US" sz="650" b="1" dirty="0">
                <a:solidFill>
                  <a:srgbClr val="00E67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P1·P7 달성 → 즉시 활용 11개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2026-05-12T00:30:04Z</dcterms:created>
  <dcterms:modified xsi:type="dcterms:W3CDTF">2026-05-12T00:30:04Z</dcterms:modified>
</cp:coreProperties>
</file>