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3401" y="474464"/>
            <a:ext cx="9080599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8951" y="177701"/>
            <a:ext cx="1831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05961" y="177701"/>
            <a:ext cx="3383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Cover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8951" y="1306562"/>
            <a:ext cx="84851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 DASHBOARD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8951" y="1547813"/>
            <a:ext cx="8485123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8951" y="1938784"/>
            <a:ext cx="8485123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8951" y="2456706"/>
            <a:ext cx="8485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FBref + Transfermarkt 기반 EPL 스카우팅 의사결정 지원 시스템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8951" y="2767757"/>
            <a:ext cx="552004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0452" y="2805857"/>
            <a:ext cx="355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Python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47155" y="2767757"/>
            <a:ext cx="629543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8655" y="2805857"/>
            <a:ext cx="4350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52898" y="2767757"/>
            <a:ext cx="686395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54398" y="2805857"/>
            <a:ext cx="493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LightGBM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15493" y="2767757"/>
            <a:ext cx="645616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16994" y="2805857"/>
            <a:ext cx="4514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37309" y="2767757"/>
            <a:ext cx="655588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38810" y="2805857"/>
            <a:ext cx="461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Selenium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69097" y="2767757"/>
            <a:ext cx="485180" cy="1905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0598" y="2805857"/>
            <a:ext cx="2878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SHAP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8951" y="3115419"/>
            <a:ext cx="8318748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951" y="3247132"/>
            <a:ext cx="1984474" cy="681633"/>
          </a:xfrm>
          <a:prstGeom prst="roundRect">
            <a:avLst>
              <a:gd name="adj" fmla="val 1117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8951" y="3256657"/>
            <a:ext cx="198447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351" y="3367683"/>
            <a:ext cx="171326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14종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1351" y="3712964"/>
            <a:ext cx="1713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모델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30376" y="3247132"/>
            <a:ext cx="1984474" cy="681633"/>
          </a:xfrm>
          <a:prstGeom prst="roundRect">
            <a:avLst>
              <a:gd name="adj" fmla="val 1117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30376" y="3256657"/>
            <a:ext cx="198447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2776" y="3367683"/>
            <a:ext cx="171326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682776" y="3712964"/>
            <a:ext cx="1713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시즌 커버리지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41800" y="3247132"/>
            <a:ext cx="1984474" cy="681633"/>
          </a:xfrm>
          <a:prstGeom prst="roundRect">
            <a:avLst>
              <a:gd name="adj" fmla="val 1117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1800" y="3256657"/>
            <a:ext cx="198447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4200" y="3367683"/>
            <a:ext cx="171326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1,416명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94200" y="3712964"/>
            <a:ext cx="1713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분석 대상 선수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53225" y="3247132"/>
            <a:ext cx="1984474" cy="681633"/>
          </a:xfrm>
          <a:prstGeom prst="roundRect">
            <a:avLst>
              <a:gd name="adj" fmla="val 1117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753225" y="3256657"/>
            <a:ext cx="198447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5625" y="3367683"/>
            <a:ext cx="171326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15페이지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05625" y="3712964"/>
            <a:ext cx="1713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대시보드 구성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401" y="4761012"/>
            <a:ext cx="9080599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8951" y="4897487"/>
            <a:ext cx="16681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프로젝트 기간 · 2025.11 ~ 2026.04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36322" y="4892725"/>
            <a:ext cx="3074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56984" y="152400"/>
            <a:ext cx="490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606326"/>
            <a:ext cx="0" cy="46672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606326"/>
            <a:ext cx="8294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시스템 한눈에 보기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49226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5단계 end-to-end 파이프라인 | ML 14종 | Streamlit 대시보드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174552"/>
            <a:ext cx="1483370" cy="771525"/>
          </a:xfrm>
          <a:prstGeom prst="roundRect">
            <a:avLst>
              <a:gd name="adj" fmla="val 823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2722" y="1288852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STEP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2722" y="1441252"/>
            <a:ext cx="11505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크롤링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2722" y="1603177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FBref · Transfermarkt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28515" y="1474589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18271" y="1174552"/>
            <a:ext cx="1483519" cy="771525"/>
          </a:xfrm>
          <a:prstGeom prst="roundRect">
            <a:avLst>
              <a:gd name="adj" fmla="val 823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84690" y="1288852"/>
            <a:ext cx="1150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STEP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4690" y="1441252"/>
            <a:ext cx="11506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파이프라인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4690" y="1603177"/>
            <a:ext cx="115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aggregate → preprocess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40634" y="1474589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0389" y="1174552"/>
            <a:ext cx="1483370" cy="771525"/>
          </a:xfrm>
          <a:prstGeom prst="roundRect">
            <a:avLst>
              <a:gd name="adj" fmla="val 823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96811" y="1288852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STEP 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96811" y="1441252"/>
            <a:ext cx="11505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피처 엔지니어링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96811" y="1603177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60+ features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52604" y="1474589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42359" y="1174552"/>
            <a:ext cx="1483370" cy="771525"/>
          </a:xfrm>
          <a:prstGeom prst="roundRect">
            <a:avLst>
              <a:gd name="adj" fmla="val 823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08780" y="1288852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STEP 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708780" y="1441252"/>
            <a:ext cx="11505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14종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08780" y="1603177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p1~p8 · s1~s6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064573" y="1474589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4329" y="1174552"/>
            <a:ext cx="1483370" cy="771525"/>
          </a:xfrm>
          <a:prstGeom prst="roundRect">
            <a:avLst>
              <a:gd name="adj" fmla="val 823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20750" y="1288852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STEP 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420750" y="1441252"/>
            <a:ext cx="11505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20750" y="1603177"/>
            <a:ext cx="115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 15페이지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6301" y="2047577"/>
            <a:ext cx="1585020" cy="2658070"/>
          </a:xfrm>
          <a:prstGeom prst="roundRect">
            <a:avLst>
              <a:gd name="adj" fmla="val 48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06301" y="2066627"/>
            <a:ext cx="158502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002" y="2212628"/>
            <a:ext cx="1254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S2 시장가치 R²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4002" y="3251597"/>
            <a:ext cx="125421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0.876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84002" y="4483447"/>
            <a:ext cx="1254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 Test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92821" y="2047577"/>
            <a:ext cx="1585168" cy="2658070"/>
          </a:xfrm>
          <a:prstGeom prst="roundRect">
            <a:avLst>
              <a:gd name="adj" fmla="val 48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092821" y="2066627"/>
            <a:ext cx="1585168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70522" y="2212628"/>
            <a:ext cx="12543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P3 강등 예측 F1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70522" y="3251597"/>
            <a:ext cx="125436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92.3%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270522" y="4483447"/>
            <a:ext cx="12543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풀시즌 XGBoost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79490" y="2047577"/>
            <a:ext cx="1585020" cy="2658070"/>
          </a:xfrm>
          <a:prstGeom prst="roundRect">
            <a:avLst>
              <a:gd name="adj" fmla="val 48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779490" y="2066627"/>
            <a:ext cx="158502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7191" y="2212628"/>
            <a:ext cx="1254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P8 이적 적응 AUC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957191" y="3251597"/>
            <a:ext cx="125421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0.735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957191" y="4483447"/>
            <a:ext cx="1254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앙상블 Test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66011" y="2047577"/>
            <a:ext cx="1585168" cy="2658070"/>
          </a:xfrm>
          <a:prstGeom prst="roundRect">
            <a:avLst>
              <a:gd name="adj" fmla="val 48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466011" y="2066627"/>
            <a:ext cx="1585168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43711" y="2212628"/>
            <a:ext cx="12543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 경기결과 ΔF1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43711" y="3261122"/>
            <a:ext cx="125436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+18.7%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643711" y="4483447"/>
            <a:ext cx="12543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vs 베이스라인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152680" y="2047577"/>
            <a:ext cx="1585020" cy="2658070"/>
          </a:xfrm>
          <a:prstGeom prst="roundRect">
            <a:avLst>
              <a:gd name="adj" fmla="val 48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7152680" y="2066627"/>
            <a:ext cx="158502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0380" y="2212628"/>
            <a:ext cx="1254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스카우트 평가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330380" y="3251597"/>
            <a:ext cx="125421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3.7/5.0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330380" y="4483447"/>
            <a:ext cx="12542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김태현 스카우트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301" y="4922937"/>
            <a:ext cx="31007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크롤링부터 대시보드까지 — 완전 자동화 end-to-end 스카우팅 파이프라인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412956" y="4918174"/>
            <a:ext cx="331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7975" y="152400"/>
            <a:ext cx="4179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문제 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606326"/>
            <a:ext cx="0" cy="46672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606326"/>
            <a:ext cx="8294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왜 데이터 스카우팅인가?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49226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전통 방식의 4가지 한계 → 데이터로 답한다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276052"/>
            <a:ext cx="2539901" cy="3429595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0113" y="1276052"/>
            <a:ext cx="0" cy="3429595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076" y="1453753"/>
            <a:ext cx="21276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전통 스카우팅의 4가지 한계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7076" y="171717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1965" y="1761530"/>
            <a:ext cx="74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1727" y="1704529"/>
            <a:ext cx="113580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주관적 평가 편향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1727" y="1857375"/>
            <a:ext cx="1135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개인 취향 개입 → 재현 불가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57076" y="210487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1965" y="2149227"/>
            <a:ext cx="74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1727" y="2092226"/>
            <a:ext cx="89989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시장가치 비효율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1727" y="2245072"/>
            <a:ext cx="8998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저평가 선수 발굴 실패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7076" y="249257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1965" y="2536924"/>
            <a:ext cx="74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1727" y="2479923"/>
            <a:ext cx="101557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이적 리스크 미예측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1727" y="2632770"/>
            <a:ext cx="101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적응 실패 사전 탐지 부재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7076" y="288027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1965" y="2924621"/>
            <a:ext cx="74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1727" y="2867620"/>
            <a:ext cx="927982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조기 경보 부재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1727" y="3020467"/>
            <a:ext cx="927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 위험 → 늦은 대응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23902" y="1276052"/>
            <a:ext cx="57260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데이터로 답하는 4가지 핵심 질문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23902" y="1501378"/>
            <a:ext cx="5613797" cy="724942"/>
          </a:xfrm>
          <a:prstGeom prst="roundRect">
            <a:avLst>
              <a:gd name="adj" fmla="val 10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01603" y="17113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23642" y="1797100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58803" y="1719114"/>
            <a:ext cx="1860822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 선수, 저평가됐나?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58803" y="1884611"/>
            <a:ext cx="18608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 S2 시장가치 예측 (XGBoost R²=0.876)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123902" y="2327821"/>
            <a:ext cx="5613797" cy="724942"/>
          </a:xfrm>
          <a:prstGeom prst="roundRect">
            <a:avLst>
              <a:gd name="adj" fmla="val 10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01603" y="253781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10694" y="2623542"/>
            <a:ext cx="88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58803" y="2545556"/>
            <a:ext cx="1980899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유사 선수가 있나?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58803" y="2711053"/>
            <a:ext cx="19808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 S3 포지션별 클러스터링 (Silhouette 0.49)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123902" y="3154263"/>
            <a:ext cx="5613797" cy="724942"/>
          </a:xfrm>
          <a:prstGeom prst="roundRect">
            <a:avLst>
              <a:gd name="adj" fmla="val 10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01603" y="336426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09504" y="3449985"/>
            <a:ext cx="907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58803" y="3371999"/>
            <a:ext cx="150711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EPL에 적응할 수 있나?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758803" y="3537496"/>
            <a:ext cx="1507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 P8 이적 적응 예측 (AUC 0.735)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123902" y="3980706"/>
            <a:ext cx="5613797" cy="724942"/>
          </a:xfrm>
          <a:prstGeom prst="roundRect">
            <a:avLst>
              <a:gd name="adj" fmla="val 10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01603" y="419070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408462" y="4276427"/>
            <a:ext cx="927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58803" y="4198441"/>
            <a:ext cx="141846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 위험이 있나?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58803" y="4363938"/>
            <a:ext cx="1418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 P3 강등 경보 모델 (F1 92.3%)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301" y="4922937"/>
            <a:ext cx="27441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 기반 의사결정으로 스카우팅 효율성과 재현성을 동시에 확보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410873" y="4918174"/>
            <a:ext cx="333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2225" y="152400"/>
            <a:ext cx="7093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02. 데이터 수집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81025"/>
            <a:ext cx="0" cy="44767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81025"/>
            <a:ext cx="8294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FBref + Transfermarkt 체크포인트 기반 크롤링 파이프라인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04875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레이트 리밋 준수 · 체크포인트 재시작 · 시즌별 자동 수집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130201"/>
            <a:ext cx="3196382" cy="1774924"/>
          </a:xfrm>
          <a:prstGeom prst="roundRect">
            <a:avLst>
              <a:gd name="adj" fmla="val 572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0113" y="1130201"/>
            <a:ext cx="0" cy="1774924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326" y="1257151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FBref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3377" y="1266676"/>
            <a:ext cx="7113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경기 / 선수 스탯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6326" y="15301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4027" y="1479352"/>
            <a:ext cx="834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경기 결과 / 팀 통계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6326" y="172045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4027" y="1669703"/>
            <a:ext cx="9877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스탯 (90분 기준)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6326" y="191080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4027" y="1860054"/>
            <a:ext cx="9791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 / xA / 진행성 패스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6326" y="210115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4027" y="2050405"/>
            <a:ext cx="725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Rate limit: 6초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6301" y="3032075"/>
            <a:ext cx="3196382" cy="1775073"/>
          </a:xfrm>
          <a:prstGeom prst="roundRect">
            <a:avLst>
              <a:gd name="adj" fmla="val 572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0113" y="3032075"/>
            <a:ext cx="0" cy="1775073"/>
          </a:xfrm>
          <a:prstGeom prst="line">
            <a:avLst/>
          </a:prstGeom>
          <a:noFill/>
          <a:ln w="47625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326" y="3159026"/>
            <a:ext cx="944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Transfermarkt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33686" y="3168551"/>
            <a:ext cx="8825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시장가치 / 이적이력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343197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4027" y="3381226"/>
            <a:ext cx="822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시장가치 (€)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6326" y="36223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84027" y="3571577"/>
            <a:ext cx="9077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이적이력 / 출신 리그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6326" y="38126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4027" y="3761929"/>
            <a:ext cx="6395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계약 만료 정보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326" y="40030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4027" y="3952280"/>
            <a:ext cx="723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Rate limit: 5초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32175" y="2859137"/>
            <a:ext cx="2052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62884" y="1130201"/>
            <a:ext cx="4474815" cy="492026"/>
          </a:xfrm>
          <a:prstGeom prst="roundRect">
            <a:avLst>
              <a:gd name="adj" fmla="val 154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15284" y="124926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14850" y="1314301"/>
            <a:ext cx="55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96135" y="1244501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data/raw/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96135" y="1393627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크롤링 원본 저장 (CSV, 시즌/팀/선수 계층)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262884" y="1723727"/>
            <a:ext cx="4474815" cy="492026"/>
          </a:xfrm>
          <a:prstGeom prst="roundRect">
            <a:avLst>
              <a:gd name="adj" fmla="val 154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15284" y="184279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03241" y="1907828"/>
            <a:ext cx="795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96135" y="1838027"/>
            <a:ext cx="12654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data/processed/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96135" y="1987153"/>
            <a:ext cx="1265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파이프라인 처리 후 (Parquet)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262884" y="2317254"/>
            <a:ext cx="4474815" cy="492026"/>
          </a:xfrm>
          <a:prstGeom prst="roundRect">
            <a:avLst>
              <a:gd name="adj" fmla="val 1548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15284" y="243631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02200" y="2501354"/>
            <a:ext cx="81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96135" y="2431554"/>
            <a:ext cx="12944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data/features/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96135" y="2580680"/>
            <a:ext cx="12944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피처 생성 (60+ features)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262884" y="2910780"/>
            <a:ext cx="4474815" cy="469702"/>
          </a:xfrm>
          <a:prstGeom prst="roundRect">
            <a:avLst>
              <a:gd name="adj" fmla="val 16223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281934" y="2910780"/>
            <a:ext cx="0" cy="469702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53384" y="3012281"/>
            <a:ext cx="42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체크포인트 재시작 가능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453384" y="3164681"/>
            <a:ext cx="4214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중단 후 재시작 시 수집된 부분부터 이어서 진행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6301" y="4922937"/>
            <a:ext cx="24678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재시작 가능한 체크포인트 구조로 대용량 데이터 안정적 수집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409087" y="4918174"/>
            <a:ext cx="3351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48005" y="152400"/>
            <a:ext cx="907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03. 피처 엔지니어링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04825"/>
            <a:ext cx="0" cy="44767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04825"/>
            <a:ext cx="8294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9시즌 EPL 데이터 — 14,000+ 선수-시즌 레코드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828675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90분 기준 정규화 + 누적 경험 피처 · 포지션 중립적 평가 체계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003250"/>
            <a:ext cx="2158901" cy="903387"/>
          </a:xfrm>
          <a:prstGeom prst="roundRect">
            <a:avLst>
              <a:gd name="adj" fmla="val 984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169194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시즌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4002" y="1283494"/>
            <a:ext cx="1839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4002" y="1626394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2016-17 ~ 2024-25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6301" y="1970038"/>
            <a:ext cx="2158901" cy="903536"/>
          </a:xfrm>
          <a:prstGeom prst="roundRect">
            <a:avLst>
              <a:gd name="adj" fmla="val 983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002" y="2135981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선수-시즌 레코드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4002" y="2250281"/>
            <a:ext cx="1839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14,000+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4002" y="2593181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Train/Val/Test 분할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6301" y="2936974"/>
            <a:ext cx="2158901" cy="903387"/>
          </a:xfrm>
          <a:prstGeom prst="roundRect">
            <a:avLst>
              <a:gd name="adj" fmla="val 984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4002" y="3102918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피처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4002" y="3217218"/>
            <a:ext cx="1839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4002" y="3560118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포지션별 특화 피처 포함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6301" y="3903762"/>
            <a:ext cx="2158901" cy="903387"/>
          </a:xfrm>
          <a:prstGeom prst="roundRect">
            <a:avLst>
              <a:gd name="adj" fmla="val 984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002" y="4069705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팀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4002" y="4184005"/>
            <a:ext cx="18395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4002" y="4526905"/>
            <a:ext cx="18395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강등/승격 팀 포함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17602" y="1003250"/>
            <a:ext cx="6140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피처 카테고리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17602" y="1206401"/>
            <a:ext cx="6020098" cy="833438"/>
          </a:xfrm>
          <a:prstGeom prst="roundRect">
            <a:avLst>
              <a:gd name="adj" fmla="val 9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70002" y="147072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38016" y="1575495"/>
            <a:ext cx="171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공격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01752" y="1491407"/>
            <a:ext cx="19909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공격 지표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01752" y="1640532"/>
            <a:ext cx="19909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goals_p90, assists_p90, xG_p90, xA_p90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17602" y="2128689"/>
            <a:ext cx="6020098" cy="833586"/>
          </a:xfrm>
          <a:prstGeom prst="roundRect">
            <a:avLst>
              <a:gd name="adj" fmla="val 914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70002" y="239300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38016" y="2497782"/>
            <a:ext cx="171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수비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01752" y="2413695"/>
            <a:ext cx="20325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수비 지표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01752" y="2562820"/>
            <a:ext cx="2032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tackles_p90, clearances_p90, blocks_p90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17602" y="3051125"/>
            <a:ext cx="6020098" cy="833586"/>
          </a:xfrm>
          <a:prstGeom prst="roundRect">
            <a:avLst>
              <a:gd name="adj" fmla="val 914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70002" y="331544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938016" y="3420219"/>
            <a:ext cx="171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경험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01752" y="3336131"/>
            <a:ext cx="17310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경험 지표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01752" y="3485257"/>
            <a:ext cx="1731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epl_experience, transfer_count, age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17602" y="3973562"/>
            <a:ext cx="6020098" cy="833586"/>
          </a:xfrm>
          <a:prstGeom prst="roundRect">
            <a:avLst>
              <a:gd name="adj" fmla="val 914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870002" y="42378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980134" y="4342656"/>
            <a:ext cx="860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01752" y="4258568"/>
            <a:ext cx="19915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 지표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01752" y="4407694"/>
            <a:ext cx="19915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elo_rating, rolling_form, home_away_split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301" y="4922937"/>
            <a:ext cx="2217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 누수 방지 — 예측 시점 이전 과거 데이터만 사용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412956" y="4918174"/>
            <a:ext cx="3312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26995" y="152400"/>
            <a:ext cx="11329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04-A. 모델: S2 시장가치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6301" y="581025"/>
            <a:ext cx="2539901" cy="1206252"/>
          </a:xfrm>
          <a:prstGeom prst="roundRect">
            <a:avLst>
              <a:gd name="adj" fmla="val 8423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758726"/>
            <a:ext cx="21762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 · Test 성능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9451" y="949226"/>
            <a:ext cx="11014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451" y="1063526"/>
            <a:ext cx="110149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0.876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92498" y="1085701"/>
            <a:ext cx="757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92498" y="1200001"/>
            <a:ext cx="7579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3.4M€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451" y="1495276"/>
            <a:ext cx="21762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MAPE 29.8% · Test 1,234건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6301" y="1888778"/>
            <a:ext cx="2539901" cy="2061567"/>
          </a:xfrm>
          <a:prstGeom prst="roundRect">
            <a:avLst>
              <a:gd name="adj" fmla="val 431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802" y="1964978"/>
            <a:ext cx="2383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Feature Importance (Top 피처)</a:t>
            </a:r>
            <a:endParaRPr lang="en-US" sz="750" dirty="0"/>
          </a:p>
        </p:txBody>
      </p:sp>
      <p:pic>
        <p:nvPicPr>
          <p:cNvPr id="14" name="Image 0" descr="C:/Users/xcv54/workspace/EPL project/reports/portfolio_ppt/slides/assets/s2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802" y="2117378"/>
            <a:ext cx="2031950" cy="16128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6301" y="4051846"/>
            <a:ext cx="2539901" cy="653802"/>
          </a:xfrm>
          <a:prstGeom prst="roundRect">
            <a:avLst>
              <a:gd name="adj" fmla="val 11655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25351" y="4051846"/>
            <a:ext cx="0" cy="653802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801" y="4153346"/>
            <a:ext cx="2240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v4 스마트 필터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96801" y="4318397"/>
            <a:ext cx="2240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유스 제외: age≤21 → 18명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노령 제외: age≥38 → 1명(Young)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098602" y="581025"/>
            <a:ext cx="791468" cy="1905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200102" y="619125"/>
            <a:ext cx="6002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저평가 TOP 5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966270" y="619125"/>
            <a:ext cx="8652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예측가 &gt; 실제 시장가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098602" y="847725"/>
            <a:ext cx="2743349" cy="730895"/>
          </a:xfrm>
          <a:prstGeom prst="roundRect">
            <a:avLst>
              <a:gd name="adj" fmla="val 868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225552" y="1103561"/>
            <a:ext cx="9871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Oliver Arblaster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25552" y="1227386"/>
            <a:ext cx="987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Sheffield Utd · €450K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258395" y="1122611"/>
            <a:ext cx="4657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6.61×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098602" y="1629370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25552" y="1885355"/>
            <a:ext cx="7553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Sam Morsy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25552" y="2009180"/>
            <a:ext cx="755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Ipswich · €500K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217616" y="1904405"/>
            <a:ext cx="507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4.33×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098602" y="2411164"/>
            <a:ext cx="2743349" cy="730895"/>
          </a:xfrm>
          <a:prstGeom prst="roundRect">
            <a:avLst>
              <a:gd name="adj" fmla="val 868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225552" y="2667000"/>
            <a:ext cx="9383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Jakub Stolarczyk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225552" y="2790825"/>
            <a:ext cx="9383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Leicester · €1.0M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216277" y="2686050"/>
            <a:ext cx="508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3.83×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098602" y="3192810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225552" y="3448794"/>
            <a:ext cx="7189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Alex Palmer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225552" y="3572619"/>
            <a:ext cx="7189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Ipswich · €1.0M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225207" y="3467844"/>
            <a:ext cx="4995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2.54×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098602" y="3974604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225552" y="4230588"/>
            <a:ext cx="8794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Pelly R. Mpanzu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225552" y="4354413"/>
            <a:ext cx="8794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Luton · €1.5M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263009" y="4249638"/>
            <a:ext cx="4610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2.15×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994350" y="581025"/>
            <a:ext cx="881658" cy="1905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095851" y="619125"/>
            <a:ext cx="6922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과대평가 TOP 5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952208" y="619125"/>
            <a:ext cx="8652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예측가 &lt; 실제 시장가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994350" y="847725"/>
            <a:ext cx="2743349" cy="730895"/>
          </a:xfrm>
          <a:prstGeom prst="roundRect">
            <a:avLst>
              <a:gd name="adj" fmla="val 868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121301" y="1103561"/>
            <a:ext cx="8130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Jacob Greaves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121301" y="1227386"/>
            <a:ext cx="8130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Ipswich · €18.0M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8151763" y="1122611"/>
            <a:ext cx="4681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0.21×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994350" y="1629370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121301" y="1875830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Ibrahim Sangaré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6121301" y="2018705"/>
            <a:ext cx="10769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Nott'm Forest · €30.0M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8117979" y="1904405"/>
            <a:ext cx="502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0.22×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994350" y="2411164"/>
            <a:ext cx="2743349" cy="730895"/>
          </a:xfrm>
          <a:prstGeom prst="roundRect">
            <a:avLst>
              <a:gd name="adj" fmla="val 868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121301" y="2667000"/>
            <a:ext cx="982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Manuel Ugarte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121301" y="2790825"/>
            <a:ext cx="9823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Man United · €45.0M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8115002" y="2686050"/>
            <a:ext cx="505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0.23×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5994350" y="3192810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121301" y="3448794"/>
            <a:ext cx="9836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Matthijs de Ligt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6121301" y="3572619"/>
            <a:ext cx="9836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Man United · €38.0M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8108007" y="3467844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0.30×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5994350" y="3974604"/>
            <a:ext cx="2743349" cy="731044"/>
          </a:xfrm>
          <a:prstGeom prst="roundRect">
            <a:avLst>
              <a:gd name="adj" fmla="val 868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121301" y="4221063"/>
            <a:ext cx="932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Guido Rodríguez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6121301" y="4363938"/>
            <a:ext cx="9320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West Ham · €10.0M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8112026" y="4249638"/>
            <a:ext cx="508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0.33×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06301" y="4922937"/>
            <a:ext cx="3562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예측가/시장가 비율로 저평가 탐색 — 유스(21세 이하) 및 38세+ 스마트 필터 적용 (v4)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8410724" y="4918174"/>
            <a:ext cx="3335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32340" y="152400"/>
            <a:ext cx="12294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04-B. 모델: S3 클러스터링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81025"/>
            <a:ext cx="0" cy="44767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81025"/>
            <a:ext cx="8294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S3 포지션별 유사선수 클러스터링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04875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전체 K=6 혼합 → 포지션별 최적 K 분리 — 대체 선수 즉시 탐색으로 영입 비용 절감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130201"/>
            <a:ext cx="2539901" cy="1135707"/>
          </a:xfrm>
          <a:prstGeom prst="roundRect">
            <a:avLst>
              <a:gd name="adj" fmla="val 782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002" y="1282601"/>
            <a:ext cx="2228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BEFORE (전체 혼합)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4002" y="1447651"/>
            <a:ext cx="22281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K =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4002" y="1571476"/>
            <a:ext cx="222818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0.115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4002" y="1878657"/>
            <a:ext cx="2228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Silhouette Score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4002" y="2018258"/>
            <a:ext cx="2228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 간 경계 불명확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49896" y="2367409"/>
            <a:ext cx="257764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6301" y="2722959"/>
            <a:ext cx="2539901" cy="1135707"/>
          </a:xfrm>
          <a:prstGeom prst="roundRect">
            <a:avLst>
              <a:gd name="adj" fmla="val 782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002" y="2875359"/>
            <a:ext cx="2228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AFTER (포지션 분리)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002" y="3040410"/>
            <a:ext cx="22281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포지션별 최적 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4002" y="3164235"/>
            <a:ext cx="222818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0.21~0.49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4002" y="3471416"/>
            <a:ext cx="2228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Silhouette 범위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4002" y="3611017"/>
            <a:ext cx="2228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 특성 명확화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23902" y="1130201"/>
            <a:ext cx="27724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포지션별 클러스터링 결과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23902" y="1346002"/>
            <a:ext cx="2718048" cy="792361"/>
          </a:xfrm>
          <a:prstGeom prst="roundRect">
            <a:avLst>
              <a:gd name="adj" fmla="val 96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1603" y="158978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84203" y="1685032"/>
            <a:ext cx="1422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33354" y="1680270"/>
            <a:ext cx="3316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골키퍼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9383" y="1618357"/>
            <a:ext cx="644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K = </a:t>
            </a:r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19383" y="1742182"/>
            <a:ext cx="644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Sil: 0.4873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23902" y="2201763"/>
            <a:ext cx="2718048" cy="792361"/>
          </a:xfrm>
          <a:prstGeom prst="roundRect">
            <a:avLst>
              <a:gd name="adj" fmla="val 96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01603" y="244554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57711" y="2540794"/>
            <a:ext cx="196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DEF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733354" y="2536031"/>
            <a:ext cx="3316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수비수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3937" y="2474119"/>
            <a:ext cx="6403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K = </a:t>
            </a:r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3937" y="2597944"/>
            <a:ext cx="6403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Sil: 0.3637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23902" y="3057525"/>
            <a:ext cx="2718048" cy="792361"/>
          </a:xfrm>
          <a:prstGeom prst="roundRect">
            <a:avLst>
              <a:gd name="adj" fmla="val 96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01603" y="330130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58009" y="3396555"/>
            <a:ext cx="195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MID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33354" y="3391793"/>
            <a:ext cx="4422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미드필더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19991" y="3329880"/>
            <a:ext cx="6442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K = </a:t>
            </a:r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19991" y="3453705"/>
            <a:ext cx="6442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Sil: 0.2299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23902" y="3913287"/>
            <a:ext cx="2718048" cy="792361"/>
          </a:xfrm>
          <a:prstGeom prst="roundRect">
            <a:avLst>
              <a:gd name="adj" fmla="val 96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01603" y="415706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73338" y="4252317"/>
            <a:ext cx="164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FW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33354" y="4247555"/>
            <a:ext cx="3316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공격수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14677" y="4185642"/>
            <a:ext cx="649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K = </a:t>
            </a:r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14677" y="4309467"/>
            <a:ext cx="649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Sil: 0.2085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19651" y="1130201"/>
            <a:ext cx="27724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포지션별 클러스터 분포 (UMAP)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19651" y="1320701"/>
            <a:ext cx="2718048" cy="3384947"/>
          </a:xfrm>
          <a:prstGeom prst="roundRect">
            <a:avLst>
              <a:gd name="adj" fmla="val 280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0" descr="C:/Users/xcv54/workspace/EPL project/reports/portfolio_ppt/slides/assets/s3_u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1" y="2135237"/>
            <a:ext cx="2565648" cy="1755874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06301" y="4922937"/>
            <a:ext cx="38244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포지션별 분리로 실루엣 0.115 → 최대 0.487 개선 — 유사 선수 즉시 탐색으로 영입 비용 절감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8418761" y="4918174"/>
            <a:ext cx="3253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98866" y="152400"/>
            <a:ext cx="1161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04-C. 모델: P8 이적 적응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81025"/>
            <a:ext cx="0" cy="44767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81025"/>
            <a:ext cx="8294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P8 이적 적응 예측 — 회귀 실패 → 이진 분류 전환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04875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R²=0.13 회귀 실패 후 이진 분류 재설계 — 앙상블로 AUC 0.735 달성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155650"/>
            <a:ext cx="18649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개발 스토리 — 의사결정 과정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6301" y="1346150"/>
            <a:ext cx="1828354" cy="798612"/>
          </a:xfrm>
          <a:prstGeom prst="roundRect">
            <a:avLst>
              <a:gd name="adj" fmla="val 795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8701" y="14476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742" y="1504801"/>
            <a:ext cx="49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88802" y="1447651"/>
            <a:ext cx="1217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회귀 접근 → 실패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8802" y="1587252"/>
            <a:ext cx="1217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G+A/90 변화율 예측 → R²=0.13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6301" y="2208163"/>
            <a:ext cx="1828354" cy="798761"/>
          </a:xfrm>
          <a:prstGeom prst="roundRect">
            <a:avLst>
              <a:gd name="adj" fmla="val 7950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8701" y="230966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8324" y="2366814"/>
            <a:ext cx="70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8802" y="2309664"/>
            <a:ext cx="1217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원인 분석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8802" y="2449264"/>
            <a:ext cx="1217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이적 퍼포먼스는 연속값 예측 불가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6301" y="3070324"/>
            <a:ext cx="1828354" cy="798612"/>
          </a:xfrm>
          <a:prstGeom prst="roundRect">
            <a:avLst>
              <a:gd name="adj" fmla="val 7951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8701" y="3171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7431" y="3228975"/>
            <a:ext cx="7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8802" y="3171825"/>
            <a:ext cx="1217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이진 분류로 전환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8802" y="3311426"/>
            <a:ext cx="1217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G+A/90 이전 80% 유지 → adapted=1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6301" y="3932337"/>
            <a:ext cx="1828354" cy="798612"/>
          </a:xfrm>
          <a:prstGeom prst="roundRect">
            <a:avLst>
              <a:gd name="adj" fmla="val 795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701" y="403383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6538" y="4090987"/>
            <a:ext cx="74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88802" y="4033837"/>
            <a:ext cx="1217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앙상블 + 필터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8802" y="4173438"/>
            <a:ext cx="1217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XGB+LR+RF 소프트보팅, 5.5×90s 필터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87054" y="1155650"/>
            <a:ext cx="4718298" cy="1104900"/>
          </a:xfrm>
          <a:prstGeom prst="roundRect">
            <a:avLst>
              <a:gd name="adj" fmla="val 9195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90205" y="1308050"/>
            <a:ext cx="4398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앙상블 모델 성능 (XGB+LR+RF · Test)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90205" y="1498550"/>
            <a:ext cx="9308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AUC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90205" y="1612850"/>
            <a:ext cx="9308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0.735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680520" y="1498550"/>
            <a:ext cx="95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80520" y="1612850"/>
            <a:ext cx="958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0.669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798368" y="1498550"/>
            <a:ext cx="925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Recall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98368" y="1612850"/>
            <a:ext cx="92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0.722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883176" y="1498550"/>
            <a:ext cx="1039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Acc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83176" y="1612850"/>
            <a:ext cx="10394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68.3%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590205" y="1993850"/>
            <a:ext cx="43982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학습 1,132건 / Test 284건 · Positive rate 44.4%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387054" y="2362051"/>
            <a:ext cx="4718298" cy="2368897"/>
          </a:xfrm>
          <a:prstGeom prst="roundRect">
            <a:avLst>
              <a:gd name="adj" fmla="val 32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539454" y="2463552"/>
            <a:ext cx="4501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모델 성능 비교 (ROC Curve)</a:t>
            </a:r>
            <a:endParaRPr lang="en-US" sz="750" dirty="0"/>
          </a:p>
        </p:txBody>
      </p:sp>
      <p:pic>
        <p:nvPicPr>
          <p:cNvPr id="42" name="Image 0" descr="C:/Users/xcv54/workspace/EPL project/reports/portfolio_ppt/slides/assets/p8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454" y="2628602"/>
            <a:ext cx="4413498" cy="154811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257752" y="1155650"/>
            <a:ext cx="15095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리스크 분류 (1,416명)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257752" y="1333351"/>
            <a:ext cx="1479947" cy="1090166"/>
          </a:xfrm>
          <a:prstGeom prst="roundRect">
            <a:avLst>
              <a:gd name="adj" fmla="val 815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7424208" y="1447651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LOW RISK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424208" y="1561951"/>
            <a:ext cx="114703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253명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7424208" y="1897112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adapt_proba ≥ 0.70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7435453" y="2087612"/>
            <a:ext cx="1124545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7527738" y="2125712"/>
            <a:ext cx="939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영입 추천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7257752" y="2486918"/>
            <a:ext cx="1479947" cy="1090315"/>
          </a:xfrm>
          <a:prstGeom prst="roundRect">
            <a:avLst>
              <a:gd name="adj" fmla="val 815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7424208" y="2601218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MEDIUM RISK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424208" y="2715518"/>
            <a:ext cx="114703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649명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7424208" y="3050679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0.40 ~ 0.70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435453" y="3241179"/>
            <a:ext cx="1124545" cy="17145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7527738" y="3279279"/>
            <a:ext cx="939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조건부 추천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257752" y="3640634"/>
            <a:ext cx="1479947" cy="1090315"/>
          </a:xfrm>
          <a:prstGeom prst="roundRect">
            <a:avLst>
              <a:gd name="adj" fmla="val 815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7424208" y="3754934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HIGH RISK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424208" y="3869234"/>
            <a:ext cx="114703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514명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7424208" y="4204395"/>
            <a:ext cx="1147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adapt_proba ≤ 0.40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7435453" y="4394895"/>
            <a:ext cx="1124545" cy="17145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7527738" y="4432995"/>
            <a:ext cx="9399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F1D1D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적응 실패 경고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06301" y="4922937"/>
            <a:ext cx="3551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출신 리그(src_La Liga)가 Top 피처 — EPL 적응은 단순 기량보다 리그 배경이 더 중요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8408045" y="4918174"/>
            <a:ext cx="3362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213848" y="152400"/>
            <a:ext cx="1554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04-D. 모델: P1 경기결과 · P3 강등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0" y="555575"/>
            <a:ext cx="0" cy="415007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301" y="555575"/>
            <a:ext cx="373856" cy="190500"/>
          </a:xfrm>
          <a:prstGeom prst="roundRect">
            <a:avLst>
              <a:gd name="adj" fmla="val 26667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251" y="593675"/>
            <a:ext cx="122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1658" y="574625"/>
            <a:ext cx="1901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경기 결과 예측 (H/D/A 3분류)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834926"/>
            <a:ext cx="1940868" cy="733871"/>
          </a:xfrm>
          <a:prstGeom prst="roundRect">
            <a:avLst>
              <a:gd name="adj" fmla="val 10383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340" y="961876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베이스라인 F1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2340" y="1076176"/>
            <a:ext cx="166878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0.404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48669" y="834926"/>
            <a:ext cx="1940868" cy="733871"/>
          </a:xfrm>
          <a:prstGeom prst="roundRect">
            <a:avLst>
              <a:gd name="adj" fmla="val 10383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84708" y="961876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v2 F1 (macro)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84708" y="1076176"/>
            <a:ext cx="166878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0.479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84708" y="1327547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+18.7%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6301" y="1657648"/>
            <a:ext cx="3983236" cy="3048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8701" y="1759148"/>
            <a:ext cx="375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주요 개선 포인트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8701" y="197494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101" y="1936849"/>
            <a:ext cx="13515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무승부 Recall: 0% → </a:t>
            </a:r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22.4%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01" y="21400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101" y="2101900"/>
            <a:ext cx="895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피처: 49개 → </a:t>
            </a:r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88개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8701" y="23050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101" y="2266950"/>
            <a:ext cx="21612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Top 피처: elo_diff (0.109) · elo_ratio (0.071)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701" y="24701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1101" y="2432000"/>
            <a:ext cx="1848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Train 7,890 / Val 760 / Test 730경기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8701" y="4489847"/>
            <a:ext cx="375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i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※ EPL 경기 예측 업계 평균 ~50~53% — 구조적 한계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463" y="555575"/>
            <a:ext cx="396478" cy="19050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1414" y="593675"/>
            <a:ext cx="145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2442" y="574625"/>
            <a:ext cx="2010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 예측 (Bottom 3 이진 분류)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463" y="834926"/>
            <a:ext cx="1940868" cy="733871"/>
          </a:xfrm>
          <a:prstGeom prst="roundRect">
            <a:avLst>
              <a:gd name="adj" fmla="val 1038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0503" y="961876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풀시즌 F1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0503" y="1076176"/>
            <a:ext cx="166878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92.3%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0503" y="1327547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 Test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96832" y="834926"/>
            <a:ext cx="1940868" cy="733871"/>
          </a:xfrm>
          <a:prstGeom prst="roundRect">
            <a:avLst>
              <a:gd name="adj" fmla="val 10383"/>
            </a:avLst>
          </a:prstGeom>
          <a:solidFill>
            <a:srgbClr val="06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32871" y="961876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풀시즌 AUC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32871" y="1076176"/>
            <a:ext cx="166878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100%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32871" y="1327547"/>
            <a:ext cx="1668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 Test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463" y="1657648"/>
            <a:ext cx="3983236" cy="3048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06863" y="1759148"/>
            <a:ext cx="375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두 가지 예측 모드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06863" y="1936849"/>
            <a:ext cx="3678436" cy="431602"/>
          </a:xfrm>
          <a:prstGeom prst="roundRect">
            <a:avLst>
              <a:gd name="adj" fmla="val 1177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33814" y="2025700"/>
            <a:ext cx="3493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풀시즌 모드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33814" y="2165300"/>
            <a:ext cx="3493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시즌 종료 후 사후 검증 → Acc 97.5% · F1 92.3%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06863" y="2431852"/>
            <a:ext cx="3678436" cy="552152"/>
          </a:xfrm>
          <a:prstGeom prst="roundRect">
            <a:avLst>
              <a:gd name="adj" fmla="val 9200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33814" y="2520702"/>
            <a:ext cx="3493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30A3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미드시즌 모드 (19라운드)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33814" y="2660303"/>
            <a:ext cx="3493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반환점 기준 조기 경보 → Test Acc 100%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33814" y="2799904"/>
            <a:ext cx="3493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※ Val F1 60% — 소표본 주의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06863" y="4489847"/>
            <a:ext cx="375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클래스 불균형 15% → class_weight=balanced 적용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301" y="4922937"/>
            <a:ext cx="2957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P1: 무승부 예측 22% 달성 | P3: 강등 팀 100% 사전 탐지 (풀시즌 기준)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410724" y="4918174"/>
            <a:ext cx="3335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79680" y="152400"/>
            <a:ext cx="10791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05. Streamlit 대시보드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81025"/>
            <a:ext cx="0" cy="447675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81025"/>
            <a:ext cx="8294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15페이지 Streamlit 대시보드 — 스카우트 실무 워크플로우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6326" y="904875"/>
            <a:ext cx="829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분석 · 저평가 탐색 · 클러스터링 · 이적 인텔리전스 · 강등 경보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1130201"/>
            <a:ext cx="795784" cy="1028700"/>
          </a:xfrm>
          <a:prstGeom prst="roundRect">
            <a:avLst>
              <a:gd name="adj" fmla="val 1117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459" y="1415951"/>
            <a:ext cx="3603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5975" y="1758851"/>
            <a:ext cx="2764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페이지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78285" y="1130201"/>
            <a:ext cx="795933" cy="1028700"/>
          </a:xfrm>
          <a:prstGeom prst="roundRect">
            <a:avLst>
              <a:gd name="adj" fmla="val 1116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30685" y="1257151"/>
            <a:ext cx="500955" cy="5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14종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25773" y="1803350"/>
            <a:ext cx="500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모델 탑재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50418" y="1130201"/>
            <a:ext cx="795784" cy="1028700"/>
          </a:xfrm>
          <a:prstGeom prst="roundRect">
            <a:avLst>
              <a:gd name="adj" fmla="val 1117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02818" y="1344960"/>
            <a:ext cx="500804" cy="446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실시간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52254" y="1829842"/>
            <a:ext cx="392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분석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6301" y="2260402"/>
            <a:ext cx="2539901" cy="685651"/>
          </a:xfrm>
          <a:prstGeom prst="roundRect">
            <a:avLst>
              <a:gd name="adj" fmla="val 129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002" y="2387352"/>
            <a:ext cx="22281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 Dashboard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4002" y="2552402"/>
            <a:ext cx="2228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epl-scouting-report-dashboard-project-ffyb8msh6uafxyyg8txsm8.streamlit.app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6301" y="3047554"/>
            <a:ext cx="552004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802" y="3085654"/>
            <a:ext cx="355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Python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09055" y="3047554"/>
            <a:ext cx="629543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10555" y="3085654"/>
            <a:ext cx="4350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XGBoost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89348" y="3047554"/>
            <a:ext cx="686395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90849" y="3085654"/>
            <a:ext cx="493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LightGBM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06301" y="3288804"/>
            <a:ext cx="645616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802" y="3326904"/>
            <a:ext cx="4514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2668" y="3288804"/>
            <a:ext cx="560189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04168" y="3326904"/>
            <a:ext cx="364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Optuna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13607" y="3288804"/>
            <a:ext cx="485180" cy="190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5108" y="3326904"/>
            <a:ext cx="2878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SHAP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23902" y="1130201"/>
            <a:ext cx="57260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대시보드 페이지 구성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23902" y="1346002"/>
            <a:ext cx="661095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250853" y="14348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0894" y="1492002"/>
            <a:ext cx="49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55653" y="1487239"/>
            <a:ext cx="1044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홈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8398" y="1346002"/>
            <a:ext cx="1225451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975348" y="14348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054971" y="1492002"/>
            <a:ext cx="70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80148" y="1487239"/>
            <a:ext cx="680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즉시 분석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37249" y="1346002"/>
            <a:ext cx="1374279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64200" y="14348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42930" y="1492002"/>
            <a:ext cx="7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69000" y="1487239"/>
            <a:ext cx="8318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S2 저평가 탐색기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74929" y="1346002"/>
            <a:ext cx="1327845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01879" y="14348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79716" y="1492002"/>
            <a:ext cx="74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6679" y="1487239"/>
            <a:ext cx="7845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유형 탐색기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123902" y="1815703"/>
            <a:ext cx="1301353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250853" y="19045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330476" y="1961704"/>
            <a:ext cx="70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555653" y="1956941"/>
            <a:ext cx="7575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이적 인텔리전스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488656" y="1815703"/>
            <a:ext cx="1199108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15607" y="19045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694188" y="1961704"/>
            <a:ext cx="72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20407" y="1956941"/>
            <a:ext cx="6532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강등권 탐색기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51165" y="1815703"/>
            <a:ext cx="994470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78116" y="19045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960269" y="1961704"/>
            <a:ext cx="654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82916" y="1956941"/>
            <a:ext cx="4444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비교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09036" y="1815703"/>
            <a:ext cx="1096714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5986" y="190455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013525" y="1961704"/>
            <a:ext cx="749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8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40786" y="1956941"/>
            <a:ext cx="5487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 프로파일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123902" y="2285405"/>
            <a:ext cx="1225451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250853" y="23742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329434" y="2431405"/>
            <a:ext cx="72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9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555653" y="2426643"/>
            <a:ext cx="6800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통계 순위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412754" y="2285405"/>
            <a:ext cx="994470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539704" y="23742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596705" y="2431405"/>
            <a:ext cx="116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44504" y="2426643"/>
            <a:ext cx="4444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시즌 개요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470624" y="2285405"/>
            <a:ext cx="994470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97575" y="23742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666333" y="2431405"/>
            <a:ext cx="927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11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902375" y="2426643"/>
            <a:ext cx="4444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역대 기록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528495" y="2285405"/>
            <a:ext cx="1426369" cy="406301"/>
          </a:xfrm>
          <a:prstGeom prst="roundRect">
            <a:avLst>
              <a:gd name="adj" fmla="val 1562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655445" y="237425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714530" y="2431405"/>
            <a:ext cx="1126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12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960245" y="2426643"/>
            <a:ext cx="8850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모델 설명 (SHAP)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6301" y="4922937"/>
            <a:ext cx="29723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비개발자 스카우트도 즉시 사용 가능한 인터페이스 — 15페이지 완전 구현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353574" y="4918174"/>
            <a:ext cx="39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47856" y="152400"/>
            <a:ext cx="907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06. 시스템 아키텍처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55575"/>
            <a:ext cx="0" cy="339626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55575"/>
            <a:ext cx="82940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크롤링 → ML → 대시보드 end-to-end 자동화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6326" y="780901"/>
            <a:ext cx="8294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GitHub Actions 매일 09:15 KST 자동 학습 · Streamlit Cloud 자동 배포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996702"/>
            <a:ext cx="921246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0619" y="1072902"/>
            <a:ext cx="732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FBref/TM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0619" y="1212503"/>
            <a:ext cx="732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크롤러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03598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5409" y="996702"/>
            <a:ext cx="921246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99727" y="1072902"/>
            <a:ext cx="732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data/raw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99727" y="1212503"/>
            <a:ext cx="732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CSV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602706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04517" y="996702"/>
            <a:ext cx="921246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98836" y="1072902"/>
            <a:ext cx="732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aggregate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98836" y="1212503"/>
            <a:ext cx="732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팀/선수 집계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801814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03625" y="996702"/>
            <a:ext cx="921246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97944" y="1072902"/>
            <a:ext cx="732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preprocess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97944" y="1212503"/>
            <a:ext cx="732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정규화/인코딩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00923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734" y="996702"/>
            <a:ext cx="1064865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5616" y="1072902"/>
            <a:ext cx="8791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scout_features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95616" y="1212503"/>
            <a:ext cx="8791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60+ 피처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343650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45461" y="996702"/>
            <a:ext cx="993130" cy="377726"/>
          </a:xfrm>
          <a:prstGeom prst="roundRect">
            <a:avLst>
              <a:gd name="adj" fmla="val 1344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39060" y="1072902"/>
            <a:ext cx="805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models×14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39060" y="1212503"/>
            <a:ext cx="8059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p1~p8/s1~s6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614642" y="1118890"/>
            <a:ext cx="128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16453" y="996702"/>
            <a:ext cx="921246" cy="377726"/>
          </a:xfrm>
          <a:prstGeom prst="roundRect">
            <a:avLst>
              <a:gd name="adj" fmla="val 134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10771" y="1072902"/>
            <a:ext cx="732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910771" y="1212503"/>
            <a:ext cx="732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D1FAE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15페이지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06301" y="1501378"/>
            <a:ext cx="2692450" cy="996702"/>
          </a:xfrm>
          <a:prstGeom prst="roundRect">
            <a:avLst>
              <a:gd name="adj" fmla="val 1019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06301" y="1520428"/>
            <a:ext cx="269245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4002" y="16918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3830" y="1771204"/>
            <a:ext cx="1367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39403" y="1756916"/>
            <a:ext cx="8995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4002" y="1996529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매일 09:15 KST 자동 학습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4002" y="2136130"/>
            <a:ext cx="2383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cron: 20:50 UTC · 모델 학습 + 결과 커밋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25701" y="1501378"/>
            <a:ext cx="2692598" cy="996702"/>
          </a:xfrm>
          <a:prstGeom prst="roundRect">
            <a:avLst>
              <a:gd name="adj" fmla="val 1019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225701" y="1520428"/>
            <a:ext cx="2692598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402" y="16918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468291" y="1771204"/>
            <a:ext cx="1264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758803" y="1756916"/>
            <a:ext cx="9172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 Cloud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03402" y="1996529"/>
            <a:ext cx="2383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자동 배포 · 실시간 대시보드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03402" y="2136130"/>
            <a:ext cx="2383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...ffyb8msh6uafxyyg8txsm8.streamlit.app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45250" y="1501378"/>
            <a:ext cx="2692450" cy="996702"/>
          </a:xfrm>
          <a:prstGeom prst="roundRect">
            <a:avLst>
              <a:gd name="adj" fmla="val 101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045250" y="1520428"/>
            <a:ext cx="2692450" cy="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2950" y="16918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80547" y="1771204"/>
            <a:ext cx="141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GH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78352" y="1756916"/>
            <a:ext cx="1093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22950" y="1996529"/>
            <a:ext cx="2383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50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robinho0329/EPL-scouting-report-dashboard-project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22950" y="2250430"/>
            <a:ext cx="23837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Actions 로그 · 결과 자동 커밋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06301" y="2625030"/>
            <a:ext cx="8331398" cy="558701"/>
          </a:xfrm>
          <a:prstGeom prst="roundRect">
            <a:avLst>
              <a:gd name="adj" fmla="val 15912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25351" y="2625030"/>
            <a:ext cx="0" cy="55870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2102" y="275198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99492" y="2818656"/>
            <a:ext cx="1530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53852" y="2766268"/>
            <a:ext cx="3348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미팅 시뮬레이션 루프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53852" y="2928193"/>
            <a:ext cx="33485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매일 09:00 KST · CCR RemoteTrigger · 액션아이템 → 자동학습 → 결과 커밋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6301" y="4922937"/>
            <a:ext cx="23446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미팅 → 액션아이템 → 자동학습 → 결과 커밋 전체 자동화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381851" y="4918174"/>
            <a:ext cx="3629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25544" y="152400"/>
            <a:ext cx="828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07. 모델 성능 요약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55575"/>
            <a:ext cx="0" cy="339626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55575"/>
            <a:ext cx="82940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ML 모델 14종 성능 요약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6326" y="780901"/>
            <a:ext cx="8294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p1~p8 예측 모델 · s1~s6 스카우트 모델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996702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예측 모델 (p1~p8)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6301" y="1174403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251" y="126325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224" y="1333054"/>
            <a:ext cx="122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102" y="1280666"/>
            <a:ext cx="28170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경기 결과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102" y="1404491"/>
            <a:ext cx="28170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H/D/A 3분류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02856" y="1323529"/>
            <a:ext cx="564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F1 0.479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301" y="1656755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251" y="174560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8913" y="1815405"/>
            <a:ext cx="145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102" y="1763018"/>
            <a:ext cx="26801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강등 예측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102" y="1886843"/>
            <a:ext cx="26801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Bottom3 이진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68613" y="1805880"/>
            <a:ext cx="701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AUC 100%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301" y="2139107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251" y="22279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8020" y="2297757"/>
            <a:ext cx="1470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14102" y="2245370"/>
            <a:ext cx="28346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득점 예측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102" y="2369195"/>
            <a:ext cx="2834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 득점 회귀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20120" y="2288232"/>
            <a:ext cx="546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R² 측정중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301" y="2621459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3251" y="271030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9806" y="2780109"/>
            <a:ext cx="1436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4102" y="2727722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 분류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4102" y="2851547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GK/DEF/MID/FW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994993" y="2770584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6301" y="3103811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3251" y="31926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88764" y="3262461"/>
            <a:ext cx="1455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102" y="3210074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하락세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4102" y="3333899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이진 분류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994993" y="3252936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6301" y="3586163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33251" y="367501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2336" y="3744813"/>
            <a:ext cx="138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14102" y="3692426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부상 위험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14102" y="3816251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이진 분류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994993" y="3735288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6301" y="4068514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33251" y="415736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7573" y="4227165"/>
            <a:ext cx="148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102" y="4174778"/>
            <a:ext cx="2666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이적 적응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14102" y="4298603"/>
            <a:ext cx="26661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Low/Mid/High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54921" y="4217640"/>
            <a:ext cx="71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AUC 0.735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0850" y="996702"/>
            <a:ext cx="41583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스카우트 모델 (s1~s6)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60850" y="1174403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87801" y="126325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55071" y="1333054"/>
            <a:ext cx="1215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68652" y="1280666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선수 평점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68652" y="1404491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종합 스코어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249543" y="1323529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60850" y="1656755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87801" y="174560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844653" y="1815405"/>
            <a:ext cx="1428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68652" y="1763018"/>
            <a:ext cx="2809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시장가치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68652" y="1886843"/>
            <a:ext cx="28096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저평가 탐색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050113" y="1805880"/>
            <a:ext cx="571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R² 0.876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660850" y="2139107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787801" y="22279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843760" y="2297757"/>
            <a:ext cx="14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68652" y="2245370"/>
            <a:ext cx="28789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유사 선수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168652" y="2369195"/>
            <a:ext cx="2878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클러스터링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118128" y="2288232"/>
            <a:ext cx="502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Sil 0.49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660850" y="2621459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787801" y="271030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843016" y="2780109"/>
            <a:ext cx="146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68652" y="2727722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영입 추천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168652" y="2851547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종합 순위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249543" y="2770584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660850" y="3103811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787801" y="319266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844653" y="3262461"/>
            <a:ext cx="1428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68652" y="3210074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팀 전술 핏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168652" y="3333899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포지션 매칭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249543" y="3252936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660850" y="3586163"/>
            <a:ext cx="4076849" cy="431602"/>
          </a:xfrm>
          <a:prstGeom prst="roundRect">
            <a:avLst>
              <a:gd name="adj" fmla="val 147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787801" y="367501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843760" y="3744813"/>
            <a:ext cx="1448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S6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68652" y="3692426"/>
            <a:ext cx="30130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계약 기간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168652" y="3816251"/>
            <a:ext cx="30130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만료 위험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249543" y="3735288"/>
            <a:ext cx="368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측정중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660850" y="4093964"/>
            <a:ext cx="1291233" cy="355402"/>
          </a:xfrm>
          <a:prstGeom prst="roundRect">
            <a:avLst>
              <a:gd name="adj" fmla="val 1429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787801" y="4157365"/>
            <a:ext cx="1058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P3 강등: Full-season AUC=100%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053584" y="4093964"/>
            <a:ext cx="1291382" cy="355402"/>
          </a:xfrm>
          <a:prstGeom prst="roundRect">
            <a:avLst>
              <a:gd name="adj" fmla="val 1429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6180534" y="4157365"/>
            <a:ext cx="1058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S2 시장가치: 저평가 최대 6.6× 탐지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446466" y="4093964"/>
            <a:ext cx="1291233" cy="355402"/>
          </a:xfrm>
          <a:prstGeom prst="roundRect">
            <a:avLst>
              <a:gd name="adj" fmla="val 1429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7573417" y="4157365"/>
            <a:ext cx="1058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P8 이적 적응: 1,416명 High/Mid/Low 분류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6301" y="4922937"/>
            <a:ext cx="27595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핵심 3개 모델: S2(저평가 탐색) · P3(강등 경보) · P8(이적 리스크)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358336" y="4918174"/>
            <a:ext cx="386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3863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6301" y="152400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19281" y="152400"/>
            <a:ext cx="93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08. 회고 &amp; 개선 방향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0113" y="555575"/>
            <a:ext cx="0" cy="339626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555575"/>
            <a:ext cx="82940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실무 스카우트 검증을 통한 반복 개선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6326" y="780901"/>
            <a:ext cx="8294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김태현 스카우트 평가 3.7/5.0 → 목표 4.0/5.0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301" y="996702"/>
            <a:ext cx="2286000" cy="1190179"/>
          </a:xfrm>
          <a:prstGeom prst="roundRect">
            <a:avLst>
              <a:gd name="adj" fmla="val 8537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174403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김태현 스카우트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9451" y="1314004"/>
            <a:ext cx="19172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실무 평가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9451" y="1529804"/>
            <a:ext cx="4525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3.7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0058" y="1582192"/>
            <a:ext cx="1804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83965" y="1529804"/>
            <a:ext cx="48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9451" y="1885355"/>
            <a:ext cx="19172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/ 5.0 (목표)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301" y="2288381"/>
            <a:ext cx="2286000" cy="2518767"/>
          </a:xfrm>
          <a:prstGeom prst="roundRect">
            <a:avLst>
              <a:gd name="adj" fmla="val 388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002" y="2415332"/>
            <a:ext cx="19692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개선 사이클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4002" y="264393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402" y="2605832"/>
            <a:ext cx="913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모델 개선 · 피처 추가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4002" y="282163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6402" y="2783532"/>
            <a:ext cx="9340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김태현 스카우트 검증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4002" y="299933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6402" y="2961233"/>
            <a:ext cx="8358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피드백 반영 재개선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70002" y="996702"/>
            <a:ext cx="2901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배운 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70002" y="1212503"/>
            <a:ext cx="2844998" cy="1130498"/>
          </a:xfrm>
          <a:prstGeom prst="roundRect">
            <a:avLst>
              <a:gd name="adj" fmla="val 78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889052" y="1212503"/>
            <a:ext cx="0" cy="113049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0502" y="133945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60068" y="1404491"/>
            <a:ext cx="55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15903" y="1339453"/>
            <a:ext cx="20668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실무 관점 피처 설계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15903" y="1488579"/>
            <a:ext cx="2066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스카우트 페르소나 검증으로 "쓸모 있는" 피처 선별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870002" y="2444502"/>
            <a:ext cx="2844998" cy="1130647"/>
          </a:xfrm>
          <a:prstGeom prst="roundRect">
            <a:avLst>
              <a:gd name="adj" fmla="val 786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889052" y="2444502"/>
            <a:ext cx="0" cy="113064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0502" y="25714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148459" y="2636490"/>
            <a:ext cx="795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15903" y="2571452"/>
            <a:ext cx="21896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해석 가능성 &gt; 성능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15903" y="2720578"/>
            <a:ext cx="2189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AUC보다 스카우트가 이해하는 SHAP 설명이 더 중요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870002" y="3676650"/>
            <a:ext cx="2844998" cy="1130498"/>
          </a:xfrm>
          <a:prstGeom prst="roundRect">
            <a:avLst>
              <a:gd name="adj" fmla="val 78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2889052" y="3676650"/>
            <a:ext cx="0" cy="113049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0502" y="3803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147417" y="3868638"/>
            <a:ext cx="81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15903" y="3803600"/>
            <a:ext cx="15918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자동화 파이프라인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15903" y="3952726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지속적 개선이 가능한 구조 설계가 핵심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892701" y="996702"/>
            <a:ext cx="2901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한계 &amp; 개선 방향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92701" y="1212503"/>
            <a:ext cx="2844998" cy="1130498"/>
          </a:xfrm>
          <a:prstGeom prst="roundRect">
            <a:avLst>
              <a:gd name="adj" fmla="val 78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911751" y="1212503"/>
            <a:ext cx="0" cy="1130498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3201" y="133945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82767" y="1404491"/>
            <a:ext cx="55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8602" y="1339453"/>
            <a:ext cx="1587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 보강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38602" y="1488579"/>
            <a:ext cx="15877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xG 지표 심화 · 베팅 Odds 데이터 추가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92701" y="2444502"/>
            <a:ext cx="2844998" cy="1130647"/>
          </a:xfrm>
          <a:prstGeom prst="roundRect">
            <a:avLst>
              <a:gd name="adj" fmla="val 7863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911751" y="2444502"/>
            <a:ext cx="0" cy="1130647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3201" y="25714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71158" y="2636490"/>
            <a:ext cx="795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38602" y="2571452"/>
            <a:ext cx="16413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수비 지표 개선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38602" y="2720578"/>
            <a:ext cx="1641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수비수 빌드업 기여도 · 패스 성공률 활용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92701" y="3676650"/>
            <a:ext cx="2844998" cy="1130498"/>
          </a:xfrm>
          <a:prstGeom prst="roundRect">
            <a:avLst>
              <a:gd name="adj" fmla="val 78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911751" y="3676650"/>
            <a:ext cx="0" cy="1130498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3201" y="38036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0116" y="3868638"/>
            <a:ext cx="81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38602" y="3803600"/>
            <a:ext cx="1787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실시간 업데이트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438602" y="3952726"/>
            <a:ext cx="1787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경기 후 자동 데이터 갱신 · SHAP 설명 강화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0" y="4811911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6301" y="4922937"/>
            <a:ext cx="21916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 기반 반복 개선으로 스카우트 신뢰도 지속 향상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356253" y="4918174"/>
            <a:ext cx="3890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3401" y="474464"/>
            <a:ext cx="9080599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802" y="177701"/>
            <a:ext cx="16892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SCOUT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53561" y="177701"/>
            <a:ext cx="4938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802" y="1421457"/>
            <a:ext cx="835563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데이터 수집부터 제품화까지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802" y="1661220"/>
            <a:ext cx="835563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 스카우팅 AI 시스템 구축 완료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802" y="2102941"/>
            <a:ext cx="1952625" cy="796677"/>
          </a:xfrm>
          <a:prstGeom prst="roundRect">
            <a:avLst>
              <a:gd name="adj" fmla="val 95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802" y="2121991"/>
            <a:ext cx="1952625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202" y="2267992"/>
            <a:ext cx="16807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S2 시장가치 · 저평가 탐지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0202" y="2433042"/>
            <a:ext cx="16807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6.6×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202" y="2677418"/>
            <a:ext cx="16807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최대 차이 · R²=0.876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87377" y="2102941"/>
            <a:ext cx="1952774" cy="796677"/>
          </a:xfrm>
          <a:prstGeom prst="roundRect">
            <a:avLst>
              <a:gd name="adj" fmla="val 95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87377" y="2121991"/>
            <a:ext cx="1952774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9777" y="2267992"/>
            <a:ext cx="1680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P3 강등 예측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39777" y="2433042"/>
            <a:ext cx="16809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39777" y="2677418"/>
            <a:ext cx="1680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풀시즌 AUC · F1 92.3%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67101" y="2102941"/>
            <a:ext cx="1952774" cy="796677"/>
          </a:xfrm>
          <a:prstGeom prst="roundRect">
            <a:avLst>
              <a:gd name="adj" fmla="val 95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101" y="2121991"/>
            <a:ext cx="1952774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9501" y="2267992"/>
            <a:ext cx="1680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P8 이적 적응 분류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19501" y="2433042"/>
            <a:ext cx="16809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1,416명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19501" y="2677418"/>
            <a:ext cx="1680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Low · Mid · High 리스크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46825" y="2102941"/>
            <a:ext cx="1952774" cy="796677"/>
          </a:xfrm>
          <a:prstGeom prst="roundRect">
            <a:avLst>
              <a:gd name="adj" fmla="val 956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46825" y="2121991"/>
            <a:ext cx="1952774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9225" y="2267992"/>
            <a:ext cx="1680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P1 경기결과 개선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99225" y="2433042"/>
            <a:ext cx="16809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+18.7%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99225" y="2677418"/>
            <a:ext cx="1680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F1 vs 베이스라인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7802" y="3077319"/>
            <a:ext cx="2815233" cy="685651"/>
          </a:xfrm>
          <a:prstGeom prst="roundRect">
            <a:avLst>
              <a:gd name="adj" fmla="val 11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0952" y="3204270"/>
            <a:ext cx="24571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김태현 스카우트 실무 평가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0952" y="3369320"/>
            <a:ext cx="3704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3.7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26493" y="3393132"/>
            <a:ext cx="1804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5849" y="3369320"/>
            <a:ext cx="3957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4.0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96244" y="3431232"/>
            <a:ext cx="609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/ 5.0 (목표)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5434" y="3077319"/>
            <a:ext cx="5224165" cy="685651"/>
          </a:xfrm>
          <a:prstGeom prst="roundRect">
            <a:avLst>
              <a:gd name="adj" fmla="val 11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78585" y="3204270"/>
            <a:ext cx="4914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Streamlit Dashboard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78585" y="3369320"/>
            <a:ext cx="4914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epl-scouting-report-dashboard-project-ffyb8msh6uafxyyg8txsm8.streamlit.app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78585" y="3521720"/>
            <a:ext cx="4914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Python · XGBoost · LightGBM · Streamlit · Optuna · SHAP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401" y="4710112"/>
            <a:ext cx="9080599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802" y="4872038"/>
            <a:ext cx="1687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334155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"데이터로 더 나은 영입 결정을 만든다"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16367" y="4867275"/>
            <a:ext cx="3908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anumSquareNeo" pitchFamily="34" charset="0"/>
                <a:ea typeface="NanumSquareNeo" pitchFamily="34" charset="-122"/>
                <a:cs typeface="NanumSquareNeo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EPL Scout Intelligence Dashboard</dc:title>
  <dc:subject>FBref + Transfermarkt 기반 EPL 스카우팅 의사결정 지원 시스템</dc:subject>
  <dc:creator>EPL Scout Intelligence</dc:creator>
  <cp:lastModifiedBy>EPL Scout Intelligence</cp:lastModifiedBy>
  <cp:revision>1</cp:revision>
  <dcterms:created xsi:type="dcterms:W3CDTF">2026-05-06T03:33:08Z</dcterms:created>
  <dcterms:modified xsi:type="dcterms:W3CDTF">2026-05-06T03:33:08Z</dcterms:modified>
</cp:coreProperties>
</file>